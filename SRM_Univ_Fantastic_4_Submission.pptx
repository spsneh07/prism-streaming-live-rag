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8" r:id="rId18"/>
    <p:sldId id="260" r:id="rId9"/>
    <p:sldId id="269" r:id="rId19"/>
    <p:sldId id="261" r:id="rId10"/>
    <p:sldId id="262" r:id="rId11"/>
    <p:sldId id="270" r:id="rId20"/>
    <p:sldId id="263" r:id="rId12"/>
    <p:sldId id="264" r:id="rId13"/>
    <p:sldId id="265" r:id="rId14"/>
    <p:sldId id="266" r:id="rId15"/>
    <p:sldId id="267"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QuomGbdS/wh2yqkB/K4YAZ70Y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customschemas.google.com/relationships/presentationmetadata" Target="metadata"/><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solidFill>
                  <a:srgbClr val="14142B"/>
                </a:solidFill>
              </a:rPr>
              <a:t>Conventional RAG vs Streaming Live RAG · % of held-out turns</a:t>
            </a:r>
          </a:p>
        </c:rich>
      </c:tx>
      <c:layout/>
      <c:overlay val="0"/>
    </c:title>
    <c:autoTitleDeleted val="0"/>
    <c:plotArea>
      <c:barChart>
        <c:barDir val="bar"/>
        <c:grouping val="clustered"/>
        <c:ser>
          <c:idx val="0"/>
          <c:order val="0"/>
          <c:tx>
            <c:strRef>
              <c:f>Sheet1!$B$1</c:f>
              <c:strCache>
                <c:ptCount val="1"/>
                <c:pt idx="0">
                  <c:v>Conventional RAG</c:v>
                </c:pt>
              </c:strCache>
            </c:strRef>
          </c:tx>
          <c:spPr>
            <a:solidFill>
              <a:srgbClr val="9C9CB0"/>
            </a:solidFill>
          </c:spPr>
          <c:invertIfNegative val="0"/>
          <c:cat>
            <c:strRef>
              <c:f>Sheet1!$A$2:$A$7</c:f>
              <c:strCache>
                <c:ptCount val="6"/>
                <c:pt idx="0">
                  <c:v>Early retrieval (G2)</c:v>
                </c:pt>
                <c:pt idx="1">
                  <c:v>Multi-intent identification (G3)</c:v>
                </c:pt>
                <c:pt idx="2">
                  <c:v>Refinement continuity (G5)</c:v>
                </c:pt>
                <c:pt idx="3">
                  <c:v>Correct abstention</c:v>
                </c:pt>
                <c:pt idx="4">
                  <c:v>Citation hit rate</c:v>
                </c:pt>
                <c:pt idx="5">
                  <c:v>Citation support (G4)</c:v>
                </c:pt>
              </c:strCache>
            </c:strRef>
          </c:cat>
          <c:val>
            <c:numRef>
              <c:f>Sheet1!$B$2:$B$7</c:f>
              <c:numCache>
                <c:formatCode>General</c:formatCode>
                <c:ptCount val="6"/>
                <c:pt idx="0">
                  <c:v>0</c:v>
                </c:pt>
                <c:pt idx="1">
                  <c:v>0</c:v>
                </c:pt>
                <c:pt idx="2">
                  <c:v>0</c:v>
                </c:pt>
                <c:pt idx="3">
                  <c:v>33</c:v>
                </c:pt>
                <c:pt idx="4">
                  <c:v>73</c:v>
                </c:pt>
                <c:pt idx="5">
                  <c:v>100</c:v>
                </c:pt>
              </c:numCache>
            </c:numRef>
          </c:val>
        </c:ser>
        <c:ser>
          <c:idx val="1"/>
          <c:order val="1"/>
          <c:tx>
            <c:strRef>
              <c:f>Sheet1!$C$1</c:f>
              <c:strCache>
                <c:ptCount val="1"/>
                <c:pt idx="0">
                  <c:v>Streaming Live RAG</c:v>
                </c:pt>
              </c:strCache>
            </c:strRef>
          </c:tx>
          <c:spPr>
            <a:solidFill>
              <a:srgbClr val="6D28D9"/>
            </a:solidFill>
          </c:spPr>
          <c:invertIfNegative val="0"/>
          <c:cat>
            <c:strRef>
              <c:f>Sheet1!$A$2:$A$7</c:f>
              <c:strCache>
                <c:ptCount val="6"/>
                <c:pt idx="0">
                  <c:v>Early retrieval (G2)</c:v>
                </c:pt>
                <c:pt idx="1">
                  <c:v>Multi-intent identification (G3)</c:v>
                </c:pt>
                <c:pt idx="2">
                  <c:v>Refinement continuity (G5)</c:v>
                </c:pt>
                <c:pt idx="3">
                  <c:v>Correct abstention</c:v>
                </c:pt>
                <c:pt idx="4">
                  <c:v>Citation hit rate</c:v>
                </c:pt>
                <c:pt idx="5">
                  <c:v>Citation support (G4)</c:v>
                </c:pt>
              </c:strCache>
            </c:strRef>
          </c:cat>
          <c:val>
            <c:numRef>
              <c:f>Sheet1!$C$2:$C$7</c:f>
              <c:numCache>
                <c:formatCode>General</c:formatCode>
                <c:ptCount val="6"/>
                <c:pt idx="0">
                  <c:v>90</c:v>
                </c:pt>
                <c:pt idx="1">
                  <c:v>78</c:v>
                </c:pt>
                <c:pt idx="2">
                  <c:v>100</c:v>
                </c:pt>
                <c:pt idx="3">
                  <c:v>83</c:v>
                </c:pt>
                <c:pt idx="4">
                  <c:v>73</c:v>
                </c:pt>
                <c:pt idx="5">
                  <c:v>100</c:v>
                </c:pt>
              </c:numCache>
            </c:numRef>
          </c:val>
        </c:ser>
        <c:dLbls>
          <c:numFmt formatCode="0&quot;%&quot;" sourceLinked="0"/>
          <c:txPr>
            <a:bodyPr/>
            <a:lstStyle/>
            <a:p>
              <a:pPr>
                <a:defRPr sz="1000" b="1"/>
              </a:pPr>
            </a:p>
          </c:txPr>
          <c:dLblPos val="outEnd"/>
          <c:showLegendKey val="0"/>
          <c:showVal val="1"/>
          <c:showCatName val="0"/>
          <c:showSerName val="0"/>
          <c:showPercent val="0"/>
          <c:showBubbleSize val="0"/>
          <c:showLeaderLines val="1"/>
        </c:dLbls>
        <c:gapWidth val="55"/>
        <c:overlap val="-5"/>
        <c:axId val="-2068027336"/>
        <c:axId val="-2113994440"/>
      </c:barChart>
      <c:catAx>
        <c:axId val="-2068027336"/>
        <c:scaling>
          <c:orientation val="maxMin"/>
        </c:scaling>
        <c:delete val="0"/>
        <c:axPos val="l"/>
        <c:majorTickMark val="out"/>
        <c:minorTickMark val="none"/>
        <c:tickLblPos val="nextTo"/>
        <c:spPr>
          <a:ln>
            <a:solidFill>
              <a:srgbClr val="E3E1EE"/>
            </a:solidFill>
          </a:ln>
        </c:spPr>
        <c:txPr>
          <a:bodyPr/>
          <a:lstStyle/>
          <a:p>
            <a:pPr>
              <a:defRPr sz="1100"/>
            </a:pPr>
          </a:p>
        </c:txPr>
        <c:crossAx val="-2113994440"/>
        <c:crosses val="autoZero"/>
        <c:auto val="1"/>
        <c:lblAlgn val="ctr"/>
        <c:lblOffset val="100"/>
        <c:noMultiLvlLbl val="0"/>
      </c:catAx>
      <c:valAx>
        <c:axId val="-2113994440"/>
        <c:scaling>
          <c:max val="115.0"/>
          <c:min val="0.0"/>
        </c:scaling>
        <c:delete/>
        <c:axPos val="b"/>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100">
          <a:solidFill>
            <a:srgbClr val="14142B"/>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Team Fantastic 4, SRM Univ. Theme 4, Streaming Live RAG. One line: retrieval that starts while the user is still speaking, splits compound requests, and refines the answer when late details arrive. All numbers in this deck come from a development benchmark on a 16-document synthetic corpus; the official Theme 4 corpus was not available.</a:t>
            </a:r>
          </a:p>
        </p:txBody>
      </p:sp>
      <p:sp>
        <p:nvSpPr>
          <p:cNvPr id="88" name="Google Shape;8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Voice users speak one natural sentence, not a search query. It can hide several questions, a late constraint, a correction, or a request to reformat the last answer. Typical RAG waits for silence and sends the whole sentence as one query. Theme 4 asks for retrieval that works while the conversation is still unfolding.</a:t>
            </a:r>
          </a:p>
        </p:txBody>
      </p:sp>
      <p:sp>
        <p:nvSpPr>
          <p:cNvPr id="99" name="Google Shape;9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We do not claim every existing system behaves this way; this is the typical query-then-retrieve pattern, which is also what our conventional baseline implements. The bottom line is measured on that baseline in our development benchmark.</a:t>
            </a:r>
          </a:p>
        </p:txBody>
      </p:sp>
      <p:sp>
        <p:nvSpPr>
          <p:cNvPr id="105" name="Google Shape;10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Six stages. The controller runs on every transcript chunk and decides WAIT, RETRIEVE or SUPPRESS. As soon as the partial transcript is specific, retrieval starts in the background. The panel shows the real Demo 2 trace: first chunk WAIT at 0.00 s, RETRIEVE at 0.81 s, second RETRIEVE at 1.62 s, utterance end at 2.11 s. Retrieval began 1.29 s before the user finished.</a:t>
            </a:r>
          </a:p>
        </p:txBody>
      </p:sp>
      <p:sp>
        <p:nvSpPr>
          <p:cNvPr id="111" name="Google Shape;11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This is the Theme 4 guide's own example, run live in our dashboard. The transcript arrives in three chunks. First chunk: WAIT, not specific yet. Second chunk: RETRIEVE, the first sub-query starts while the user is still talking. Third chunk: two more sub-queries, with Pune carried into both. At utterance end all three are reused, fused (one duplicate catering FAQ dropped) and answered with 6 of 6 claims grounded. The capacity sub-intent is answered with a Pune venue that fits 30 people (Baner Conference Centre, DOC_03 §S3), via the quantity-constraint check. Timings are from scripts/demo_stream.py --scenario multi_intent.</a:t>
            </a:r>
          </a:p>
        </p:txBody>
      </p:sp>
      <p:sp>
        <p:nvSpPr>
          <p:cNvPr id="117" name="Google Shape;11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Only technologies actually in backend/requirements.txt and the repo. BM25 and RRF are implemented in-house. The dashboard is plain HTML, CSS and JavaScript that reads the SSE stream. There is an optional LLM synthesizer interface, but it is off by default and not used for any reported number.</a:t>
            </a:r>
          </a:p>
        </p:txBody>
      </p:sp>
      <p:sp>
        <p:nvSpPr>
          <p:cNvPr id="123" name="Google Shape;12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These are potential use cases, not deployments. The right side shows what the architecture changes, measured on the development benchmark: retrieval before the user finishes, lower time to first token than the same pipeline without early retrieval, compound requests split, late details handled without restart, fewer unnecessary searches, and grounded answers.</a:t>
            </a:r>
          </a:p>
        </p:txBody>
      </p:sp>
      <p:sp>
        <p:nvSpPr>
          <p:cNvPr id="129" name="Google Shape;12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Left: what is new, all implemented and shown in the demos. Right: the honest limitations from docs/limitations.md. The most important are the synthetic, same-author corpus, the lack of official validation, and the conservative abstention gate that keeps citation hit rate at the baseline level.</a:t>
            </a:r>
          </a:p>
        </p:txBody>
      </p:sp>
      <p:sp>
        <p:nvSpPr>
          <p:cNvPr id="135" name="Google Shape;13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Everything here is future work from docs/limitations.md. First priority: run on the official corpus and an independently written evaluation set. Then fix the abstention trade-off and answer-sentence selection. Then real streaming ASR, lower rerank latency, and a scalable index.</a:t>
            </a:r>
          </a:p>
        </p:txBody>
      </p:sp>
      <p:sp>
        <p:nvSpPr>
          <p:cNvPr id="141" name="Google Shape;14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Same sentence, two systems. A traditional pipeline is idle while the user speaks. Ours understands the partial intent, retrieves early, keeps listening and decomposes during speech; after the user stops it only fuses, refines and answers. We do not claim a lower time to first token than the bare baseline; the point is that the work happens during speech and the answer handles multi-intent requests and late details. Closing line: RAG that starts working before the user finishes speaking.</a:t>
            </a:r>
          </a:p>
        </p:txBody>
      </p:sp>
      <p:sp>
        <p:nvSpPr>
          <p:cNvPr id="147" name="Google Shape;14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Demo video is not recorded yet: replace the placeholder with the YouTube or Drive link before submitting. Docker was verified on one development machine only.</a:t>
            </a:r>
          </a:p>
        </p:txBody>
      </p:sp>
      <p:sp>
        <p:nvSpPr>
          <p:cNvPr id="153" name="Google Shape;15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Thank you. Repository: https://github.com/spsneh07/Prism-Streaming-Live-rag. Contact: Sneh Prasad, sp0701@srmist.edu.in.</a:t>
            </a:r>
          </a:p>
        </p:txBody>
      </p:sp>
      <p:sp>
        <p:nvSpPr>
          <p:cNvPr id="160" name="Google Shape;16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Main flow left to right: transcript chunks, controller, decomposer, parallel dense and BM25 retrieval per sub-query, RRF fusion with a coverage quota, cross-encoder rerank, then the grounding validator and the SSE response. Green dashed: RETRIEVE decisions during speech start provisional retrieval in the background; results are reused at utterance end. Blue: a late detail is classified as a refinement; session memory supplies the prior sub-queries and claims and only delta sub-queries are searched. Purple: a presentation-only request is SUPPRESSED and the previous answer is reshaped from session memory with no corpus search. Session memory is process-local, 30-minute idle TTL, no user identifier. Every stage emits telemetry on one clock.</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Left, Demo 1: the controller waits on the vague opening, retrieves as soon as the request is specific, and refines the query as more words arrive. Retrieval started at 2.83 s; the utterance ended at 10.30 s. Right, Demo 3: the second turn adds two constraints. It is classified as a refinement, only two delta sub-queries are searched, the v1 claims are kept and four new claims are added in v2. The session is not restarted. Continuity is 100% on the 7 held-out refinement turns vs 0% for the baseline.</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All bars are from results/benchmark.json, held-out split. The first three are the Theme 4 capabilities: 90% vs 0% early retrieval, 78% vs 0% multi-intent, 100% vs 0% refinement continuity. Be explicit about the trade-off: citation hit rate is 73% for both systems, because our abstention gate is conservative and refused 12 of 63 answerable turns; without the gate the same pipeline scores 84%. Correct abstention is 83% vs 33%. The baseline has a lower time to first token, 17 ms vs 47 ms, because it does less work; without early retrieval our pipeline would take 247 ms.</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3"/>
          <p:cNvSpPr/>
          <p:nvPr>
            <p:ph idx="2" type="pic"/>
          </p:nvPr>
        </p:nvSpPr>
        <p:spPr>
          <a:xfrm>
            <a:off x="5183188" y="987425"/>
            <a:ext cx="6172200" cy="4873625"/>
          </a:xfrm>
          <a:prstGeom prst="rect">
            <a:avLst/>
          </a:prstGeom>
          <a:noFill/>
          <a:ln>
            <a:noFill/>
          </a:ln>
        </p:spPr>
      </p:sp>
      <p:sp>
        <p:nvSpPr>
          <p:cNvPr id="69" name="Google Shape;69;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github.com/spsneh07/Prism-Streaming-Live-ra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github.com/spsneh07/Prism-Streaming-Live-ra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hyperlink" Target="https://github.com/spsneh07/Prism-Streaming-Live-ra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
          <p:cNvSpPr/>
          <p:nvPr/>
        </p:nvSpPr>
        <p:spPr>
          <a:xfrm>
            <a:off x="777240" y="676656"/>
            <a:ext cx="2423160" cy="347472"/>
          </a:xfrm>
          <a:prstGeom prst="roundRect">
            <a:avLst>
              <a:gd fmla="val 50000" name="adj"/>
            </a:avLst>
          </a:prstGeom>
          <a:solidFill>
            <a:srgbClr val="FFFFFF"/>
          </a:solidFill>
          <a:ln cap="flat" cmpd="sng" w="12700">
            <a:solidFill>
              <a:srgbClr val="D9D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
          <p:cNvSpPr txBox="1"/>
          <p:nvPr/>
        </p:nvSpPr>
        <p:spPr>
          <a:xfrm>
            <a:off x="777240" y="676656"/>
            <a:ext cx="24231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D28D9"/>
              </a:buClr>
              <a:buSzPts val="1100"/>
              <a:buFont typeface="Arial"/>
              <a:buNone/>
            </a:pPr>
            <a:r>
              <a:rPr b="1" i="0" lang="en-US" sz="1100" u="none" cap="none" strike="noStrike">
                <a:solidFill>
                  <a:srgbClr val="6D28D9"/>
                </a:solidFill>
                <a:latin typeface="Arial"/>
                <a:ea typeface="Arial"/>
                <a:cs typeface="Arial"/>
                <a:sym typeface="Arial"/>
              </a:rPr>
              <a:t>SAMSUNG PRISM</a:t>
            </a:r>
            <a:endParaRPr b="0" i="0" sz="1100" u="none" cap="none" strike="noStrike">
              <a:solidFill>
                <a:schemeClr val="dk1"/>
              </a:solidFill>
              <a:latin typeface="Calibri"/>
              <a:ea typeface="Calibri"/>
              <a:cs typeface="Calibri"/>
              <a:sym typeface="Calibri"/>
            </a:endParaRPr>
          </a:p>
        </p:txBody>
      </p:sp>
      <p:sp>
        <p:nvSpPr>
          <p:cNvPr id="92" name="Google Shape;92;p1"/>
          <p:cNvSpPr txBox="1"/>
          <p:nvPr/>
        </p:nvSpPr>
        <p:spPr>
          <a:xfrm>
            <a:off x="777240" y="1207008"/>
            <a:ext cx="612648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42B"/>
              </a:buClr>
              <a:buSzPts val="5000"/>
              <a:buFont typeface="Arial"/>
              <a:buNone/>
            </a:pPr>
            <a:r>
              <a:rPr b="1" i="0" lang="en-US" sz="5000" u="none" cap="none" strike="noStrike">
                <a:solidFill>
                  <a:srgbClr val="14142B"/>
                </a:solidFill>
                <a:latin typeface="Arial"/>
                <a:ea typeface="Arial"/>
                <a:cs typeface="Arial"/>
                <a:sym typeface="Arial"/>
              </a:rPr>
              <a:t>Generative AI</a:t>
            </a:r>
            <a:endParaRPr b="0" i="0" sz="5000" u="none" cap="none" strike="noStrike">
              <a:solidFill>
                <a:schemeClr val="dk1"/>
              </a:solidFill>
              <a:latin typeface="Calibri"/>
              <a:ea typeface="Calibri"/>
              <a:cs typeface="Calibri"/>
              <a:sym typeface="Calibri"/>
            </a:endParaRPr>
          </a:p>
        </p:txBody>
      </p:sp>
      <p:sp>
        <p:nvSpPr>
          <p:cNvPr id="93" name="Google Shape;93;p1"/>
          <p:cNvSpPr txBox="1"/>
          <p:nvPr/>
        </p:nvSpPr>
        <p:spPr>
          <a:xfrm>
            <a:off x="777240" y="1901952"/>
            <a:ext cx="612648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8D9"/>
              </a:buClr>
              <a:buSzPts val="5000"/>
              <a:buFont typeface="Arial"/>
              <a:buNone/>
            </a:pPr>
            <a:r>
              <a:rPr b="1" i="0" lang="en-US" sz="5000" u="none" cap="none" strike="noStrike">
                <a:solidFill>
                  <a:srgbClr val="6D28D9"/>
                </a:solidFill>
                <a:latin typeface="Arial"/>
                <a:ea typeface="Arial"/>
                <a:cs typeface="Arial"/>
                <a:sym typeface="Arial"/>
              </a:rPr>
              <a:t>Hackathon</a:t>
            </a:r>
            <a:endParaRPr b="0" i="0" sz="5000" u="none" cap="none" strike="noStrike">
              <a:solidFill>
                <a:schemeClr val="dk1"/>
              </a:solidFill>
              <a:latin typeface="Calibri"/>
              <a:ea typeface="Calibri"/>
              <a:cs typeface="Calibri"/>
              <a:sym typeface="Calibri"/>
            </a:endParaRPr>
          </a:p>
        </p:txBody>
      </p:sp>
      <p:sp>
        <p:nvSpPr>
          <p:cNvPr id="94" name="Google Shape;94;p1"/>
          <p:cNvSpPr txBox="1"/>
          <p:nvPr/>
        </p:nvSpPr>
        <p:spPr>
          <a:xfrm>
            <a:off x="777240" y="2724912"/>
            <a:ext cx="6126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42B"/>
              </a:buClr>
              <a:buSzPts val="2500"/>
              <a:buFont typeface="Arial"/>
              <a:buNone/>
            </a:pPr>
            <a:r>
              <a:rPr b="1" i="0" lang="en-US" sz="2500" u="none" cap="none" strike="noStrike">
                <a:solidFill>
                  <a:srgbClr val="14142B"/>
                </a:solidFill>
                <a:latin typeface="Arial"/>
                <a:ea typeface="Arial"/>
                <a:cs typeface="Arial"/>
                <a:sym typeface="Arial"/>
              </a:rPr>
              <a:t>3rd Edition</a:t>
            </a:r>
            <a:r>
              <a:rPr b="0" i="0" lang="en-US" sz="2000" u="none" cap="none" strike="noStrike">
                <a:solidFill>
                  <a:srgbClr val="63637E"/>
                </a:solidFill>
                <a:latin typeface="Calibri"/>
                <a:ea typeface="Calibri"/>
                <a:cs typeface="Calibri"/>
                <a:sym typeface="Calibri"/>
              </a:rPr>
              <a:t>   2026 – 27</a:t>
            </a:r>
            <a:endParaRPr b="0" i="0" sz="2500" u="none" cap="none" strike="noStrike">
              <a:solidFill>
                <a:schemeClr val="dk1"/>
              </a:solidFill>
              <a:latin typeface="Calibri"/>
              <a:ea typeface="Calibri"/>
              <a:cs typeface="Calibri"/>
              <a:sym typeface="Calibri"/>
            </a:endParaRPr>
          </a:p>
        </p:txBody>
      </p:sp>
      <p:sp>
        <p:nvSpPr>
          <p:cNvPr id="95" name="Google Shape;95;p1"/>
          <p:cNvSpPr txBox="1"/>
          <p:nvPr/>
        </p:nvSpPr>
        <p:spPr>
          <a:xfrm>
            <a:off x="777240" y="3310128"/>
            <a:ext cx="6172200" cy="301752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Theme ID - </a:t>
            </a:r>
            <a:r>
              <a:rPr b="1" i="0" lang="en-US" sz="1600" u="none" cap="none" strike="noStrike">
                <a:solidFill>
                  <a:srgbClr val="14142B"/>
                </a:solidFill>
                <a:latin typeface="Calibri"/>
                <a:ea typeface="Calibri"/>
                <a:cs typeface="Calibri"/>
                <a:sym typeface="Calibri"/>
              </a:rPr>
              <a:t>Theme 4 · Streaming Live RAG</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Project - </a:t>
            </a:r>
            <a:r>
              <a:rPr b="1" i="0" lang="en-US" sz="1600" u="none" cap="none" strike="noStrike">
                <a:solidFill>
                  <a:srgbClr val="14142B"/>
                </a:solidFill>
                <a:latin typeface="Calibri"/>
                <a:ea typeface="Calibri"/>
                <a:cs typeface="Calibri"/>
                <a:sym typeface="Calibri"/>
              </a:rPr>
              <a:t>Streaming Live RAG</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Team Name - </a:t>
            </a:r>
            <a:r>
              <a:rPr b="1" i="0" lang="en-US" sz="1600" u="none" cap="none" strike="noStrike">
                <a:solidFill>
                  <a:srgbClr val="14142B"/>
                </a:solidFill>
                <a:latin typeface="Calibri"/>
                <a:ea typeface="Calibri"/>
                <a:cs typeface="Calibri"/>
                <a:sym typeface="Calibri"/>
              </a:rPr>
              <a:t>Fantastic 4</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College Name - </a:t>
            </a:r>
            <a:r>
              <a:rPr b="1" i="0" lang="en-US" sz="1600" u="none" cap="none" strike="noStrike">
                <a:solidFill>
                  <a:srgbClr val="14142B"/>
                </a:solidFill>
                <a:latin typeface="Calibri"/>
                <a:ea typeface="Calibri"/>
                <a:cs typeface="Calibri"/>
                <a:sym typeface="Calibri"/>
              </a:rPr>
              <a:t>SRM Univ</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Member 1 - </a:t>
            </a:r>
            <a:r>
              <a:rPr b="1" i="0" lang="en-US" sz="1600" u="none" cap="none" strike="noStrike">
                <a:solidFill>
                  <a:srgbClr val="14142B"/>
                </a:solidFill>
                <a:latin typeface="Calibri"/>
                <a:ea typeface="Calibri"/>
                <a:cs typeface="Calibri"/>
                <a:sym typeface="Calibri"/>
              </a:rPr>
              <a:t>Sneh Prasad  ·  sp0701@srmist.edu.in</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Member 2 - </a:t>
            </a:r>
            <a:r>
              <a:rPr b="1" i="0" lang="en-US" sz="1600" u="none" cap="none" strike="noStrike">
                <a:solidFill>
                  <a:srgbClr val="14142B"/>
                </a:solidFill>
                <a:latin typeface="Calibri"/>
                <a:ea typeface="Calibri"/>
                <a:cs typeface="Calibri"/>
                <a:sym typeface="Calibri"/>
              </a:rPr>
              <a:t>Purva Jain  ·  pj8602@srmist.edu.in</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Member 3 - </a:t>
            </a:r>
            <a:r>
              <a:rPr b="1" i="0" lang="en-US" sz="1600" u="none" cap="none" strike="noStrike">
                <a:solidFill>
                  <a:srgbClr val="14142B"/>
                </a:solidFill>
                <a:latin typeface="Calibri"/>
                <a:ea typeface="Calibri"/>
                <a:cs typeface="Calibri"/>
                <a:sym typeface="Calibri"/>
              </a:rPr>
              <a:t>Agadh Khanolkar  ·  ak1920@srmist.edu.in</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Member 4 - </a:t>
            </a:r>
            <a:r>
              <a:rPr b="1" i="0" lang="en-US" sz="1600" u="none" cap="none" strike="noStrike">
                <a:solidFill>
                  <a:srgbClr val="14142B"/>
                </a:solidFill>
                <a:latin typeface="Calibri"/>
                <a:ea typeface="Calibri"/>
                <a:cs typeface="Calibri"/>
                <a:sym typeface="Calibri"/>
              </a:rPr>
              <a:t>Srushti More  ·  sm1436@srmist.edu.in</a:t>
            </a:r>
            <a:endParaRPr/>
          </a:p>
          <a:p>
            <a:pPr indent="-177800" lvl="0" marL="177800" marR="0" rtl="0" algn="l">
              <a:spcBef>
                <a:spcPts val="500"/>
              </a:spcBef>
              <a:spcAft>
                <a:spcPts val="0"/>
              </a:spcAft>
              <a:buClr>
                <a:srgbClr val="63637E"/>
              </a:buClr>
              <a:buSzPts val="1600"/>
              <a:buFont typeface="Calibri"/>
              <a:buChar char="•"/>
            </a:pPr>
            <a:r>
              <a:rPr b="0" i="0" lang="en-US" sz="1450" u="none" cap="none" strike="noStrike">
                <a:solidFill>
                  <a:srgbClr val="63637E"/>
                </a:solidFill>
                <a:latin typeface="Calibri"/>
                <a:ea typeface="Calibri"/>
                <a:cs typeface="Calibri"/>
                <a:sym typeface="Calibri"/>
              </a:rPr>
              <a:t>Submission GitHub link - </a:t>
            </a:r>
            <a:r>
              <a:rPr b="1" i="0" lang="en-US" sz="1450" u="none" cap="none" strike="noStrike">
                <a:solidFill>
                  <a:srgbClr val="6D28D9"/>
                </a:solidFill>
                <a:latin typeface="Calibri"/>
                <a:ea typeface="Calibri"/>
                <a:cs typeface="Calibri"/>
                <a:sym typeface="Calibri"/>
                <a:hlinkClick r:id="rId4"/>
              </a:rPr>
              <a:t>github.com/spsneh07/Prism-Streaming-Live-rag</a:t>
            </a:r>
            <a:endParaRPr/>
          </a:p>
        </p:txBody>
      </p:sp>
      <p:pic>
        <p:nvPicPr>
          <p:cNvPr descr="hero_network.png" id="96" name="Google Shape;96;p1"/>
          <p:cNvPicPr preferRelativeResize="0"/>
          <p:nvPr/>
        </p:nvPicPr>
        <p:blipFill rotWithShape="1">
          <a:blip r:embed="rId3">
            <a:alphaModFix/>
          </a:blip>
          <a:srcRect b="0" l="0" r="0" t="0"/>
          <a:stretch/>
        </p:blipFill>
        <p:spPr>
          <a:xfrm>
            <a:off x="7059168" y="1051560"/>
            <a:ext cx="4572000" cy="4572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Theme 4 — Streaming Live RAG</a:t>
            </a:r>
            <a:endParaRPr/>
          </a:p>
        </p:txBody>
      </p:sp>
      <p:sp>
        <p:nvSpPr>
          <p:cNvPr id="102" name="TextBox 101"/>
          <p:cNvSpPr txBox="1"/>
          <p:nvPr/>
        </p:nvSpPr>
        <p:spPr>
          <a:xfrm>
            <a:off x="841248" y="1737360"/>
            <a:ext cx="4572000" cy="256032"/>
          </a:xfrm>
          <a:prstGeom prst="rect">
            <a:avLst/>
          </a:prstGeom>
          <a:noFill/>
        </p:spPr>
        <p:txBody>
          <a:bodyPr wrap="square" lIns="0" rIns="0" tIns="0" bIns="0" anchor="t">
            <a:noAutofit/>
          </a:bodyPr>
          <a:lstStyle/>
          <a:p>
            <a:pPr algn="l"/>
            <a:r>
              <a:rPr sz="1100" b="1" i="0" spc="150">
                <a:solidFill>
                  <a:srgbClr val="6D28D9"/>
                </a:solidFill>
                <a:latin typeface="Calibri"/>
              </a:rPr>
              <a:t>THE PROBLEM</a:t>
            </a:r>
          </a:p>
        </p:txBody>
      </p:sp>
      <p:sp>
        <p:nvSpPr>
          <p:cNvPr id="103" name="TextBox 102"/>
          <p:cNvSpPr txBox="1"/>
          <p:nvPr/>
        </p:nvSpPr>
        <p:spPr>
          <a:xfrm>
            <a:off x="841248" y="2011680"/>
            <a:ext cx="4343400" cy="1005840"/>
          </a:xfrm>
          <a:prstGeom prst="rect">
            <a:avLst/>
          </a:prstGeom>
          <a:noFill/>
        </p:spPr>
        <p:txBody>
          <a:bodyPr wrap="square" lIns="0" rIns="0" tIns="0" bIns="0" anchor="t">
            <a:noAutofit/>
          </a:bodyPr>
          <a:lstStyle/>
          <a:p>
            <a:pPr algn="l">
              <a:lnSpc>
                <a:spcPct val="95000"/>
              </a:lnSpc>
            </a:pPr>
            <a:r>
              <a:rPr sz="2800" b="1" i="0">
                <a:solidFill>
                  <a:srgbClr val="14142B"/>
                </a:solidFill>
                <a:latin typeface="Arial"/>
              </a:rPr>
              <a:t>Natural speech is not a clean search query.</a:t>
            </a:r>
          </a:p>
        </p:txBody>
      </p:sp>
      <p:sp>
        <p:nvSpPr>
          <p:cNvPr id="104" name="TextBox 103"/>
          <p:cNvSpPr txBox="1"/>
          <p:nvPr/>
        </p:nvSpPr>
        <p:spPr>
          <a:xfrm>
            <a:off x="841248" y="3063240"/>
            <a:ext cx="4206240" cy="640080"/>
          </a:xfrm>
          <a:prstGeom prst="rect">
            <a:avLst/>
          </a:prstGeom>
          <a:noFill/>
        </p:spPr>
        <p:txBody>
          <a:bodyPr wrap="square" lIns="0" rIns="0" tIns="0" bIns="0" anchor="t">
            <a:noAutofit/>
          </a:bodyPr>
          <a:lstStyle/>
          <a:p>
            <a:pPr algn="l"/>
            <a:r>
              <a:rPr sz="1400" b="0" i="0">
                <a:solidFill>
                  <a:srgbClr val="63637E"/>
                </a:solidFill>
                <a:latin typeface="Calibri"/>
              </a:rPr>
              <a:t>Conventional RAG generally waits for the complete utterance, then runs one search.</a:t>
            </a:r>
          </a:p>
        </p:txBody>
      </p:sp>
      <p:sp>
        <p:nvSpPr>
          <p:cNvPr id="105" name="Rounded Rectangle 104"/>
          <p:cNvSpPr/>
          <p:nvPr/>
        </p:nvSpPr>
        <p:spPr>
          <a:xfrm>
            <a:off x="5504688" y="1783080"/>
            <a:ext cx="2926080" cy="868680"/>
          </a:xfrm>
          <a:prstGeom prst="roundRect">
            <a:avLst>
              <a:gd name="adj" fmla="val 12631"/>
            </a:avLst>
          </a:prstGeom>
          <a:solidFill>
            <a:srgbClr val="F4F1FC"/>
          </a:solidFill>
          <a:ln>
            <a:noFill/>
          </a:ln>
        </p:spPr>
        <p:txBody>
          <a:bodyPr rtlCol="0" anchor="ctr"/>
          <a:lstStyle/>
          <a:p>
            <a:pPr algn="ctr"/>
          </a:p>
        </p:txBody>
      </p:sp>
      <p:sp>
        <p:nvSpPr>
          <p:cNvPr id="106" name="Rounded Rectangle 105"/>
          <p:cNvSpPr/>
          <p:nvPr/>
        </p:nvSpPr>
        <p:spPr>
          <a:xfrm>
            <a:off x="5669279" y="2020824"/>
            <a:ext cx="393192" cy="393192"/>
          </a:xfrm>
          <a:prstGeom prst="roundRect">
            <a:avLst>
              <a:gd name="adj" fmla="val 23255"/>
            </a:avLst>
          </a:prstGeom>
          <a:solidFill>
            <a:srgbClr val="6D28D9"/>
          </a:solidFill>
          <a:ln>
            <a:noFill/>
          </a:ln>
        </p:spPr>
        <p:txBody>
          <a:bodyPr rtlCol="0" anchor="ctr" wrap="square" lIns="36576" rIns="36576" tIns="36576" bIns="36576">
            <a:noAutofit/>
          </a:bodyPr>
          <a:lstStyle/>
          <a:p>
            <a:pPr algn="ctr"/>
            <a:r>
              <a:rPr sz="1300" b="1" i="0">
                <a:solidFill>
                  <a:srgbClr val="FFFFFF"/>
                </a:solidFill>
                <a:latin typeface="Calibri"/>
              </a:rPr>
              <a:t>1</a:t>
            </a:r>
          </a:p>
        </p:txBody>
      </p:sp>
      <p:sp>
        <p:nvSpPr>
          <p:cNvPr id="107" name="TextBox 106"/>
          <p:cNvSpPr txBox="1"/>
          <p:nvPr/>
        </p:nvSpPr>
        <p:spPr>
          <a:xfrm>
            <a:off x="6217920" y="1911095"/>
            <a:ext cx="2103120" cy="640080"/>
          </a:xfrm>
          <a:prstGeom prst="rect">
            <a:avLst/>
          </a:prstGeom>
          <a:noFill/>
        </p:spPr>
        <p:txBody>
          <a:bodyPr wrap="square" lIns="0" rIns="0" tIns="0" bIns="0" anchor="ctr">
            <a:noAutofit/>
          </a:bodyPr>
          <a:lstStyle/>
          <a:p>
            <a:pPr algn="l"/>
            <a:r>
              <a:rPr sz="1400" b="1" i="0">
                <a:solidFill>
                  <a:srgbClr val="14142B"/>
                </a:solidFill>
                <a:latin typeface="Calibri"/>
              </a:rPr>
              <a:t>Asks several questions</a:t>
            </a:r>
          </a:p>
          <a:p>
            <a:pPr algn="l"/>
            <a:r>
              <a:rPr sz="1400" b="0" i="0">
                <a:solidFill>
                  <a:srgbClr val="63637E"/>
                </a:solidFill>
                <a:latin typeface="Calibri"/>
              </a:rPr>
              <a:t>in one utterance</a:t>
            </a:r>
          </a:p>
        </p:txBody>
      </p:sp>
      <p:sp>
        <p:nvSpPr>
          <p:cNvPr id="108" name="Rounded Rectangle 107"/>
          <p:cNvSpPr/>
          <p:nvPr/>
        </p:nvSpPr>
        <p:spPr>
          <a:xfrm>
            <a:off x="8613648" y="1783080"/>
            <a:ext cx="2926080" cy="868680"/>
          </a:xfrm>
          <a:prstGeom prst="roundRect">
            <a:avLst>
              <a:gd name="adj" fmla="val 12631"/>
            </a:avLst>
          </a:prstGeom>
          <a:solidFill>
            <a:srgbClr val="F4F1FC"/>
          </a:solidFill>
          <a:ln>
            <a:noFill/>
          </a:ln>
        </p:spPr>
        <p:txBody>
          <a:bodyPr rtlCol="0" anchor="ctr"/>
          <a:lstStyle/>
          <a:p>
            <a:pPr algn="ctr"/>
          </a:p>
        </p:txBody>
      </p:sp>
      <p:sp>
        <p:nvSpPr>
          <p:cNvPr id="109" name="Rounded Rectangle 108"/>
          <p:cNvSpPr/>
          <p:nvPr/>
        </p:nvSpPr>
        <p:spPr>
          <a:xfrm>
            <a:off x="8778240" y="2020824"/>
            <a:ext cx="393192" cy="393192"/>
          </a:xfrm>
          <a:prstGeom prst="roundRect">
            <a:avLst>
              <a:gd name="adj" fmla="val 23255"/>
            </a:avLst>
          </a:prstGeom>
          <a:solidFill>
            <a:srgbClr val="6D28D9"/>
          </a:solidFill>
          <a:ln>
            <a:noFill/>
          </a:ln>
        </p:spPr>
        <p:txBody>
          <a:bodyPr rtlCol="0" anchor="ctr" wrap="square" lIns="36576" rIns="36576" tIns="36576" bIns="36576">
            <a:noAutofit/>
          </a:bodyPr>
          <a:lstStyle/>
          <a:p>
            <a:pPr algn="ctr"/>
            <a:r>
              <a:rPr sz="1300" b="1" i="0">
                <a:solidFill>
                  <a:srgbClr val="FFFFFF"/>
                </a:solidFill>
                <a:latin typeface="Calibri"/>
              </a:rPr>
              <a:t>2</a:t>
            </a:r>
          </a:p>
        </p:txBody>
      </p:sp>
      <p:sp>
        <p:nvSpPr>
          <p:cNvPr id="110" name="TextBox 109"/>
          <p:cNvSpPr txBox="1"/>
          <p:nvPr/>
        </p:nvSpPr>
        <p:spPr>
          <a:xfrm>
            <a:off x="9326880" y="1911095"/>
            <a:ext cx="2103120" cy="640080"/>
          </a:xfrm>
          <a:prstGeom prst="rect">
            <a:avLst/>
          </a:prstGeom>
          <a:noFill/>
        </p:spPr>
        <p:txBody>
          <a:bodyPr wrap="square" lIns="0" rIns="0" tIns="0" bIns="0" anchor="ctr">
            <a:noAutofit/>
          </a:bodyPr>
          <a:lstStyle/>
          <a:p>
            <a:pPr algn="l"/>
            <a:r>
              <a:rPr sz="1400" b="1" i="0">
                <a:solidFill>
                  <a:srgbClr val="14142B"/>
                </a:solidFill>
                <a:latin typeface="Calibri"/>
              </a:rPr>
              <a:t>Adds an important detail</a:t>
            </a:r>
          </a:p>
          <a:p>
            <a:pPr algn="l"/>
            <a:r>
              <a:rPr sz="1400" b="0" i="0">
                <a:solidFill>
                  <a:srgbClr val="63637E"/>
                </a:solidFill>
                <a:latin typeface="Calibri"/>
              </a:rPr>
              <a:t>halfway through</a:t>
            </a:r>
          </a:p>
        </p:txBody>
      </p:sp>
      <p:sp>
        <p:nvSpPr>
          <p:cNvPr id="111" name="Rounded Rectangle 110"/>
          <p:cNvSpPr/>
          <p:nvPr/>
        </p:nvSpPr>
        <p:spPr>
          <a:xfrm>
            <a:off x="5504688" y="2834639"/>
            <a:ext cx="2926080" cy="868680"/>
          </a:xfrm>
          <a:prstGeom prst="roundRect">
            <a:avLst>
              <a:gd name="adj" fmla="val 12631"/>
            </a:avLst>
          </a:prstGeom>
          <a:solidFill>
            <a:srgbClr val="F4F1FC"/>
          </a:solidFill>
          <a:ln>
            <a:noFill/>
          </a:ln>
        </p:spPr>
        <p:txBody>
          <a:bodyPr rtlCol="0" anchor="ctr"/>
          <a:lstStyle/>
          <a:p>
            <a:pPr algn="ctr"/>
          </a:p>
        </p:txBody>
      </p:sp>
      <p:sp>
        <p:nvSpPr>
          <p:cNvPr id="112" name="Rounded Rectangle 111"/>
          <p:cNvSpPr/>
          <p:nvPr/>
        </p:nvSpPr>
        <p:spPr>
          <a:xfrm>
            <a:off x="5669279" y="3072383"/>
            <a:ext cx="393192" cy="393192"/>
          </a:xfrm>
          <a:prstGeom prst="roundRect">
            <a:avLst>
              <a:gd name="adj" fmla="val 23255"/>
            </a:avLst>
          </a:prstGeom>
          <a:solidFill>
            <a:srgbClr val="6D28D9"/>
          </a:solidFill>
          <a:ln>
            <a:noFill/>
          </a:ln>
        </p:spPr>
        <p:txBody>
          <a:bodyPr rtlCol="0" anchor="ctr" wrap="square" lIns="36576" rIns="36576" tIns="36576" bIns="36576">
            <a:noAutofit/>
          </a:bodyPr>
          <a:lstStyle/>
          <a:p>
            <a:pPr algn="ctr"/>
            <a:r>
              <a:rPr sz="1300" b="1" i="0">
                <a:solidFill>
                  <a:srgbClr val="FFFFFF"/>
                </a:solidFill>
                <a:latin typeface="Calibri"/>
              </a:rPr>
              <a:t>3</a:t>
            </a:r>
          </a:p>
        </p:txBody>
      </p:sp>
      <p:sp>
        <p:nvSpPr>
          <p:cNvPr id="113" name="TextBox 112"/>
          <p:cNvSpPr txBox="1"/>
          <p:nvPr/>
        </p:nvSpPr>
        <p:spPr>
          <a:xfrm>
            <a:off x="6217920" y="2962656"/>
            <a:ext cx="2103120" cy="640080"/>
          </a:xfrm>
          <a:prstGeom prst="rect">
            <a:avLst/>
          </a:prstGeom>
          <a:noFill/>
        </p:spPr>
        <p:txBody>
          <a:bodyPr wrap="square" lIns="0" rIns="0" tIns="0" bIns="0" anchor="ctr">
            <a:noAutofit/>
          </a:bodyPr>
          <a:lstStyle/>
          <a:p>
            <a:pPr algn="l"/>
            <a:r>
              <a:rPr sz="1400" b="1" i="0">
                <a:solidFill>
                  <a:srgbClr val="14142B"/>
                </a:solidFill>
                <a:latin typeface="Calibri"/>
              </a:rPr>
              <a:t>Corrects itself</a:t>
            </a:r>
          </a:p>
          <a:p>
            <a:pPr algn="l"/>
            <a:r>
              <a:rPr sz="1400" b="0" i="0">
                <a:solidFill>
                  <a:srgbClr val="63637E"/>
                </a:solidFill>
                <a:latin typeface="Calibri"/>
              </a:rPr>
              <a:t>mid-sentence</a:t>
            </a:r>
          </a:p>
        </p:txBody>
      </p:sp>
      <p:sp>
        <p:nvSpPr>
          <p:cNvPr id="114" name="Rounded Rectangle 113"/>
          <p:cNvSpPr/>
          <p:nvPr/>
        </p:nvSpPr>
        <p:spPr>
          <a:xfrm>
            <a:off x="8613648" y="2834639"/>
            <a:ext cx="2926080" cy="868680"/>
          </a:xfrm>
          <a:prstGeom prst="roundRect">
            <a:avLst>
              <a:gd name="adj" fmla="val 12631"/>
            </a:avLst>
          </a:prstGeom>
          <a:solidFill>
            <a:srgbClr val="F4F1FC"/>
          </a:solidFill>
          <a:ln>
            <a:noFill/>
          </a:ln>
        </p:spPr>
        <p:txBody>
          <a:bodyPr rtlCol="0" anchor="ctr"/>
          <a:lstStyle/>
          <a:p>
            <a:pPr algn="ctr"/>
          </a:p>
        </p:txBody>
      </p:sp>
      <p:sp>
        <p:nvSpPr>
          <p:cNvPr id="115" name="Rounded Rectangle 114"/>
          <p:cNvSpPr/>
          <p:nvPr/>
        </p:nvSpPr>
        <p:spPr>
          <a:xfrm>
            <a:off x="8778240" y="3072383"/>
            <a:ext cx="393192" cy="393192"/>
          </a:xfrm>
          <a:prstGeom prst="roundRect">
            <a:avLst>
              <a:gd name="adj" fmla="val 23255"/>
            </a:avLst>
          </a:prstGeom>
          <a:solidFill>
            <a:srgbClr val="6D28D9"/>
          </a:solidFill>
          <a:ln>
            <a:noFill/>
          </a:ln>
        </p:spPr>
        <p:txBody>
          <a:bodyPr rtlCol="0" anchor="ctr" wrap="square" lIns="36576" rIns="36576" tIns="36576" bIns="36576">
            <a:noAutofit/>
          </a:bodyPr>
          <a:lstStyle/>
          <a:p>
            <a:pPr algn="ctr"/>
            <a:r>
              <a:rPr sz="1300" b="1" i="0">
                <a:solidFill>
                  <a:srgbClr val="FFFFFF"/>
                </a:solidFill>
                <a:latin typeface="Calibri"/>
              </a:rPr>
              <a:t>4</a:t>
            </a:r>
          </a:p>
        </p:txBody>
      </p:sp>
      <p:sp>
        <p:nvSpPr>
          <p:cNvPr id="116" name="TextBox 115"/>
          <p:cNvSpPr txBox="1"/>
          <p:nvPr/>
        </p:nvSpPr>
        <p:spPr>
          <a:xfrm>
            <a:off x="9326880" y="2962656"/>
            <a:ext cx="2103120" cy="640080"/>
          </a:xfrm>
          <a:prstGeom prst="rect">
            <a:avLst/>
          </a:prstGeom>
          <a:noFill/>
        </p:spPr>
        <p:txBody>
          <a:bodyPr wrap="square" lIns="0" rIns="0" tIns="0" bIns="0" anchor="ctr">
            <a:noAutofit/>
          </a:bodyPr>
          <a:lstStyle/>
          <a:p>
            <a:pPr algn="l"/>
            <a:r>
              <a:rPr sz="1400" b="1" i="0">
                <a:solidFill>
                  <a:srgbClr val="14142B"/>
                </a:solidFill>
                <a:latin typeface="Calibri"/>
              </a:rPr>
              <a:t>Asks to change</a:t>
            </a:r>
          </a:p>
          <a:p>
            <a:pPr algn="l"/>
            <a:r>
              <a:rPr sz="1400" b="0" i="0">
                <a:solidFill>
                  <a:srgbClr val="63637E"/>
                </a:solidFill>
                <a:latin typeface="Calibri"/>
              </a:rPr>
              <a:t>a previous answer</a:t>
            </a:r>
          </a:p>
        </p:txBody>
      </p:sp>
      <p:sp>
        <p:nvSpPr>
          <p:cNvPr id="117" name="Rounded Rectangle 116"/>
          <p:cNvSpPr/>
          <p:nvPr/>
        </p:nvSpPr>
        <p:spPr>
          <a:xfrm>
            <a:off x="841248" y="4041648"/>
            <a:ext cx="2011680" cy="566928"/>
          </a:xfrm>
          <a:prstGeom prst="roundRect">
            <a:avLst>
              <a:gd name="adj" fmla="val 16129"/>
            </a:avLst>
          </a:prstGeom>
          <a:solidFill>
            <a:srgbClr val="F3F3F7"/>
          </a:solidFill>
          <a:ln w="12700">
            <a:solidFill>
              <a:srgbClr val="E3E1EE"/>
            </a:solidFill>
          </a:ln>
        </p:spPr>
        <p:txBody>
          <a:bodyPr rtlCol="0" anchor="ctr" wrap="square" lIns="36576" rIns="36576" tIns="36576" bIns="36576">
            <a:noAutofit/>
          </a:bodyPr>
          <a:lstStyle/>
          <a:p>
            <a:pPr algn="ctr"/>
            <a:r>
              <a:rPr sz="1200" b="1" i="0">
                <a:solidFill>
                  <a:srgbClr val="63637E"/>
                </a:solidFill>
                <a:latin typeface="Calibri"/>
              </a:rPr>
              <a:t>CONVENTIONAL RAG</a:t>
            </a:r>
          </a:p>
        </p:txBody>
      </p:sp>
      <p:sp>
        <p:nvSpPr>
          <p:cNvPr id="118" name="Rounded Rectangle 117"/>
          <p:cNvSpPr/>
          <p:nvPr/>
        </p:nvSpPr>
        <p:spPr>
          <a:xfrm>
            <a:off x="3127248" y="4096511"/>
            <a:ext cx="1143000" cy="457200"/>
          </a:xfrm>
          <a:prstGeom prst="roundRect">
            <a:avLst>
              <a:gd name="adj" fmla="val 50000"/>
            </a:avLst>
          </a:prstGeom>
          <a:solidFill>
            <a:srgbClr val="F3F3F7"/>
          </a:solidFill>
          <a:ln w="12700">
            <a:solidFill>
              <a:srgbClr val="E3E1EE"/>
            </a:solidFill>
          </a:ln>
        </p:spPr>
        <p:txBody>
          <a:bodyPr rtlCol="0" anchor="ctr" wrap="square" lIns="36576" rIns="36576" tIns="36576" bIns="36576">
            <a:noAutofit/>
          </a:bodyPr>
          <a:lstStyle/>
          <a:p>
            <a:pPr algn="ctr"/>
            <a:r>
              <a:rPr sz="1200" b="1" i="0">
                <a:solidFill>
                  <a:srgbClr val="14142B"/>
                </a:solidFill>
                <a:latin typeface="Calibri"/>
              </a:rPr>
              <a:t>Speak</a:t>
            </a:r>
          </a:p>
        </p:txBody>
      </p:sp>
      <p:cxnSp>
        <p:nvCxnSpPr>
          <p:cNvPr id="119" name="Connector 118"/>
          <p:cNvCxnSpPr/>
          <p:nvPr/>
        </p:nvCxnSpPr>
        <p:spPr>
          <a:xfrm>
            <a:off x="4306824" y="4325112"/>
            <a:ext cx="164592" cy="0"/>
          </a:xfrm>
          <a:prstGeom prst="line">
            <a:avLst/>
          </a:prstGeom>
          <a:ln w="15875">
            <a:solidFill>
              <a:srgbClr val="9C9CB0"/>
            </a:solidFill>
            <a:tailEnd type="triangle" w="med" len="med"/>
          </a:ln>
        </p:spPr>
      </p:cxnSp>
      <p:sp>
        <p:nvSpPr>
          <p:cNvPr id="120" name="Rounded Rectangle 119"/>
          <p:cNvSpPr/>
          <p:nvPr/>
        </p:nvSpPr>
        <p:spPr>
          <a:xfrm>
            <a:off x="4507992" y="4096511"/>
            <a:ext cx="1143000" cy="457200"/>
          </a:xfrm>
          <a:prstGeom prst="roundRect">
            <a:avLst>
              <a:gd name="adj" fmla="val 50000"/>
            </a:avLst>
          </a:prstGeom>
          <a:solidFill>
            <a:srgbClr val="FFFFFF"/>
          </a:solidFill>
          <a:ln w="12700">
            <a:solidFill>
              <a:srgbClr val="9C9CB0"/>
            </a:solidFill>
            <a:prstDash val="dash"/>
          </a:ln>
        </p:spPr>
        <p:txBody>
          <a:bodyPr rtlCol="0" anchor="ctr" wrap="square" lIns="36576" rIns="36576" tIns="36576" bIns="36576">
            <a:noAutofit/>
          </a:bodyPr>
          <a:lstStyle/>
          <a:p>
            <a:pPr algn="ctr"/>
            <a:r>
              <a:rPr sz="1200" b="1" i="0">
                <a:solidFill>
                  <a:srgbClr val="63637E"/>
                </a:solidFill>
                <a:latin typeface="Calibri"/>
              </a:rPr>
              <a:t>Wait</a:t>
            </a:r>
          </a:p>
        </p:txBody>
      </p:sp>
      <p:cxnSp>
        <p:nvCxnSpPr>
          <p:cNvPr id="121" name="Connector 120"/>
          <p:cNvCxnSpPr/>
          <p:nvPr/>
        </p:nvCxnSpPr>
        <p:spPr>
          <a:xfrm>
            <a:off x="5687568" y="4325112"/>
            <a:ext cx="164591" cy="0"/>
          </a:xfrm>
          <a:prstGeom prst="line">
            <a:avLst/>
          </a:prstGeom>
          <a:ln w="15875">
            <a:solidFill>
              <a:srgbClr val="9C9CB0"/>
            </a:solidFill>
            <a:tailEnd type="triangle" w="med" len="med"/>
          </a:ln>
        </p:spPr>
      </p:cxnSp>
      <p:sp>
        <p:nvSpPr>
          <p:cNvPr id="122" name="Rounded Rectangle 121"/>
          <p:cNvSpPr/>
          <p:nvPr/>
        </p:nvSpPr>
        <p:spPr>
          <a:xfrm>
            <a:off x="5888736" y="4096511"/>
            <a:ext cx="1143000" cy="457200"/>
          </a:xfrm>
          <a:prstGeom prst="roundRect">
            <a:avLst>
              <a:gd name="adj" fmla="val 50000"/>
            </a:avLst>
          </a:prstGeom>
          <a:solidFill>
            <a:srgbClr val="F3F3F7"/>
          </a:solidFill>
          <a:ln w="12700">
            <a:solidFill>
              <a:srgbClr val="E3E1EE"/>
            </a:solidFill>
          </a:ln>
        </p:spPr>
        <p:txBody>
          <a:bodyPr rtlCol="0" anchor="ctr" wrap="square" lIns="36576" rIns="36576" tIns="36576" bIns="36576">
            <a:noAutofit/>
          </a:bodyPr>
          <a:lstStyle/>
          <a:p>
            <a:pPr algn="ctr"/>
            <a:r>
              <a:rPr sz="1200" b="1" i="0">
                <a:solidFill>
                  <a:srgbClr val="14142B"/>
                </a:solidFill>
                <a:latin typeface="Calibri"/>
              </a:rPr>
              <a:t>Retrieve</a:t>
            </a:r>
          </a:p>
        </p:txBody>
      </p:sp>
      <p:cxnSp>
        <p:nvCxnSpPr>
          <p:cNvPr id="123" name="Connector 122"/>
          <p:cNvCxnSpPr/>
          <p:nvPr/>
        </p:nvCxnSpPr>
        <p:spPr>
          <a:xfrm>
            <a:off x="7068312" y="4325112"/>
            <a:ext cx="164591" cy="0"/>
          </a:xfrm>
          <a:prstGeom prst="line">
            <a:avLst/>
          </a:prstGeom>
          <a:ln w="15875">
            <a:solidFill>
              <a:srgbClr val="9C9CB0"/>
            </a:solidFill>
            <a:tailEnd type="triangle" w="med" len="med"/>
          </a:ln>
        </p:spPr>
      </p:cxnSp>
      <p:sp>
        <p:nvSpPr>
          <p:cNvPr id="124" name="Rounded Rectangle 123"/>
          <p:cNvSpPr/>
          <p:nvPr/>
        </p:nvSpPr>
        <p:spPr>
          <a:xfrm>
            <a:off x="7269480" y="4096511"/>
            <a:ext cx="1143000" cy="457200"/>
          </a:xfrm>
          <a:prstGeom prst="roundRect">
            <a:avLst>
              <a:gd name="adj" fmla="val 50000"/>
            </a:avLst>
          </a:prstGeom>
          <a:solidFill>
            <a:srgbClr val="F3F3F7"/>
          </a:solidFill>
          <a:ln w="12700">
            <a:solidFill>
              <a:srgbClr val="E3E1EE"/>
            </a:solidFill>
          </a:ln>
        </p:spPr>
        <p:txBody>
          <a:bodyPr rtlCol="0" anchor="ctr" wrap="square" lIns="36576" rIns="36576" tIns="36576" bIns="36576">
            <a:noAutofit/>
          </a:bodyPr>
          <a:lstStyle/>
          <a:p>
            <a:pPr algn="ctr"/>
            <a:r>
              <a:rPr sz="1200" b="1" i="0">
                <a:solidFill>
                  <a:srgbClr val="14142B"/>
                </a:solidFill>
                <a:latin typeface="Calibri"/>
              </a:rPr>
              <a:t>Answer</a:t>
            </a:r>
          </a:p>
        </p:txBody>
      </p:sp>
      <p:sp>
        <p:nvSpPr>
          <p:cNvPr id="125" name="Rounded Rectangle 124"/>
          <p:cNvSpPr/>
          <p:nvPr/>
        </p:nvSpPr>
        <p:spPr>
          <a:xfrm>
            <a:off x="841248" y="4910328"/>
            <a:ext cx="2011680" cy="566928"/>
          </a:xfrm>
          <a:prstGeom prst="roundRect">
            <a:avLst>
              <a:gd name="adj" fmla="val 16129"/>
            </a:avLst>
          </a:prstGeom>
          <a:solidFill>
            <a:srgbClr val="6D28D9"/>
          </a:solidFill>
          <a:ln>
            <a:noFill/>
          </a:ln>
        </p:spPr>
        <p:txBody>
          <a:bodyPr rtlCol="0" anchor="ctr" wrap="square" lIns="36576" rIns="36576" tIns="36576" bIns="36576">
            <a:noAutofit/>
          </a:bodyPr>
          <a:lstStyle/>
          <a:p>
            <a:pPr algn="ctr"/>
            <a:r>
              <a:rPr sz="1200" b="1" i="0">
                <a:solidFill>
                  <a:srgbClr val="FFFFFF"/>
                </a:solidFill>
                <a:latin typeface="Calibri"/>
              </a:rPr>
              <a:t>STREAMING LIVE RAG</a:t>
            </a:r>
          </a:p>
        </p:txBody>
      </p:sp>
      <p:sp>
        <p:nvSpPr>
          <p:cNvPr id="126" name="Rounded Rectangle 125"/>
          <p:cNvSpPr/>
          <p:nvPr/>
        </p:nvSpPr>
        <p:spPr>
          <a:xfrm>
            <a:off x="3127248" y="4965192"/>
            <a:ext cx="1143000" cy="457200"/>
          </a:xfrm>
          <a:prstGeom prst="roundRect">
            <a:avLst>
              <a:gd name="adj" fmla="val 50000"/>
            </a:avLst>
          </a:prstGeom>
          <a:solidFill>
            <a:srgbClr val="F4F1FC"/>
          </a:solidFill>
          <a:ln w="12700">
            <a:solidFill>
              <a:srgbClr val="E3E1EE"/>
            </a:solidFill>
          </a:ln>
        </p:spPr>
        <p:txBody>
          <a:bodyPr rtlCol="0" anchor="ctr" wrap="square" lIns="36576" rIns="36576" tIns="36576" bIns="36576">
            <a:noAutofit/>
          </a:bodyPr>
          <a:lstStyle/>
          <a:p>
            <a:pPr algn="ctr"/>
            <a:r>
              <a:rPr sz="1200" b="1" i="0">
                <a:solidFill>
                  <a:srgbClr val="14142B"/>
                </a:solidFill>
                <a:latin typeface="Calibri"/>
              </a:rPr>
              <a:t>Speak</a:t>
            </a:r>
          </a:p>
        </p:txBody>
      </p:sp>
      <p:cxnSp>
        <p:nvCxnSpPr>
          <p:cNvPr id="127" name="Connector 126"/>
          <p:cNvCxnSpPr/>
          <p:nvPr/>
        </p:nvCxnSpPr>
        <p:spPr>
          <a:xfrm>
            <a:off x="4306824" y="5193792"/>
            <a:ext cx="164592" cy="0"/>
          </a:xfrm>
          <a:prstGeom prst="line">
            <a:avLst/>
          </a:prstGeom>
          <a:ln w="15875">
            <a:solidFill>
              <a:srgbClr val="9C9CB0"/>
            </a:solidFill>
            <a:tailEnd type="triangle" w="med" len="med"/>
          </a:ln>
        </p:spPr>
      </p:cxnSp>
      <p:sp>
        <p:nvSpPr>
          <p:cNvPr id="128" name="Rounded Rectangle 127"/>
          <p:cNvSpPr/>
          <p:nvPr/>
        </p:nvSpPr>
        <p:spPr>
          <a:xfrm>
            <a:off x="4507992" y="4965192"/>
            <a:ext cx="1143000" cy="457200"/>
          </a:xfrm>
          <a:prstGeom prst="roundRect">
            <a:avLst>
              <a:gd name="adj" fmla="val 50000"/>
            </a:avLst>
          </a:prstGeom>
          <a:solidFill>
            <a:srgbClr val="F4F1FC"/>
          </a:solidFill>
          <a:ln w="12700">
            <a:solidFill>
              <a:srgbClr val="E3E1EE"/>
            </a:solidFill>
          </a:ln>
        </p:spPr>
        <p:txBody>
          <a:bodyPr rtlCol="0" anchor="ctr" wrap="square" lIns="36576" rIns="36576" tIns="36576" bIns="36576">
            <a:noAutofit/>
          </a:bodyPr>
          <a:lstStyle/>
          <a:p>
            <a:pPr algn="ctr"/>
            <a:r>
              <a:rPr sz="1200" b="1" i="0">
                <a:solidFill>
                  <a:srgbClr val="14142B"/>
                </a:solidFill>
                <a:latin typeface="Calibri"/>
              </a:rPr>
              <a:t>Partial transcript</a:t>
            </a:r>
          </a:p>
        </p:txBody>
      </p:sp>
      <p:cxnSp>
        <p:nvCxnSpPr>
          <p:cNvPr id="129" name="Connector 128"/>
          <p:cNvCxnSpPr/>
          <p:nvPr/>
        </p:nvCxnSpPr>
        <p:spPr>
          <a:xfrm>
            <a:off x="5687568" y="5193792"/>
            <a:ext cx="164591" cy="0"/>
          </a:xfrm>
          <a:prstGeom prst="line">
            <a:avLst/>
          </a:prstGeom>
          <a:ln w="15875">
            <a:solidFill>
              <a:srgbClr val="9C9CB0"/>
            </a:solidFill>
            <a:tailEnd type="triangle" w="med" len="med"/>
          </a:ln>
        </p:spPr>
      </p:cxnSp>
      <p:sp>
        <p:nvSpPr>
          <p:cNvPr id="130" name="Rounded Rectangle 129"/>
          <p:cNvSpPr/>
          <p:nvPr/>
        </p:nvSpPr>
        <p:spPr>
          <a:xfrm>
            <a:off x="5888736" y="4965192"/>
            <a:ext cx="1143000" cy="457200"/>
          </a:xfrm>
          <a:prstGeom prst="roundRect">
            <a:avLst>
              <a:gd name="adj" fmla="val 50000"/>
            </a:avLst>
          </a:prstGeom>
          <a:solidFill>
            <a:srgbClr val="E6F4EC"/>
          </a:solidFill>
          <a:ln>
            <a:noFill/>
          </a:ln>
        </p:spPr>
        <p:txBody>
          <a:bodyPr rtlCol="0" anchor="ctr" wrap="square" lIns="36576" rIns="36576" tIns="36576" bIns="36576">
            <a:noAutofit/>
          </a:bodyPr>
          <a:lstStyle/>
          <a:p>
            <a:pPr algn="ctr"/>
            <a:r>
              <a:rPr sz="1200" b="1" i="0">
                <a:solidFill>
                  <a:srgbClr val="15803D"/>
                </a:solidFill>
                <a:latin typeface="Calibri"/>
              </a:rPr>
              <a:t>Retrieve</a:t>
            </a:r>
          </a:p>
        </p:txBody>
      </p:sp>
      <p:cxnSp>
        <p:nvCxnSpPr>
          <p:cNvPr id="131" name="Connector 130"/>
          <p:cNvCxnSpPr/>
          <p:nvPr/>
        </p:nvCxnSpPr>
        <p:spPr>
          <a:xfrm>
            <a:off x="7068312" y="5193792"/>
            <a:ext cx="164591" cy="0"/>
          </a:xfrm>
          <a:prstGeom prst="line">
            <a:avLst/>
          </a:prstGeom>
          <a:ln w="15875">
            <a:solidFill>
              <a:srgbClr val="9C9CB0"/>
            </a:solidFill>
            <a:tailEnd type="triangle" w="med" len="med"/>
          </a:ln>
        </p:spPr>
      </p:cxnSp>
      <p:sp>
        <p:nvSpPr>
          <p:cNvPr id="132" name="Rounded Rectangle 131"/>
          <p:cNvSpPr/>
          <p:nvPr/>
        </p:nvSpPr>
        <p:spPr>
          <a:xfrm>
            <a:off x="7269480" y="4965192"/>
            <a:ext cx="1143000" cy="457200"/>
          </a:xfrm>
          <a:prstGeom prst="roundRect">
            <a:avLst>
              <a:gd name="adj" fmla="val 50000"/>
            </a:avLst>
          </a:prstGeom>
          <a:solidFill>
            <a:srgbClr val="F4F1FC"/>
          </a:solidFill>
          <a:ln w="12700">
            <a:solidFill>
              <a:srgbClr val="E3E1EE"/>
            </a:solidFill>
          </a:ln>
        </p:spPr>
        <p:txBody>
          <a:bodyPr rtlCol="0" anchor="ctr" wrap="square" lIns="36576" rIns="36576" tIns="36576" bIns="36576">
            <a:noAutofit/>
          </a:bodyPr>
          <a:lstStyle/>
          <a:p>
            <a:pPr algn="ctr"/>
            <a:r>
              <a:rPr sz="1200" b="1" i="0">
                <a:solidFill>
                  <a:srgbClr val="14142B"/>
                </a:solidFill>
                <a:latin typeface="Calibri"/>
              </a:rPr>
              <a:t>More speech</a:t>
            </a:r>
          </a:p>
        </p:txBody>
      </p:sp>
      <p:cxnSp>
        <p:nvCxnSpPr>
          <p:cNvPr id="133" name="Connector 132"/>
          <p:cNvCxnSpPr/>
          <p:nvPr/>
        </p:nvCxnSpPr>
        <p:spPr>
          <a:xfrm>
            <a:off x="8449055" y="5193792"/>
            <a:ext cx="164593" cy="0"/>
          </a:xfrm>
          <a:prstGeom prst="line">
            <a:avLst/>
          </a:prstGeom>
          <a:ln w="15875">
            <a:solidFill>
              <a:srgbClr val="9C9CB0"/>
            </a:solidFill>
            <a:tailEnd type="triangle" w="med" len="med"/>
          </a:ln>
        </p:spPr>
      </p:cxnSp>
      <p:sp>
        <p:nvSpPr>
          <p:cNvPr id="134" name="Rounded Rectangle 133"/>
          <p:cNvSpPr/>
          <p:nvPr/>
        </p:nvSpPr>
        <p:spPr>
          <a:xfrm>
            <a:off x="8650224" y="4965192"/>
            <a:ext cx="1143000" cy="457200"/>
          </a:xfrm>
          <a:prstGeom prst="roundRect">
            <a:avLst>
              <a:gd name="adj" fmla="val 50000"/>
            </a:avLst>
          </a:prstGeom>
          <a:solidFill>
            <a:srgbClr val="EAF0FF"/>
          </a:solidFill>
          <a:ln>
            <a:noFill/>
          </a:ln>
        </p:spPr>
        <p:txBody>
          <a:bodyPr rtlCol="0" anchor="ctr" wrap="square" lIns="36576" rIns="36576" tIns="36576" bIns="36576">
            <a:noAutofit/>
          </a:bodyPr>
          <a:lstStyle/>
          <a:p>
            <a:pPr algn="ctr"/>
            <a:r>
              <a:rPr sz="1200" b="1" i="0">
                <a:solidFill>
                  <a:srgbClr val="3B5BDB"/>
                </a:solidFill>
                <a:latin typeface="Calibri"/>
              </a:rPr>
              <a:t>Refine</a:t>
            </a:r>
          </a:p>
        </p:txBody>
      </p:sp>
      <p:cxnSp>
        <p:nvCxnSpPr>
          <p:cNvPr id="135" name="Connector 134"/>
          <p:cNvCxnSpPr/>
          <p:nvPr/>
        </p:nvCxnSpPr>
        <p:spPr>
          <a:xfrm>
            <a:off x="9829800" y="5193792"/>
            <a:ext cx="164592" cy="0"/>
          </a:xfrm>
          <a:prstGeom prst="line">
            <a:avLst/>
          </a:prstGeom>
          <a:ln w="15875">
            <a:solidFill>
              <a:srgbClr val="9C9CB0"/>
            </a:solidFill>
            <a:tailEnd type="triangle" w="med" len="med"/>
          </a:ln>
        </p:spPr>
      </p:cxnSp>
      <p:sp>
        <p:nvSpPr>
          <p:cNvPr id="136" name="Rounded Rectangle 135"/>
          <p:cNvSpPr/>
          <p:nvPr/>
        </p:nvSpPr>
        <p:spPr>
          <a:xfrm>
            <a:off x="10030967" y="4965192"/>
            <a:ext cx="1143000" cy="457200"/>
          </a:xfrm>
          <a:prstGeom prst="roundRect">
            <a:avLst>
              <a:gd name="adj" fmla="val 50000"/>
            </a:avLst>
          </a:prstGeom>
          <a:solidFill>
            <a:srgbClr val="6D28D9"/>
          </a:solidFill>
          <a:ln>
            <a:noFill/>
          </a:ln>
        </p:spPr>
        <p:txBody>
          <a:bodyPr rtlCol="0" anchor="ctr" wrap="square" lIns="36576" rIns="36576" tIns="36576" bIns="36576">
            <a:noAutofit/>
          </a:bodyPr>
          <a:lstStyle/>
          <a:p>
            <a:pPr algn="ctr"/>
            <a:r>
              <a:rPr sz="1200" b="1" i="0">
                <a:solidFill>
                  <a:srgbClr val="FFFFFF"/>
                </a:solidFill>
                <a:latin typeface="Calibri"/>
              </a:rPr>
              <a:t>Answer</a:t>
            </a:r>
          </a:p>
        </p:txBody>
      </p:sp>
      <p:sp>
        <p:nvSpPr>
          <p:cNvPr id="137" name="TextBox 136"/>
          <p:cNvSpPr txBox="1"/>
          <p:nvPr/>
        </p:nvSpPr>
        <p:spPr>
          <a:xfrm>
            <a:off x="841248" y="5742432"/>
            <a:ext cx="10515600" cy="365760"/>
          </a:xfrm>
          <a:prstGeom prst="rect">
            <a:avLst/>
          </a:prstGeom>
          <a:noFill/>
        </p:spPr>
        <p:txBody>
          <a:bodyPr wrap="square" lIns="0" rIns="0" tIns="0" bIns="0" anchor="t">
            <a:noAutofit/>
          </a:bodyPr>
          <a:lstStyle/>
          <a:p>
            <a:pPr algn="l"/>
            <a:r>
              <a:rPr sz="1600" b="1" i="0">
                <a:solidFill>
                  <a:srgbClr val="6D28D9"/>
                </a:solidFill>
                <a:latin typeface="Calibri"/>
              </a:rPr>
              <a:t>Objective  </a:t>
            </a:r>
            <a:r>
              <a:rPr sz="1600" b="1" i="0">
                <a:solidFill>
                  <a:srgbClr val="14142B"/>
                </a:solidFill>
                <a:latin typeface="Calibri"/>
              </a:rPr>
              <a:t>Retrieve useful context while the conversation is still unfolding.</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Existing Solutions &amp; Gaps</a:t>
            </a:r>
            <a:endParaRPr/>
          </a:p>
        </p:txBody>
      </p:sp>
      <p:sp>
        <p:nvSpPr>
          <p:cNvPr id="108" name="Rounded Rectangle 107"/>
          <p:cNvSpPr/>
          <p:nvPr/>
        </p:nvSpPr>
        <p:spPr>
          <a:xfrm>
            <a:off x="2990088" y="1737360"/>
            <a:ext cx="3977639" cy="420624"/>
          </a:xfrm>
          <a:prstGeom prst="roundRect">
            <a:avLst>
              <a:gd name="adj" fmla="val 17391"/>
            </a:avLst>
          </a:prstGeom>
          <a:solidFill>
            <a:srgbClr val="F3F3F7"/>
          </a:solidFill>
          <a:ln w="12700">
            <a:solidFill>
              <a:srgbClr val="E3E1EE"/>
            </a:solidFill>
          </a:ln>
        </p:spPr>
        <p:txBody>
          <a:bodyPr rtlCol="0" anchor="ctr" wrap="square" lIns="36576" rIns="36576" tIns="36576" bIns="36576">
            <a:noAutofit/>
          </a:bodyPr>
          <a:lstStyle/>
          <a:p>
            <a:pPr algn="ctr"/>
            <a:r>
              <a:rPr sz="1300" b="1" i="0">
                <a:solidFill>
                  <a:srgbClr val="14142B"/>
                </a:solidFill>
                <a:latin typeface="Calibri"/>
              </a:rPr>
              <a:t>Typical query-then-retrieve pipelines</a:t>
            </a:r>
          </a:p>
        </p:txBody>
      </p:sp>
      <p:sp>
        <p:nvSpPr>
          <p:cNvPr id="109" name="Rounded Rectangle 108"/>
          <p:cNvSpPr/>
          <p:nvPr/>
        </p:nvSpPr>
        <p:spPr>
          <a:xfrm>
            <a:off x="7059168" y="1737360"/>
            <a:ext cx="4297680" cy="420624"/>
          </a:xfrm>
          <a:prstGeom prst="roundRect">
            <a:avLst>
              <a:gd name="adj" fmla="val 17391"/>
            </a:avLst>
          </a:prstGeom>
          <a:solidFill>
            <a:srgbClr val="6D28D9"/>
          </a:solidFill>
          <a:ln>
            <a:noFill/>
          </a:ln>
        </p:spPr>
        <p:txBody>
          <a:bodyPr rtlCol="0" anchor="ctr" wrap="square" lIns="36576" rIns="36576" tIns="36576" bIns="36576">
            <a:noAutofit/>
          </a:bodyPr>
          <a:lstStyle/>
          <a:p>
            <a:pPr algn="ctr"/>
            <a:r>
              <a:rPr sz="1300" b="1" i="0">
                <a:solidFill>
                  <a:srgbClr val="FFFFFF"/>
                </a:solidFill>
                <a:latin typeface="Calibri"/>
              </a:rPr>
              <a:t>Streaming Live RAG (ours)</a:t>
            </a:r>
          </a:p>
        </p:txBody>
      </p:sp>
      <p:sp>
        <p:nvSpPr>
          <p:cNvPr id="110" name="TextBox 109"/>
          <p:cNvSpPr txBox="1"/>
          <p:nvPr/>
        </p:nvSpPr>
        <p:spPr>
          <a:xfrm>
            <a:off x="841248" y="2249424"/>
            <a:ext cx="2057400" cy="457200"/>
          </a:xfrm>
          <a:prstGeom prst="rect">
            <a:avLst/>
          </a:prstGeom>
          <a:noFill/>
        </p:spPr>
        <p:txBody>
          <a:bodyPr wrap="square" lIns="0" rIns="0" tIns="0" bIns="0" anchor="ctr">
            <a:noAutofit/>
          </a:bodyPr>
          <a:lstStyle/>
          <a:p>
            <a:pPr algn="l"/>
            <a:r>
              <a:rPr sz="1300" b="1" i="0">
                <a:solidFill>
                  <a:srgbClr val="14142B"/>
                </a:solidFill>
                <a:latin typeface="Calibri"/>
              </a:rPr>
              <a:t>Query handling</a:t>
            </a:r>
          </a:p>
        </p:txBody>
      </p:sp>
      <p:sp>
        <p:nvSpPr>
          <p:cNvPr id="111" name="Rounded Rectangle 110"/>
          <p:cNvSpPr/>
          <p:nvPr/>
        </p:nvSpPr>
        <p:spPr>
          <a:xfrm>
            <a:off x="2990088" y="2249424"/>
            <a:ext cx="3977639" cy="457200"/>
          </a:xfrm>
          <a:prstGeom prst="roundRect">
            <a:avLst>
              <a:gd name="adj" fmla="val 12000"/>
            </a:avLst>
          </a:prstGeom>
          <a:solidFill>
            <a:srgbClr val="FFFFFF"/>
          </a:solidFill>
          <a:ln w="12700">
            <a:solidFill>
              <a:srgbClr val="E3E1EE"/>
            </a:solidFill>
          </a:ln>
        </p:spPr>
        <p:txBody>
          <a:bodyPr rtlCol="0" anchor="ctr" wrap="square" lIns="128016" rIns="128016" tIns="36576" bIns="36576">
            <a:noAutofit/>
          </a:bodyPr>
          <a:lstStyle/>
          <a:p>
            <a:pPr algn="l"/>
            <a:r>
              <a:rPr sz="1300" b="0" i="0">
                <a:solidFill>
                  <a:srgbClr val="63637E"/>
                </a:solidFill>
                <a:latin typeface="Calibri"/>
              </a:rPr>
              <a:t>Whole utterance → one query</a:t>
            </a:r>
          </a:p>
        </p:txBody>
      </p:sp>
      <p:sp>
        <p:nvSpPr>
          <p:cNvPr id="112" name="Rounded Rectangle 111"/>
          <p:cNvSpPr/>
          <p:nvPr/>
        </p:nvSpPr>
        <p:spPr>
          <a:xfrm>
            <a:off x="7059168" y="2249424"/>
            <a:ext cx="4297680" cy="457200"/>
          </a:xfrm>
          <a:prstGeom prst="roundRect">
            <a:avLst>
              <a:gd name="adj" fmla="val 12000"/>
            </a:avLst>
          </a:prstGeom>
          <a:solidFill>
            <a:srgbClr val="F4F1FC"/>
          </a:solidFill>
          <a:ln>
            <a:noFill/>
          </a:ln>
        </p:spPr>
        <p:txBody>
          <a:bodyPr rtlCol="0" anchor="ctr" wrap="square" lIns="128016" rIns="128016" tIns="36576" bIns="36576">
            <a:noAutofit/>
          </a:bodyPr>
          <a:lstStyle/>
          <a:p>
            <a:pPr algn="l"/>
            <a:r>
              <a:rPr sz="1300" b="0" i="0">
                <a:solidFill>
                  <a:srgbClr val="14142B"/>
                </a:solidFill>
                <a:latin typeface="Calibri"/>
              </a:rPr>
              <a:t>One utterance → N sub-queries</a:t>
            </a:r>
          </a:p>
        </p:txBody>
      </p:sp>
      <p:sp>
        <p:nvSpPr>
          <p:cNvPr id="113" name="TextBox 112"/>
          <p:cNvSpPr txBox="1"/>
          <p:nvPr/>
        </p:nvSpPr>
        <p:spPr>
          <a:xfrm>
            <a:off x="841248" y="2756916"/>
            <a:ext cx="2057400" cy="457200"/>
          </a:xfrm>
          <a:prstGeom prst="rect">
            <a:avLst/>
          </a:prstGeom>
          <a:noFill/>
        </p:spPr>
        <p:txBody>
          <a:bodyPr wrap="square" lIns="0" rIns="0" tIns="0" bIns="0" anchor="ctr">
            <a:noAutofit/>
          </a:bodyPr>
          <a:lstStyle/>
          <a:p>
            <a:pPr algn="l"/>
            <a:r>
              <a:rPr sz="1300" b="1" i="0">
                <a:solidFill>
                  <a:srgbClr val="14142B"/>
                </a:solidFill>
                <a:latin typeface="Calibri"/>
              </a:rPr>
              <a:t>Retrieval timing</a:t>
            </a:r>
          </a:p>
        </p:txBody>
      </p:sp>
      <p:sp>
        <p:nvSpPr>
          <p:cNvPr id="114" name="Rounded Rectangle 113"/>
          <p:cNvSpPr/>
          <p:nvPr/>
        </p:nvSpPr>
        <p:spPr>
          <a:xfrm>
            <a:off x="2990088" y="2756916"/>
            <a:ext cx="3977639" cy="457200"/>
          </a:xfrm>
          <a:prstGeom prst="roundRect">
            <a:avLst>
              <a:gd name="adj" fmla="val 12000"/>
            </a:avLst>
          </a:prstGeom>
          <a:solidFill>
            <a:srgbClr val="FFFFFF"/>
          </a:solidFill>
          <a:ln w="12700">
            <a:solidFill>
              <a:srgbClr val="E3E1EE"/>
            </a:solidFill>
          </a:ln>
        </p:spPr>
        <p:txBody>
          <a:bodyPr rtlCol="0" anchor="ctr" wrap="square" lIns="128016" rIns="128016" tIns="36576" bIns="36576">
            <a:noAutofit/>
          </a:bodyPr>
          <a:lstStyle/>
          <a:p>
            <a:pPr algn="l"/>
            <a:r>
              <a:rPr sz="1300" b="0" i="0">
                <a:solidFill>
                  <a:srgbClr val="63637E"/>
                </a:solidFill>
                <a:latin typeface="Calibri"/>
              </a:rPr>
              <a:t>Starts after the user stops speaking</a:t>
            </a:r>
          </a:p>
        </p:txBody>
      </p:sp>
      <p:sp>
        <p:nvSpPr>
          <p:cNvPr id="115" name="Rounded Rectangle 114"/>
          <p:cNvSpPr/>
          <p:nvPr/>
        </p:nvSpPr>
        <p:spPr>
          <a:xfrm>
            <a:off x="7059168" y="2756916"/>
            <a:ext cx="4297680" cy="457200"/>
          </a:xfrm>
          <a:prstGeom prst="roundRect">
            <a:avLst>
              <a:gd name="adj" fmla="val 12000"/>
            </a:avLst>
          </a:prstGeom>
          <a:solidFill>
            <a:srgbClr val="F4F1FC"/>
          </a:solidFill>
          <a:ln>
            <a:noFill/>
          </a:ln>
        </p:spPr>
        <p:txBody>
          <a:bodyPr rtlCol="0" anchor="ctr" wrap="square" lIns="128016" rIns="128016" tIns="36576" bIns="36576">
            <a:noAutofit/>
          </a:bodyPr>
          <a:lstStyle/>
          <a:p>
            <a:pPr algn="l"/>
            <a:r>
              <a:rPr sz="1300" b="0" i="0">
                <a:solidFill>
                  <a:srgbClr val="14142B"/>
                </a:solidFill>
                <a:latin typeface="Calibri"/>
              </a:rPr>
              <a:t>Starts during speech, once the partial transcript is specific</a:t>
            </a:r>
          </a:p>
        </p:txBody>
      </p:sp>
      <p:sp>
        <p:nvSpPr>
          <p:cNvPr id="116" name="TextBox 115"/>
          <p:cNvSpPr txBox="1"/>
          <p:nvPr/>
        </p:nvSpPr>
        <p:spPr>
          <a:xfrm>
            <a:off x="841248" y="3264408"/>
            <a:ext cx="2057400" cy="457200"/>
          </a:xfrm>
          <a:prstGeom prst="rect">
            <a:avLst/>
          </a:prstGeom>
          <a:noFill/>
        </p:spPr>
        <p:txBody>
          <a:bodyPr wrap="square" lIns="0" rIns="0" tIns="0" bIns="0" anchor="ctr">
            <a:noAutofit/>
          </a:bodyPr>
          <a:lstStyle/>
          <a:p>
            <a:pPr algn="l"/>
            <a:r>
              <a:rPr sz="1300" b="1" i="0">
                <a:solidFill>
                  <a:srgbClr val="14142B"/>
                </a:solidFill>
                <a:latin typeface="Calibri"/>
              </a:rPr>
              <a:t>Multi-intent requests</a:t>
            </a:r>
          </a:p>
        </p:txBody>
      </p:sp>
      <p:sp>
        <p:nvSpPr>
          <p:cNvPr id="117" name="Rounded Rectangle 116"/>
          <p:cNvSpPr/>
          <p:nvPr/>
        </p:nvSpPr>
        <p:spPr>
          <a:xfrm>
            <a:off x="2990088" y="3264408"/>
            <a:ext cx="3977639" cy="457200"/>
          </a:xfrm>
          <a:prstGeom prst="roundRect">
            <a:avLst>
              <a:gd name="adj" fmla="val 12000"/>
            </a:avLst>
          </a:prstGeom>
          <a:solidFill>
            <a:srgbClr val="FFFFFF"/>
          </a:solidFill>
          <a:ln w="12700">
            <a:solidFill>
              <a:srgbClr val="E3E1EE"/>
            </a:solidFill>
          </a:ln>
        </p:spPr>
        <p:txBody>
          <a:bodyPr rtlCol="0" anchor="ctr" wrap="square" lIns="128016" rIns="128016" tIns="36576" bIns="36576">
            <a:noAutofit/>
          </a:bodyPr>
          <a:lstStyle/>
          <a:p>
            <a:pPr algn="l"/>
            <a:r>
              <a:rPr sz="1300" b="0" i="0">
                <a:solidFill>
                  <a:srgbClr val="63637E"/>
                </a:solidFill>
                <a:latin typeface="Calibri"/>
              </a:rPr>
              <a:t>Intents blended into a single query</a:t>
            </a:r>
          </a:p>
        </p:txBody>
      </p:sp>
      <p:sp>
        <p:nvSpPr>
          <p:cNvPr id="118" name="Rounded Rectangle 117"/>
          <p:cNvSpPr/>
          <p:nvPr/>
        </p:nvSpPr>
        <p:spPr>
          <a:xfrm>
            <a:off x="7059168" y="3264408"/>
            <a:ext cx="4297680" cy="457200"/>
          </a:xfrm>
          <a:prstGeom prst="roundRect">
            <a:avLst>
              <a:gd name="adj" fmla="val 12000"/>
            </a:avLst>
          </a:prstGeom>
          <a:solidFill>
            <a:srgbClr val="F4F1FC"/>
          </a:solidFill>
          <a:ln>
            <a:noFill/>
          </a:ln>
        </p:spPr>
        <p:txBody>
          <a:bodyPr rtlCol="0" anchor="ctr" wrap="square" lIns="128016" rIns="128016" tIns="36576" bIns="36576">
            <a:noAutofit/>
          </a:bodyPr>
          <a:lstStyle/>
          <a:p>
            <a:pPr algn="l"/>
            <a:r>
              <a:rPr sz="1300" b="0" i="0">
                <a:solidFill>
                  <a:srgbClr val="14142B"/>
                </a:solidFill>
                <a:latin typeface="Calibri"/>
              </a:rPr>
              <a:t>Decomposed, retrieved in parallel, fused</a:t>
            </a:r>
          </a:p>
        </p:txBody>
      </p:sp>
      <p:sp>
        <p:nvSpPr>
          <p:cNvPr id="119" name="TextBox 118"/>
          <p:cNvSpPr txBox="1"/>
          <p:nvPr/>
        </p:nvSpPr>
        <p:spPr>
          <a:xfrm>
            <a:off x="841248" y="3771900"/>
            <a:ext cx="2057400" cy="457200"/>
          </a:xfrm>
          <a:prstGeom prst="rect">
            <a:avLst/>
          </a:prstGeom>
          <a:noFill/>
        </p:spPr>
        <p:txBody>
          <a:bodyPr wrap="square" lIns="0" rIns="0" tIns="0" bIns="0" anchor="ctr">
            <a:noAutofit/>
          </a:bodyPr>
          <a:lstStyle/>
          <a:p>
            <a:pPr algn="l"/>
            <a:r>
              <a:rPr sz="1300" b="1" i="0">
                <a:solidFill>
                  <a:srgbClr val="14142B"/>
                </a:solidFill>
                <a:latin typeface="Calibri"/>
              </a:rPr>
              <a:t>Late-arriving details</a:t>
            </a:r>
          </a:p>
        </p:txBody>
      </p:sp>
      <p:sp>
        <p:nvSpPr>
          <p:cNvPr id="120" name="Rounded Rectangle 119"/>
          <p:cNvSpPr/>
          <p:nvPr/>
        </p:nvSpPr>
        <p:spPr>
          <a:xfrm>
            <a:off x="2990088" y="3771900"/>
            <a:ext cx="3977639" cy="457200"/>
          </a:xfrm>
          <a:prstGeom prst="roundRect">
            <a:avLst>
              <a:gd name="adj" fmla="val 12000"/>
            </a:avLst>
          </a:prstGeom>
          <a:solidFill>
            <a:srgbClr val="FFFFFF"/>
          </a:solidFill>
          <a:ln w="12700">
            <a:solidFill>
              <a:srgbClr val="E3E1EE"/>
            </a:solidFill>
          </a:ln>
        </p:spPr>
        <p:txBody>
          <a:bodyPr rtlCol="0" anchor="ctr" wrap="square" lIns="128016" rIns="128016" tIns="36576" bIns="36576">
            <a:noAutofit/>
          </a:bodyPr>
          <a:lstStyle/>
          <a:p>
            <a:pPr algn="l"/>
            <a:r>
              <a:rPr sz="1300" b="0" i="0">
                <a:solidFill>
                  <a:srgbClr val="63637E"/>
                </a:solidFill>
                <a:latin typeface="Calibri"/>
              </a:rPr>
              <a:t>Usually a fresh query over the whole context</a:t>
            </a:r>
          </a:p>
        </p:txBody>
      </p:sp>
      <p:sp>
        <p:nvSpPr>
          <p:cNvPr id="121" name="Rounded Rectangle 120"/>
          <p:cNvSpPr/>
          <p:nvPr/>
        </p:nvSpPr>
        <p:spPr>
          <a:xfrm>
            <a:off x="7059168" y="3771900"/>
            <a:ext cx="4297680" cy="457200"/>
          </a:xfrm>
          <a:prstGeom prst="roundRect">
            <a:avLst>
              <a:gd name="adj" fmla="val 12000"/>
            </a:avLst>
          </a:prstGeom>
          <a:solidFill>
            <a:srgbClr val="F4F1FC"/>
          </a:solidFill>
          <a:ln>
            <a:noFill/>
          </a:ln>
        </p:spPr>
        <p:txBody>
          <a:bodyPr rtlCol="0" anchor="ctr" wrap="square" lIns="128016" rIns="128016" tIns="36576" bIns="36576">
            <a:noAutofit/>
          </a:bodyPr>
          <a:lstStyle/>
          <a:p>
            <a:pPr algn="l"/>
            <a:r>
              <a:rPr sz="1300" b="0" i="0">
                <a:solidFill>
                  <a:srgbClr val="14142B"/>
                </a:solidFill>
                <a:latin typeface="Calibri"/>
              </a:rPr>
              <a:t>Delta-only retrieval; answer v1 → v2</a:t>
            </a:r>
          </a:p>
        </p:txBody>
      </p:sp>
      <p:sp>
        <p:nvSpPr>
          <p:cNvPr id="122" name="TextBox 121"/>
          <p:cNvSpPr txBox="1"/>
          <p:nvPr/>
        </p:nvSpPr>
        <p:spPr>
          <a:xfrm>
            <a:off x="841248" y="4279392"/>
            <a:ext cx="2057400" cy="457200"/>
          </a:xfrm>
          <a:prstGeom prst="rect">
            <a:avLst/>
          </a:prstGeom>
          <a:noFill/>
        </p:spPr>
        <p:txBody>
          <a:bodyPr wrap="square" lIns="0" rIns="0" tIns="0" bIns="0" anchor="ctr">
            <a:noAutofit/>
          </a:bodyPr>
          <a:lstStyle/>
          <a:p>
            <a:pPr algn="l"/>
            <a:r>
              <a:rPr sz="1300" b="1" i="0">
                <a:solidFill>
                  <a:srgbClr val="14142B"/>
                </a:solidFill>
                <a:latin typeface="Calibri"/>
              </a:rPr>
              <a:t>Unnecessary retrieval</a:t>
            </a:r>
          </a:p>
        </p:txBody>
      </p:sp>
      <p:sp>
        <p:nvSpPr>
          <p:cNvPr id="123" name="Rounded Rectangle 122"/>
          <p:cNvSpPr/>
          <p:nvPr/>
        </p:nvSpPr>
        <p:spPr>
          <a:xfrm>
            <a:off x="2990088" y="4279392"/>
            <a:ext cx="3977639" cy="457200"/>
          </a:xfrm>
          <a:prstGeom prst="roundRect">
            <a:avLst>
              <a:gd name="adj" fmla="val 12000"/>
            </a:avLst>
          </a:prstGeom>
          <a:solidFill>
            <a:srgbClr val="FFFFFF"/>
          </a:solidFill>
          <a:ln w="12700">
            <a:solidFill>
              <a:srgbClr val="E3E1EE"/>
            </a:solidFill>
          </a:ln>
        </p:spPr>
        <p:txBody>
          <a:bodyPr rtlCol="0" anchor="ctr" wrap="square" lIns="128016" rIns="128016" tIns="36576" bIns="36576">
            <a:noAutofit/>
          </a:bodyPr>
          <a:lstStyle/>
          <a:p>
            <a:pPr algn="l"/>
            <a:r>
              <a:rPr sz="1300" b="0" i="0">
                <a:solidFill>
                  <a:srgbClr val="63637E"/>
                </a:solidFill>
                <a:latin typeface="Calibri"/>
              </a:rPr>
              <a:t>Every turn searches the corpus</a:t>
            </a:r>
          </a:p>
        </p:txBody>
      </p:sp>
      <p:sp>
        <p:nvSpPr>
          <p:cNvPr id="124" name="Rounded Rectangle 123"/>
          <p:cNvSpPr/>
          <p:nvPr/>
        </p:nvSpPr>
        <p:spPr>
          <a:xfrm>
            <a:off x="7059168" y="4279392"/>
            <a:ext cx="4297680" cy="457200"/>
          </a:xfrm>
          <a:prstGeom prst="roundRect">
            <a:avLst>
              <a:gd name="adj" fmla="val 12000"/>
            </a:avLst>
          </a:prstGeom>
          <a:solidFill>
            <a:srgbClr val="F4F1FC"/>
          </a:solidFill>
          <a:ln>
            <a:noFill/>
          </a:ln>
        </p:spPr>
        <p:txBody>
          <a:bodyPr rtlCol="0" anchor="ctr" wrap="square" lIns="128016" rIns="128016" tIns="36576" bIns="36576">
            <a:noAutofit/>
          </a:bodyPr>
          <a:lstStyle/>
          <a:p>
            <a:pPr algn="l"/>
            <a:r>
              <a:rPr sz="1300" b="0" i="0">
                <a:solidFill>
                  <a:srgbClr val="14142B"/>
                </a:solidFill>
                <a:latin typeface="Calibri"/>
              </a:rPr>
              <a:t>Presentation / chit-chat turns → SUPPRESS</a:t>
            </a:r>
          </a:p>
        </p:txBody>
      </p:sp>
      <p:sp>
        <p:nvSpPr>
          <p:cNvPr id="125" name="TextBox 124"/>
          <p:cNvSpPr txBox="1"/>
          <p:nvPr/>
        </p:nvSpPr>
        <p:spPr>
          <a:xfrm>
            <a:off x="841248" y="4786884"/>
            <a:ext cx="2057400" cy="457200"/>
          </a:xfrm>
          <a:prstGeom prst="rect">
            <a:avLst/>
          </a:prstGeom>
          <a:noFill/>
        </p:spPr>
        <p:txBody>
          <a:bodyPr wrap="square" lIns="0" rIns="0" tIns="0" bIns="0" anchor="ctr">
            <a:noAutofit/>
          </a:bodyPr>
          <a:lstStyle/>
          <a:p>
            <a:pPr algn="l"/>
            <a:r>
              <a:rPr sz="1300" b="1" i="0">
                <a:solidFill>
                  <a:srgbClr val="14142B"/>
                </a:solidFill>
                <a:latin typeface="Calibri"/>
              </a:rPr>
              <a:t>Session refinement</a:t>
            </a:r>
          </a:p>
        </p:txBody>
      </p:sp>
      <p:sp>
        <p:nvSpPr>
          <p:cNvPr id="126" name="Rounded Rectangle 125"/>
          <p:cNvSpPr/>
          <p:nvPr/>
        </p:nvSpPr>
        <p:spPr>
          <a:xfrm>
            <a:off x="2990088" y="4786884"/>
            <a:ext cx="3977639" cy="457200"/>
          </a:xfrm>
          <a:prstGeom prst="roundRect">
            <a:avLst>
              <a:gd name="adj" fmla="val 12000"/>
            </a:avLst>
          </a:prstGeom>
          <a:solidFill>
            <a:srgbClr val="FFFFFF"/>
          </a:solidFill>
          <a:ln w="12700">
            <a:solidFill>
              <a:srgbClr val="E3E1EE"/>
            </a:solidFill>
          </a:ln>
        </p:spPr>
        <p:txBody>
          <a:bodyPr rtlCol="0" anchor="ctr" wrap="square" lIns="128016" rIns="128016" tIns="36576" bIns="36576">
            <a:noAutofit/>
          </a:bodyPr>
          <a:lstStyle/>
          <a:p>
            <a:pPr algn="l"/>
            <a:r>
              <a:rPr sz="1300" b="0" i="0">
                <a:solidFill>
                  <a:srgbClr val="63637E"/>
                </a:solidFill>
                <a:latin typeface="Calibri"/>
              </a:rPr>
              <a:t>Little answer state kept between turns</a:t>
            </a:r>
          </a:p>
        </p:txBody>
      </p:sp>
      <p:sp>
        <p:nvSpPr>
          <p:cNvPr id="127" name="Rounded Rectangle 126"/>
          <p:cNvSpPr/>
          <p:nvPr/>
        </p:nvSpPr>
        <p:spPr>
          <a:xfrm>
            <a:off x="7059168" y="4786884"/>
            <a:ext cx="4297680" cy="457200"/>
          </a:xfrm>
          <a:prstGeom prst="roundRect">
            <a:avLst>
              <a:gd name="adj" fmla="val 12000"/>
            </a:avLst>
          </a:prstGeom>
          <a:solidFill>
            <a:srgbClr val="F4F1FC"/>
          </a:solidFill>
          <a:ln>
            <a:noFill/>
          </a:ln>
        </p:spPr>
        <p:txBody>
          <a:bodyPr rtlCol="0" anchor="ctr" wrap="square" lIns="128016" rIns="128016" tIns="36576" bIns="36576">
            <a:noAutofit/>
          </a:bodyPr>
          <a:lstStyle/>
          <a:p>
            <a:pPr algn="l"/>
            <a:r>
              <a:rPr sz="1300" b="0" i="0">
                <a:solidFill>
                  <a:srgbClr val="14142B"/>
                </a:solidFill>
                <a:latin typeface="Calibri"/>
              </a:rPr>
              <a:t>Session memory keeps claims, citations, sub-queries</a:t>
            </a:r>
          </a:p>
        </p:txBody>
      </p:sp>
      <p:sp>
        <p:nvSpPr>
          <p:cNvPr id="128" name="TextBox 127"/>
          <p:cNvSpPr txBox="1"/>
          <p:nvPr/>
        </p:nvSpPr>
        <p:spPr>
          <a:xfrm>
            <a:off x="841248" y="5294376"/>
            <a:ext cx="2057400" cy="457200"/>
          </a:xfrm>
          <a:prstGeom prst="rect">
            <a:avLst/>
          </a:prstGeom>
          <a:noFill/>
        </p:spPr>
        <p:txBody>
          <a:bodyPr wrap="square" lIns="0" rIns="0" tIns="0" bIns="0" anchor="ctr">
            <a:noAutofit/>
          </a:bodyPr>
          <a:lstStyle/>
          <a:p>
            <a:pPr algn="l"/>
            <a:r>
              <a:rPr sz="1300" b="1" i="0">
                <a:solidFill>
                  <a:srgbClr val="14142B"/>
                </a:solidFill>
                <a:latin typeface="Calibri"/>
              </a:rPr>
              <a:t>Grounding</a:t>
            </a:r>
          </a:p>
        </p:txBody>
      </p:sp>
      <p:sp>
        <p:nvSpPr>
          <p:cNvPr id="129" name="Rounded Rectangle 128"/>
          <p:cNvSpPr/>
          <p:nvPr/>
        </p:nvSpPr>
        <p:spPr>
          <a:xfrm>
            <a:off x="2990088" y="5294376"/>
            <a:ext cx="3977639" cy="457200"/>
          </a:xfrm>
          <a:prstGeom prst="roundRect">
            <a:avLst>
              <a:gd name="adj" fmla="val 12000"/>
            </a:avLst>
          </a:prstGeom>
          <a:solidFill>
            <a:srgbClr val="FFFFFF"/>
          </a:solidFill>
          <a:ln w="12700">
            <a:solidFill>
              <a:srgbClr val="E3E1EE"/>
            </a:solidFill>
          </a:ln>
        </p:spPr>
        <p:txBody>
          <a:bodyPr rtlCol="0" anchor="ctr" wrap="square" lIns="128016" rIns="128016" tIns="36576" bIns="36576">
            <a:noAutofit/>
          </a:bodyPr>
          <a:lstStyle/>
          <a:p>
            <a:pPr algn="l"/>
            <a:r>
              <a:rPr sz="1300" b="0" i="0">
                <a:solidFill>
                  <a:srgbClr val="63637E"/>
                </a:solidFill>
                <a:latin typeface="Calibri"/>
              </a:rPr>
              <a:t>Citations are often best-effort</a:t>
            </a:r>
          </a:p>
        </p:txBody>
      </p:sp>
      <p:sp>
        <p:nvSpPr>
          <p:cNvPr id="130" name="Rounded Rectangle 129"/>
          <p:cNvSpPr/>
          <p:nvPr/>
        </p:nvSpPr>
        <p:spPr>
          <a:xfrm>
            <a:off x="7059168" y="5294376"/>
            <a:ext cx="4297680" cy="457200"/>
          </a:xfrm>
          <a:prstGeom prst="roundRect">
            <a:avLst>
              <a:gd name="adj" fmla="val 12000"/>
            </a:avLst>
          </a:prstGeom>
          <a:solidFill>
            <a:srgbClr val="F4F1FC"/>
          </a:solidFill>
          <a:ln>
            <a:noFill/>
          </a:ln>
        </p:spPr>
        <p:txBody>
          <a:bodyPr rtlCol="0" anchor="ctr" wrap="square" lIns="128016" rIns="128016" tIns="36576" bIns="36576">
            <a:noAutofit/>
          </a:bodyPr>
          <a:lstStyle/>
          <a:p>
            <a:pPr algn="l"/>
            <a:r>
              <a:rPr sz="1300" b="0" i="0">
                <a:solidFill>
                  <a:srgbClr val="14142B"/>
                </a:solidFill>
                <a:latin typeface="Calibri"/>
              </a:rPr>
              <a:t>Every claim validated; calibrated abstention</a:t>
            </a:r>
          </a:p>
        </p:txBody>
      </p:sp>
      <p:sp>
        <p:nvSpPr>
          <p:cNvPr id="131" name="TextBox 130"/>
          <p:cNvSpPr txBox="1"/>
          <p:nvPr/>
        </p:nvSpPr>
        <p:spPr>
          <a:xfrm>
            <a:off x="841248" y="5788152"/>
            <a:ext cx="10515600" cy="274320"/>
          </a:xfrm>
          <a:prstGeom prst="rect">
            <a:avLst/>
          </a:prstGeom>
          <a:noFill/>
        </p:spPr>
        <p:txBody>
          <a:bodyPr wrap="square" lIns="0" rIns="0" tIns="0" bIns="0" anchor="t">
            <a:noAutofit/>
          </a:bodyPr>
          <a:lstStyle/>
          <a:p>
            <a:pPr algn="l"/>
            <a:r>
              <a:rPr sz="1200" b="1" i="0">
                <a:solidFill>
                  <a:srgbClr val="14142B"/>
                </a:solidFill>
                <a:latin typeface="Calibri"/>
              </a:rPr>
              <a:t>Measured on our conventional baseline:  </a:t>
            </a:r>
            <a:r>
              <a:rPr sz="1200" b="0" i="0">
                <a:solidFill>
                  <a:srgbClr val="63637E"/>
                </a:solidFill>
                <a:latin typeface="Calibri"/>
              </a:rPr>
              <a:t>early retrieval 0%  ·  multi-intent 0%  ·  8 searches on 8 no-search turns  ·  refinement continuity 0%</a:t>
            </a:r>
          </a:p>
        </p:txBody>
      </p:sp>
      <p:sp>
        <p:nvSpPr>
          <p:cNvPr id="132" name="TextBox 131"/>
          <p:cNvSpPr txBox="1"/>
          <p:nvPr/>
        </p:nvSpPr>
        <p:spPr>
          <a:xfrm>
            <a:off x="841248" y="6089904"/>
            <a:ext cx="10515600" cy="237744"/>
          </a:xfrm>
          <a:prstGeom prst="rect">
            <a:avLst/>
          </a:prstGeom>
          <a:noFill/>
        </p:spPr>
        <p:txBody>
          <a:bodyPr wrap="square" lIns="0" rIns="0" tIns="0" bIns="0" anchor="t">
            <a:noAutofit/>
          </a:bodyPr>
          <a:lstStyle/>
          <a:p>
            <a:pPr algn="l"/>
            <a:r>
              <a:rPr sz="950" b="0" i="1">
                <a:solidFill>
                  <a:srgbClr val="63637E"/>
                </a:solidFill>
                <a:latin typeface="Calibri"/>
              </a:rPr>
              <a:t>Development benchmark · 16-document synthetic corpus · held-out split, 63 cases / 77 turns · written by the system's author; not an official Samsung evaluation</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2" name="Shape 112"/>
        <p:cNvGrpSpPr/>
        <p:nvPr/>
      </p:nvGrpSpPr>
      <p:grpSpPr>
        <a:xfrm>
          <a:off x="0" y="0"/>
          <a:ext cx="0" cy="0"/>
          <a:chOff x="0" y="0"/>
          <a:chExt cx="0" cy="0"/>
        </a:xfrm>
      </p:grpSpPr>
      <p:sp>
        <p:nvSpPr>
          <p:cNvPr id="113" name="Google Shape;113;p4"/>
          <p:cNvSpPr txBox="1"/>
          <p:nvPr>
            <p:ph type="title"/>
          </p:nvPr>
        </p:nvSpPr>
        <p:spPr>
          <a:xfrm>
            <a:off x="909917" y="266513"/>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Our Solution</a:t>
            </a:r>
            <a:endParaRPr/>
          </a:p>
        </p:txBody>
      </p:sp>
      <p:sp>
        <p:nvSpPr>
          <p:cNvPr id="114" name="Rounded Rectangle 113"/>
          <p:cNvSpPr/>
          <p:nvPr/>
        </p:nvSpPr>
        <p:spPr>
          <a:xfrm>
            <a:off x="841248" y="1783080"/>
            <a:ext cx="1499616" cy="1737360"/>
          </a:xfrm>
          <a:prstGeom prst="roundRect">
            <a:avLst>
              <a:gd name="adj" fmla="val 7317"/>
            </a:avLst>
          </a:prstGeom>
          <a:solidFill>
            <a:srgbClr val="F4F1FC"/>
          </a:solidFill>
          <a:ln>
            <a:noFill/>
          </a:ln>
        </p:spPr>
        <p:txBody>
          <a:bodyPr rtlCol="0" anchor="ctr"/>
          <a:lstStyle/>
          <a:p>
            <a:pPr algn="ctr"/>
          </a:p>
        </p:txBody>
      </p:sp>
      <p:sp>
        <p:nvSpPr>
          <p:cNvPr id="115" name="TextBox 114"/>
          <p:cNvSpPr txBox="1"/>
          <p:nvPr/>
        </p:nvSpPr>
        <p:spPr>
          <a:xfrm>
            <a:off x="969264" y="1911095"/>
            <a:ext cx="1243584" cy="228600"/>
          </a:xfrm>
          <a:prstGeom prst="rect">
            <a:avLst/>
          </a:prstGeom>
          <a:noFill/>
        </p:spPr>
        <p:txBody>
          <a:bodyPr wrap="square" lIns="0" rIns="0" tIns="0" bIns="0" anchor="t">
            <a:noAutofit/>
          </a:bodyPr>
          <a:lstStyle/>
          <a:p>
            <a:pPr algn="l"/>
            <a:r>
              <a:rPr sz="1100" b="1" i="0" spc="100">
                <a:solidFill>
                  <a:srgbClr val="6D28D9"/>
                </a:solidFill>
                <a:latin typeface="Calibri"/>
              </a:rPr>
              <a:t>01</a:t>
            </a:r>
          </a:p>
        </p:txBody>
      </p:sp>
      <p:sp>
        <p:nvSpPr>
          <p:cNvPr id="116" name="TextBox 115"/>
          <p:cNvSpPr txBox="1"/>
          <p:nvPr/>
        </p:nvSpPr>
        <p:spPr>
          <a:xfrm>
            <a:off x="969264" y="2167128"/>
            <a:ext cx="1243584" cy="566928"/>
          </a:xfrm>
          <a:prstGeom prst="rect">
            <a:avLst/>
          </a:prstGeom>
          <a:noFill/>
        </p:spPr>
        <p:txBody>
          <a:bodyPr wrap="square" lIns="0" rIns="0" tIns="0" bIns="0" anchor="t">
            <a:noAutofit/>
          </a:bodyPr>
          <a:lstStyle/>
          <a:p>
            <a:pPr algn="l">
              <a:lnSpc>
                <a:spcPct val="95000"/>
              </a:lnSpc>
            </a:pPr>
            <a:r>
              <a:rPr sz="1400" b="1" i="0">
                <a:solidFill>
                  <a:srgbClr val="14142B"/>
                </a:solidFill>
                <a:latin typeface="Calibri"/>
              </a:rPr>
              <a:t>Incremental transcript</a:t>
            </a:r>
          </a:p>
        </p:txBody>
      </p:sp>
      <p:sp>
        <p:nvSpPr>
          <p:cNvPr id="117" name="TextBox 116"/>
          <p:cNvSpPr txBox="1"/>
          <p:nvPr/>
        </p:nvSpPr>
        <p:spPr>
          <a:xfrm>
            <a:off x="969264" y="2770632"/>
            <a:ext cx="1243584" cy="685800"/>
          </a:xfrm>
          <a:prstGeom prst="rect">
            <a:avLst/>
          </a:prstGeom>
          <a:noFill/>
        </p:spPr>
        <p:txBody>
          <a:bodyPr wrap="square" lIns="0" rIns="0" tIns="0" bIns="0" anchor="t">
            <a:noAutofit/>
          </a:bodyPr>
          <a:lstStyle/>
          <a:p>
            <a:pPr algn="l"/>
            <a:r>
              <a:rPr sz="1100" b="0" i="0">
                <a:solidFill>
                  <a:srgbClr val="63637E"/>
                </a:solidFill>
                <a:latin typeface="Calibri"/>
              </a:rPr>
              <a:t>chunks arrive while the user is still speaking</a:t>
            </a:r>
          </a:p>
        </p:txBody>
      </p:sp>
      <p:cxnSp>
        <p:nvCxnSpPr>
          <p:cNvPr id="118" name="Connector 117"/>
          <p:cNvCxnSpPr/>
          <p:nvPr/>
        </p:nvCxnSpPr>
        <p:spPr>
          <a:xfrm>
            <a:off x="2386584" y="2651760"/>
            <a:ext cx="212140" cy="0"/>
          </a:xfrm>
          <a:prstGeom prst="line">
            <a:avLst/>
          </a:prstGeom>
          <a:ln w="22225">
            <a:solidFill>
              <a:srgbClr val="6D28D9"/>
            </a:solidFill>
            <a:tailEnd type="triangle" w="med" len="med"/>
          </a:ln>
        </p:spPr>
      </p:cxnSp>
      <p:sp>
        <p:nvSpPr>
          <p:cNvPr id="119" name="Rounded Rectangle 118"/>
          <p:cNvSpPr/>
          <p:nvPr/>
        </p:nvSpPr>
        <p:spPr>
          <a:xfrm>
            <a:off x="2644444" y="1783080"/>
            <a:ext cx="1499616" cy="1737360"/>
          </a:xfrm>
          <a:prstGeom prst="roundRect">
            <a:avLst>
              <a:gd name="adj" fmla="val 7317"/>
            </a:avLst>
          </a:prstGeom>
          <a:solidFill>
            <a:srgbClr val="F4F1FC"/>
          </a:solidFill>
          <a:ln>
            <a:noFill/>
          </a:ln>
        </p:spPr>
        <p:txBody>
          <a:bodyPr rtlCol="0" anchor="ctr"/>
          <a:lstStyle/>
          <a:p>
            <a:pPr algn="ctr"/>
          </a:p>
        </p:txBody>
      </p:sp>
      <p:sp>
        <p:nvSpPr>
          <p:cNvPr id="120" name="TextBox 119"/>
          <p:cNvSpPr txBox="1"/>
          <p:nvPr/>
        </p:nvSpPr>
        <p:spPr>
          <a:xfrm>
            <a:off x="2772460" y="1911095"/>
            <a:ext cx="1243584" cy="228600"/>
          </a:xfrm>
          <a:prstGeom prst="rect">
            <a:avLst/>
          </a:prstGeom>
          <a:noFill/>
        </p:spPr>
        <p:txBody>
          <a:bodyPr wrap="square" lIns="0" rIns="0" tIns="0" bIns="0" anchor="t">
            <a:noAutofit/>
          </a:bodyPr>
          <a:lstStyle/>
          <a:p>
            <a:pPr algn="l"/>
            <a:r>
              <a:rPr sz="1100" b="1" i="0" spc="100">
                <a:solidFill>
                  <a:srgbClr val="6D28D9"/>
                </a:solidFill>
                <a:latin typeface="Calibri"/>
              </a:rPr>
              <a:t>02</a:t>
            </a:r>
          </a:p>
        </p:txBody>
      </p:sp>
      <p:sp>
        <p:nvSpPr>
          <p:cNvPr id="121" name="TextBox 120"/>
          <p:cNvSpPr txBox="1"/>
          <p:nvPr/>
        </p:nvSpPr>
        <p:spPr>
          <a:xfrm>
            <a:off x="2772460" y="2167128"/>
            <a:ext cx="1243584" cy="566928"/>
          </a:xfrm>
          <a:prstGeom prst="rect">
            <a:avLst/>
          </a:prstGeom>
          <a:noFill/>
        </p:spPr>
        <p:txBody>
          <a:bodyPr wrap="square" lIns="0" rIns="0" tIns="0" bIns="0" anchor="t">
            <a:noAutofit/>
          </a:bodyPr>
          <a:lstStyle/>
          <a:p>
            <a:pPr algn="l">
              <a:lnSpc>
                <a:spcPct val="95000"/>
              </a:lnSpc>
            </a:pPr>
            <a:r>
              <a:rPr sz="1400" b="1" i="0">
                <a:solidFill>
                  <a:srgbClr val="14142B"/>
                </a:solidFill>
                <a:latin typeface="Calibri"/>
              </a:rPr>
              <a:t>Retrieval controller</a:t>
            </a:r>
          </a:p>
        </p:txBody>
      </p:sp>
      <p:sp>
        <p:nvSpPr>
          <p:cNvPr id="122" name="Rounded Rectangle 121"/>
          <p:cNvSpPr/>
          <p:nvPr/>
        </p:nvSpPr>
        <p:spPr>
          <a:xfrm>
            <a:off x="2772460" y="2715768"/>
            <a:ext cx="1005840" cy="210312"/>
          </a:xfrm>
          <a:prstGeom prst="roundRect">
            <a:avLst>
              <a:gd name="adj" fmla="val 50000"/>
            </a:avLst>
          </a:prstGeom>
          <a:solidFill>
            <a:srgbClr val="B45309"/>
          </a:solidFill>
          <a:ln>
            <a:noFill/>
          </a:ln>
        </p:spPr>
        <p:txBody>
          <a:bodyPr rtlCol="0" anchor="ctr" wrap="square" lIns="36576" rIns="36576" tIns="36576" bIns="36576">
            <a:noAutofit/>
          </a:bodyPr>
          <a:lstStyle/>
          <a:p>
            <a:pPr algn="ctr"/>
            <a:r>
              <a:rPr sz="900" b="1" i="0">
                <a:solidFill>
                  <a:srgbClr val="FFFFFF"/>
                </a:solidFill>
                <a:latin typeface="Calibri"/>
              </a:rPr>
              <a:t>WAIT</a:t>
            </a:r>
          </a:p>
        </p:txBody>
      </p:sp>
      <p:sp>
        <p:nvSpPr>
          <p:cNvPr id="123" name="Rounded Rectangle 122"/>
          <p:cNvSpPr/>
          <p:nvPr/>
        </p:nvSpPr>
        <p:spPr>
          <a:xfrm>
            <a:off x="2772460" y="2971800"/>
            <a:ext cx="1005840" cy="210312"/>
          </a:xfrm>
          <a:prstGeom prst="roundRect">
            <a:avLst>
              <a:gd name="adj" fmla="val 50000"/>
            </a:avLst>
          </a:prstGeom>
          <a:solidFill>
            <a:srgbClr val="15803D"/>
          </a:solidFill>
          <a:ln>
            <a:noFill/>
          </a:ln>
        </p:spPr>
        <p:txBody>
          <a:bodyPr rtlCol="0" anchor="ctr" wrap="square" lIns="36576" rIns="36576" tIns="36576" bIns="36576">
            <a:noAutofit/>
          </a:bodyPr>
          <a:lstStyle/>
          <a:p>
            <a:pPr algn="ctr"/>
            <a:r>
              <a:rPr sz="900" b="1" i="0">
                <a:solidFill>
                  <a:srgbClr val="FFFFFF"/>
                </a:solidFill>
                <a:latin typeface="Calibri"/>
              </a:rPr>
              <a:t>RETRIEVE</a:t>
            </a:r>
          </a:p>
        </p:txBody>
      </p:sp>
      <p:sp>
        <p:nvSpPr>
          <p:cNvPr id="124" name="Rounded Rectangle 123"/>
          <p:cNvSpPr/>
          <p:nvPr/>
        </p:nvSpPr>
        <p:spPr>
          <a:xfrm>
            <a:off x="2772460" y="3227832"/>
            <a:ext cx="1005840" cy="210312"/>
          </a:xfrm>
          <a:prstGeom prst="roundRect">
            <a:avLst>
              <a:gd name="adj" fmla="val 50000"/>
            </a:avLst>
          </a:prstGeom>
          <a:solidFill>
            <a:srgbClr val="7C3AED"/>
          </a:solidFill>
          <a:ln>
            <a:noFill/>
          </a:ln>
        </p:spPr>
        <p:txBody>
          <a:bodyPr rtlCol="0" anchor="ctr" wrap="square" lIns="36576" rIns="36576" tIns="36576" bIns="36576">
            <a:noAutofit/>
          </a:bodyPr>
          <a:lstStyle/>
          <a:p>
            <a:pPr algn="ctr"/>
            <a:r>
              <a:rPr sz="900" b="1" i="0">
                <a:solidFill>
                  <a:srgbClr val="FFFFFF"/>
                </a:solidFill>
                <a:latin typeface="Calibri"/>
              </a:rPr>
              <a:t>SUPPRESS</a:t>
            </a:r>
          </a:p>
        </p:txBody>
      </p:sp>
      <p:cxnSp>
        <p:nvCxnSpPr>
          <p:cNvPr id="125" name="Connector 124"/>
          <p:cNvCxnSpPr/>
          <p:nvPr/>
        </p:nvCxnSpPr>
        <p:spPr>
          <a:xfrm>
            <a:off x="4189780" y="2651760"/>
            <a:ext cx="212141" cy="0"/>
          </a:xfrm>
          <a:prstGeom prst="line">
            <a:avLst/>
          </a:prstGeom>
          <a:ln w="22225">
            <a:solidFill>
              <a:srgbClr val="6D28D9"/>
            </a:solidFill>
            <a:tailEnd type="triangle" w="med" len="med"/>
          </a:ln>
        </p:spPr>
      </p:cxnSp>
      <p:sp>
        <p:nvSpPr>
          <p:cNvPr id="126" name="Rounded Rectangle 125"/>
          <p:cNvSpPr/>
          <p:nvPr/>
        </p:nvSpPr>
        <p:spPr>
          <a:xfrm>
            <a:off x="4447641" y="1783080"/>
            <a:ext cx="1499616" cy="1737360"/>
          </a:xfrm>
          <a:prstGeom prst="roundRect">
            <a:avLst>
              <a:gd name="adj" fmla="val 7317"/>
            </a:avLst>
          </a:prstGeom>
          <a:solidFill>
            <a:srgbClr val="F4F1FC"/>
          </a:solidFill>
          <a:ln>
            <a:noFill/>
          </a:ln>
        </p:spPr>
        <p:txBody>
          <a:bodyPr rtlCol="0" anchor="ctr"/>
          <a:lstStyle/>
          <a:p>
            <a:pPr algn="ctr"/>
          </a:p>
        </p:txBody>
      </p:sp>
      <p:sp>
        <p:nvSpPr>
          <p:cNvPr id="127" name="TextBox 126"/>
          <p:cNvSpPr txBox="1"/>
          <p:nvPr/>
        </p:nvSpPr>
        <p:spPr>
          <a:xfrm>
            <a:off x="4575657" y="1911095"/>
            <a:ext cx="1243584" cy="228600"/>
          </a:xfrm>
          <a:prstGeom prst="rect">
            <a:avLst/>
          </a:prstGeom>
          <a:noFill/>
        </p:spPr>
        <p:txBody>
          <a:bodyPr wrap="square" lIns="0" rIns="0" tIns="0" bIns="0" anchor="t">
            <a:noAutofit/>
          </a:bodyPr>
          <a:lstStyle/>
          <a:p>
            <a:pPr algn="l"/>
            <a:r>
              <a:rPr sz="1100" b="1" i="0" spc="100">
                <a:solidFill>
                  <a:srgbClr val="6D28D9"/>
                </a:solidFill>
                <a:latin typeface="Calibri"/>
              </a:rPr>
              <a:t>03</a:t>
            </a:r>
          </a:p>
        </p:txBody>
      </p:sp>
      <p:sp>
        <p:nvSpPr>
          <p:cNvPr id="128" name="TextBox 127"/>
          <p:cNvSpPr txBox="1"/>
          <p:nvPr/>
        </p:nvSpPr>
        <p:spPr>
          <a:xfrm>
            <a:off x="4575657" y="2167128"/>
            <a:ext cx="1243584" cy="566928"/>
          </a:xfrm>
          <a:prstGeom prst="rect">
            <a:avLst/>
          </a:prstGeom>
          <a:noFill/>
        </p:spPr>
        <p:txBody>
          <a:bodyPr wrap="square" lIns="0" rIns="0" tIns="0" bIns="0" anchor="t">
            <a:noAutofit/>
          </a:bodyPr>
          <a:lstStyle/>
          <a:p>
            <a:pPr algn="l">
              <a:lnSpc>
                <a:spcPct val="95000"/>
              </a:lnSpc>
            </a:pPr>
            <a:r>
              <a:rPr sz="1400" b="1" i="0">
                <a:solidFill>
                  <a:srgbClr val="14142B"/>
                </a:solidFill>
                <a:latin typeface="Calibri"/>
              </a:rPr>
              <a:t>Multi-intent decomposer</a:t>
            </a:r>
          </a:p>
        </p:txBody>
      </p:sp>
      <p:sp>
        <p:nvSpPr>
          <p:cNvPr id="129" name="TextBox 128"/>
          <p:cNvSpPr txBox="1"/>
          <p:nvPr/>
        </p:nvSpPr>
        <p:spPr>
          <a:xfrm>
            <a:off x="4575657" y="2770632"/>
            <a:ext cx="1243584" cy="685800"/>
          </a:xfrm>
          <a:prstGeom prst="rect">
            <a:avLst/>
          </a:prstGeom>
          <a:noFill/>
        </p:spPr>
        <p:txBody>
          <a:bodyPr wrap="square" lIns="0" rIns="0" tIns="0" bIns="0" anchor="t">
            <a:noAutofit/>
          </a:bodyPr>
          <a:lstStyle/>
          <a:p>
            <a:pPr algn="l"/>
            <a:r>
              <a:rPr sz="1100" b="0" i="0">
                <a:solidFill>
                  <a:srgbClr val="63637E"/>
                </a:solidFill>
                <a:latin typeface="Calibri"/>
              </a:rPr>
              <a:t>one utterance → N sub-queries</a:t>
            </a:r>
          </a:p>
        </p:txBody>
      </p:sp>
      <p:cxnSp>
        <p:nvCxnSpPr>
          <p:cNvPr id="130" name="Connector 129"/>
          <p:cNvCxnSpPr/>
          <p:nvPr/>
        </p:nvCxnSpPr>
        <p:spPr>
          <a:xfrm>
            <a:off x="5992977" y="2651760"/>
            <a:ext cx="212141" cy="0"/>
          </a:xfrm>
          <a:prstGeom prst="line">
            <a:avLst/>
          </a:prstGeom>
          <a:ln w="22225">
            <a:solidFill>
              <a:srgbClr val="6D28D9"/>
            </a:solidFill>
            <a:tailEnd type="triangle" w="med" len="med"/>
          </a:ln>
        </p:spPr>
      </p:cxnSp>
      <p:sp>
        <p:nvSpPr>
          <p:cNvPr id="131" name="Rounded Rectangle 130"/>
          <p:cNvSpPr/>
          <p:nvPr/>
        </p:nvSpPr>
        <p:spPr>
          <a:xfrm>
            <a:off x="6250838" y="1783080"/>
            <a:ext cx="1499616" cy="1737360"/>
          </a:xfrm>
          <a:prstGeom prst="roundRect">
            <a:avLst>
              <a:gd name="adj" fmla="val 7317"/>
            </a:avLst>
          </a:prstGeom>
          <a:solidFill>
            <a:srgbClr val="F4F1FC"/>
          </a:solidFill>
          <a:ln>
            <a:noFill/>
          </a:ln>
        </p:spPr>
        <p:txBody>
          <a:bodyPr rtlCol="0" anchor="ctr"/>
          <a:lstStyle/>
          <a:p>
            <a:pPr algn="ctr"/>
          </a:p>
        </p:txBody>
      </p:sp>
      <p:sp>
        <p:nvSpPr>
          <p:cNvPr id="132" name="TextBox 131"/>
          <p:cNvSpPr txBox="1"/>
          <p:nvPr/>
        </p:nvSpPr>
        <p:spPr>
          <a:xfrm>
            <a:off x="6378854" y="1911095"/>
            <a:ext cx="1243584" cy="228600"/>
          </a:xfrm>
          <a:prstGeom prst="rect">
            <a:avLst/>
          </a:prstGeom>
          <a:noFill/>
        </p:spPr>
        <p:txBody>
          <a:bodyPr wrap="square" lIns="0" rIns="0" tIns="0" bIns="0" anchor="t">
            <a:noAutofit/>
          </a:bodyPr>
          <a:lstStyle/>
          <a:p>
            <a:pPr algn="l"/>
            <a:r>
              <a:rPr sz="1100" b="1" i="0" spc="100">
                <a:solidFill>
                  <a:srgbClr val="6D28D9"/>
                </a:solidFill>
                <a:latin typeface="Calibri"/>
              </a:rPr>
              <a:t>04</a:t>
            </a:r>
          </a:p>
        </p:txBody>
      </p:sp>
      <p:sp>
        <p:nvSpPr>
          <p:cNvPr id="133" name="TextBox 132"/>
          <p:cNvSpPr txBox="1"/>
          <p:nvPr/>
        </p:nvSpPr>
        <p:spPr>
          <a:xfrm>
            <a:off x="6378854" y="2167128"/>
            <a:ext cx="1243584" cy="566928"/>
          </a:xfrm>
          <a:prstGeom prst="rect">
            <a:avLst/>
          </a:prstGeom>
          <a:noFill/>
        </p:spPr>
        <p:txBody>
          <a:bodyPr wrap="square" lIns="0" rIns="0" tIns="0" bIns="0" anchor="t">
            <a:noAutofit/>
          </a:bodyPr>
          <a:lstStyle/>
          <a:p>
            <a:pPr algn="l">
              <a:lnSpc>
                <a:spcPct val="95000"/>
              </a:lnSpc>
            </a:pPr>
            <a:r>
              <a:rPr sz="1400" b="1" i="0">
                <a:solidFill>
                  <a:srgbClr val="14142B"/>
                </a:solidFill>
                <a:latin typeface="Calibri"/>
              </a:rPr>
              <a:t>Parallel retrieval</a:t>
            </a:r>
          </a:p>
        </p:txBody>
      </p:sp>
      <p:sp>
        <p:nvSpPr>
          <p:cNvPr id="134" name="TextBox 133"/>
          <p:cNvSpPr txBox="1"/>
          <p:nvPr/>
        </p:nvSpPr>
        <p:spPr>
          <a:xfrm>
            <a:off x="6378854" y="2770632"/>
            <a:ext cx="1243584" cy="685800"/>
          </a:xfrm>
          <a:prstGeom prst="rect">
            <a:avLst/>
          </a:prstGeom>
          <a:noFill/>
        </p:spPr>
        <p:txBody>
          <a:bodyPr wrap="square" lIns="0" rIns="0" tIns="0" bIns="0" anchor="t">
            <a:noAutofit/>
          </a:bodyPr>
          <a:lstStyle/>
          <a:p>
            <a:pPr algn="l"/>
            <a:r>
              <a:rPr sz="1100" b="0" i="0">
                <a:solidFill>
                  <a:srgbClr val="63637E"/>
                </a:solidFill>
                <a:latin typeface="Calibri"/>
              </a:rPr>
              <a:t>dense + BM25 for every sub-query</a:t>
            </a:r>
          </a:p>
        </p:txBody>
      </p:sp>
      <p:cxnSp>
        <p:nvCxnSpPr>
          <p:cNvPr id="135" name="Connector 134"/>
          <p:cNvCxnSpPr/>
          <p:nvPr/>
        </p:nvCxnSpPr>
        <p:spPr>
          <a:xfrm>
            <a:off x="7796174" y="2651760"/>
            <a:ext cx="212141" cy="0"/>
          </a:xfrm>
          <a:prstGeom prst="line">
            <a:avLst/>
          </a:prstGeom>
          <a:ln w="22225">
            <a:solidFill>
              <a:srgbClr val="6D28D9"/>
            </a:solidFill>
            <a:tailEnd type="triangle" w="med" len="med"/>
          </a:ln>
        </p:spPr>
      </p:cxnSp>
      <p:sp>
        <p:nvSpPr>
          <p:cNvPr id="136" name="Rounded Rectangle 135"/>
          <p:cNvSpPr/>
          <p:nvPr/>
        </p:nvSpPr>
        <p:spPr>
          <a:xfrm>
            <a:off x="8054035" y="1783080"/>
            <a:ext cx="1499616" cy="1737360"/>
          </a:xfrm>
          <a:prstGeom prst="roundRect">
            <a:avLst>
              <a:gd name="adj" fmla="val 7317"/>
            </a:avLst>
          </a:prstGeom>
          <a:solidFill>
            <a:srgbClr val="F4F1FC"/>
          </a:solidFill>
          <a:ln>
            <a:noFill/>
          </a:ln>
        </p:spPr>
        <p:txBody>
          <a:bodyPr rtlCol="0" anchor="ctr"/>
          <a:lstStyle/>
          <a:p>
            <a:pPr algn="ctr"/>
          </a:p>
        </p:txBody>
      </p:sp>
      <p:sp>
        <p:nvSpPr>
          <p:cNvPr id="137" name="TextBox 136"/>
          <p:cNvSpPr txBox="1"/>
          <p:nvPr/>
        </p:nvSpPr>
        <p:spPr>
          <a:xfrm>
            <a:off x="8182051" y="1911095"/>
            <a:ext cx="1243584" cy="228600"/>
          </a:xfrm>
          <a:prstGeom prst="rect">
            <a:avLst/>
          </a:prstGeom>
          <a:noFill/>
        </p:spPr>
        <p:txBody>
          <a:bodyPr wrap="square" lIns="0" rIns="0" tIns="0" bIns="0" anchor="t">
            <a:noAutofit/>
          </a:bodyPr>
          <a:lstStyle/>
          <a:p>
            <a:pPr algn="l"/>
            <a:r>
              <a:rPr sz="1100" b="1" i="0" spc="100">
                <a:solidFill>
                  <a:srgbClr val="6D28D9"/>
                </a:solidFill>
                <a:latin typeface="Calibri"/>
              </a:rPr>
              <a:t>05</a:t>
            </a:r>
          </a:p>
        </p:txBody>
      </p:sp>
      <p:sp>
        <p:nvSpPr>
          <p:cNvPr id="138" name="TextBox 137"/>
          <p:cNvSpPr txBox="1"/>
          <p:nvPr/>
        </p:nvSpPr>
        <p:spPr>
          <a:xfrm>
            <a:off x="8182051" y="2167128"/>
            <a:ext cx="1243584" cy="566928"/>
          </a:xfrm>
          <a:prstGeom prst="rect">
            <a:avLst/>
          </a:prstGeom>
          <a:noFill/>
        </p:spPr>
        <p:txBody>
          <a:bodyPr wrap="square" lIns="0" rIns="0" tIns="0" bIns="0" anchor="t">
            <a:noAutofit/>
          </a:bodyPr>
          <a:lstStyle/>
          <a:p>
            <a:pPr algn="l">
              <a:lnSpc>
                <a:spcPct val="95000"/>
              </a:lnSpc>
            </a:pPr>
            <a:r>
              <a:rPr sz="1400" b="1" i="0">
                <a:solidFill>
                  <a:srgbClr val="14142B"/>
                </a:solidFill>
                <a:latin typeface="Calibri"/>
              </a:rPr>
              <a:t>Evidence fusion + reranking</a:t>
            </a:r>
          </a:p>
        </p:txBody>
      </p:sp>
      <p:sp>
        <p:nvSpPr>
          <p:cNvPr id="139" name="TextBox 138"/>
          <p:cNvSpPr txBox="1"/>
          <p:nvPr/>
        </p:nvSpPr>
        <p:spPr>
          <a:xfrm>
            <a:off x="8182051" y="2770632"/>
            <a:ext cx="1243584" cy="685800"/>
          </a:xfrm>
          <a:prstGeom prst="rect">
            <a:avLst/>
          </a:prstGeom>
          <a:noFill/>
        </p:spPr>
        <p:txBody>
          <a:bodyPr wrap="square" lIns="0" rIns="0" tIns="0" bIns="0" anchor="t">
            <a:noAutofit/>
          </a:bodyPr>
          <a:lstStyle/>
          <a:p>
            <a:pPr algn="l"/>
            <a:r>
              <a:rPr sz="1100" b="0" i="0">
                <a:solidFill>
                  <a:srgbClr val="63637E"/>
                </a:solidFill>
                <a:latin typeface="Calibri"/>
              </a:rPr>
              <a:t>RRF · dedup</a:t>
            </a:r>
          </a:p>
          <a:p>
            <a:pPr algn="l"/>
            <a:r>
              <a:rPr sz="1100" b="0" i="0">
                <a:solidFill>
                  <a:srgbClr val="63637E"/>
                </a:solidFill>
                <a:latin typeface="Calibri"/>
              </a:rPr>
              <a:t>cross-encoder rerank</a:t>
            </a:r>
          </a:p>
        </p:txBody>
      </p:sp>
      <p:cxnSp>
        <p:nvCxnSpPr>
          <p:cNvPr id="140" name="Connector 139"/>
          <p:cNvCxnSpPr/>
          <p:nvPr/>
        </p:nvCxnSpPr>
        <p:spPr>
          <a:xfrm>
            <a:off x="9599371" y="2651760"/>
            <a:ext cx="212141" cy="0"/>
          </a:xfrm>
          <a:prstGeom prst="line">
            <a:avLst/>
          </a:prstGeom>
          <a:ln w="22225">
            <a:solidFill>
              <a:srgbClr val="6D28D9"/>
            </a:solidFill>
            <a:tailEnd type="triangle" w="med" len="med"/>
          </a:ln>
        </p:spPr>
      </p:cxnSp>
      <p:sp>
        <p:nvSpPr>
          <p:cNvPr id="141" name="Rounded Rectangle 140"/>
          <p:cNvSpPr/>
          <p:nvPr/>
        </p:nvSpPr>
        <p:spPr>
          <a:xfrm>
            <a:off x="9857232" y="1783080"/>
            <a:ext cx="1499616" cy="1737360"/>
          </a:xfrm>
          <a:prstGeom prst="roundRect">
            <a:avLst>
              <a:gd name="adj" fmla="val 7317"/>
            </a:avLst>
          </a:prstGeom>
          <a:solidFill>
            <a:srgbClr val="6D28D9"/>
          </a:solidFill>
          <a:ln>
            <a:noFill/>
          </a:ln>
        </p:spPr>
        <p:txBody>
          <a:bodyPr rtlCol="0" anchor="ctr"/>
          <a:lstStyle/>
          <a:p>
            <a:pPr algn="ctr"/>
          </a:p>
        </p:txBody>
      </p:sp>
      <p:sp>
        <p:nvSpPr>
          <p:cNvPr id="142" name="TextBox 141"/>
          <p:cNvSpPr txBox="1"/>
          <p:nvPr/>
        </p:nvSpPr>
        <p:spPr>
          <a:xfrm>
            <a:off x="9985248" y="1911095"/>
            <a:ext cx="1243584" cy="228600"/>
          </a:xfrm>
          <a:prstGeom prst="rect">
            <a:avLst/>
          </a:prstGeom>
          <a:noFill/>
        </p:spPr>
        <p:txBody>
          <a:bodyPr wrap="square" lIns="0" rIns="0" tIns="0" bIns="0" anchor="t">
            <a:noAutofit/>
          </a:bodyPr>
          <a:lstStyle/>
          <a:p>
            <a:pPr algn="l"/>
            <a:r>
              <a:rPr sz="1100" b="1" i="0" spc="100">
                <a:solidFill>
                  <a:srgbClr val="D9D3F0"/>
                </a:solidFill>
                <a:latin typeface="Calibri"/>
              </a:rPr>
              <a:t>06</a:t>
            </a:r>
          </a:p>
        </p:txBody>
      </p:sp>
      <p:sp>
        <p:nvSpPr>
          <p:cNvPr id="143" name="TextBox 142"/>
          <p:cNvSpPr txBox="1"/>
          <p:nvPr/>
        </p:nvSpPr>
        <p:spPr>
          <a:xfrm>
            <a:off x="9985248" y="2167128"/>
            <a:ext cx="1243584" cy="566928"/>
          </a:xfrm>
          <a:prstGeom prst="rect">
            <a:avLst/>
          </a:prstGeom>
          <a:noFill/>
        </p:spPr>
        <p:txBody>
          <a:bodyPr wrap="square" lIns="0" rIns="0" tIns="0" bIns="0" anchor="t">
            <a:noAutofit/>
          </a:bodyPr>
          <a:lstStyle/>
          <a:p>
            <a:pPr algn="l">
              <a:lnSpc>
                <a:spcPct val="95000"/>
              </a:lnSpc>
            </a:pPr>
            <a:r>
              <a:rPr sz="1400" b="1" i="0">
                <a:solidFill>
                  <a:srgbClr val="FFFFFF"/>
                </a:solidFill>
                <a:latin typeface="Calibri"/>
              </a:rPr>
              <a:t>Grounded answer</a:t>
            </a:r>
          </a:p>
        </p:txBody>
      </p:sp>
      <p:sp>
        <p:nvSpPr>
          <p:cNvPr id="144" name="TextBox 143"/>
          <p:cNvSpPr txBox="1"/>
          <p:nvPr/>
        </p:nvSpPr>
        <p:spPr>
          <a:xfrm>
            <a:off x="9985248" y="2770632"/>
            <a:ext cx="1243584" cy="685800"/>
          </a:xfrm>
          <a:prstGeom prst="rect">
            <a:avLst/>
          </a:prstGeom>
          <a:noFill/>
        </p:spPr>
        <p:txBody>
          <a:bodyPr wrap="square" lIns="0" rIns="0" tIns="0" bIns="0" anchor="t">
            <a:noAutofit/>
          </a:bodyPr>
          <a:lstStyle/>
          <a:p>
            <a:pPr algn="l"/>
            <a:r>
              <a:rPr sz="1100" b="0" i="0">
                <a:solidFill>
                  <a:srgbClr val="D9D3F0"/>
                </a:solidFill>
                <a:latin typeface="Calibri"/>
              </a:rPr>
              <a:t>cited claims, validated; abstains when evidence is missing</a:t>
            </a:r>
          </a:p>
        </p:txBody>
      </p:sp>
      <p:sp>
        <p:nvSpPr>
          <p:cNvPr id="145" name="Rounded Rectangle 144"/>
          <p:cNvSpPr/>
          <p:nvPr/>
        </p:nvSpPr>
        <p:spPr>
          <a:xfrm>
            <a:off x="841248" y="3840480"/>
            <a:ext cx="10515600" cy="2103120"/>
          </a:xfrm>
          <a:prstGeom prst="roundRect">
            <a:avLst>
              <a:gd name="adj" fmla="val 6521"/>
            </a:avLst>
          </a:prstGeom>
          <a:solidFill>
            <a:srgbClr val="F4F1FC"/>
          </a:solidFill>
          <a:ln>
            <a:noFill/>
          </a:ln>
        </p:spPr>
        <p:txBody>
          <a:bodyPr rtlCol="0" anchor="ctr"/>
          <a:lstStyle/>
          <a:p>
            <a:pPr algn="ctr"/>
          </a:p>
        </p:txBody>
      </p:sp>
      <p:sp>
        <p:nvSpPr>
          <p:cNvPr id="146" name="TextBox 145"/>
          <p:cNvSpPr txBox="1"/>
          <p:nvPr/>
        </p:nvSpPr>
        <p:spPr>
          <a:xfrm>
            <a:off x="1115568" y="4069080"/>
            <a:ext cx="3657600" cy="256032"/>
          </a:xfrm>
          <a:prstGeom prst="rect">
            <a:avLst/>
          </a:prstGeom>
          <a:noFill/>
        </p:spPr>
        <p:txBody>
          <a:bodyPr wrap="square" lIns="0" rIns="0" tIns="0" bIns="0" anchor="t">
            <a:noAutofit/>
          </a:bodyPr>
          <a:lstStyle/>
          <a:p>
            <a:pPr algn="l"/>
            <a:r>
              <a:rPr sz="1100" b="1" i="0" spc="150">
                <a:solidFill>
                  <a:srgbClr val="6D28D9"/>
                </a:solidFill>
                <a:latin typeface="Calibri"/>
              </a:rPr>
              <a:t>KEY IDEA</a:t>
            </a:r>
          </a:p>
        </p:txBody>
      </p:sp>
      <p:sp>
        <p:nvSpPr>
          <p:cNvPr id="147" name="TextBox 146"/>
          <p:cNvSpPr txBox="1"/>
          <p:nvPr/>
        </p:nvSpPr>
        <p:spPr>
          <a:xfrm>
            <a:off x="1115568" y="4343400"/>
            <a:ext cx="3749039" cy="914400"/>
          </a:xfrm>
          <a:prstGeom prst="rect">
            <a:avLst/>
          </a:prstGeom>
          <a:noFill/>
        </p:spPr>
        <p:txBody>
          <a:bodyPr wrap="square" lIns="0" rIns="0" tIns="0" bIns="0" anchor="t">
            <a:noAutofit/>
          </a:bodyPr>
          <a:lstStyle/>
          <a:p>
            <a:pPr algn="l">
              <a:lnSpc>
                <a:spcPct val="95000"/>
              </a:lnSpc>
            </a:pPr>
            <a:r>
              <a:rPr sz="2400" b="1" i="0">
                <a:solidFill>
                  <a:srgbClr val="14142B"/>
                </a:solidFill>
                <a:latin typeface="Arial"/>
              </a:rPr>
              <a:t>Live retrieval before utterance end</a:t>
            </a:r>
          </a:p>
        </p:txBody>
      </p:sp>
      <p:sp>
        <p:nvSpPr>
          <p:cNvPr id="148" name="TextBox 147"/>
          <p:cNvSpPr txBox="1"/>
          <p:nvPr/>
        </p:nvSpPr>
        <p:spPr>
          <a:xfrm>
            <a:off x="1115568" y="5212080"/>
            <a:ext cx="3657600" cy="685800"/>
          </a:xfrm>
          <a:prstGeom prst="rect">
            <a:avLst/>
          </a:prstGeom>
          <a:noFill/>
        </p:spPr>
        <p:txBody>
          <a:bodyPr wrap="square" lIns="0" rIns="0" tIns="0" bIns="0" anchor="t">
            <a:noAutofit/>
          </a:bodyPr>
          <a:lstStyle/>
          <a:p>
            <a:pPr algn="l"/>
            <a:r>
              <a:rPr sz="1200" b="0" i="0">
                <a:solidFill>
                  <a:srgbClr val="63637E"/>
                </a:solidFill>
                <a:latin typeface="Calibri"/>
              </a:rPr>
              <a:t>Provisional retrieval and answer-sentence scoring run while the user is talking; results are reused when they stop.</a:t>
            </a:r>
          </a:p>
        </p:txBody>
      </p:sp>
      <p:sp>
        <p:nvSpPr>
          <p:cNvPr id="149" name="TextBox 148"/>
          <p:cNvSpPr txBox="1"/>
          <p:nvPr/>
        </p:nvSpPr>
        <p:spPr>
          <a:xfrm>
            <a:off x="4361688" y="4142232"/>
            <a:ext cx="868680" cy="219456"/>
          </a:xfrm>
          <a:prstGeom prst="rect">
            <a:avLst/>
          </a:prstGeom>
          <a:noFill/>
        </p:spPr>
        <p:txBody>
          <a:bodyPr wrap="square" lIns="0" rIns="0" tIns="0" bIns="0" anchor="t">
            <a:noAutofit/>
          </a:bodyPr>
          <a:lstStyle/>
          <a:p>
            <a:pPr algn="r"/>
            <a:r>
              <a:rPr sz="1000" b="0" i="0">
                <a:solidFill>
                  <a:srgbClr val="63637E"/>
                </a:solidFill>
                <a:latin typeface="Calibri"/>
              </a:rPr>
              <a:t>Speech</a:t>
            </a:r>
          </a:p>
        </p:txBody>
      </p:sp>
      <p:cxnSp>
        <p:nvCxnSpPr>
          <p:cNvPr id="150" name="Connector 149"/>
          <p:cNvCxnSpPr/>
          <p:nvPr/>
        </p:nvCxnSpPr>
        <p:spPr>
          <a:xfrm>
            <a:off x="5458968" y="4251960"/>
            <a:ext cx="5577840" cy="0"/>
          </a:xfrm>
          <a:prstGeom prst="line">
            <a:avLst/>
          </a:prstGeom>
          <a:ln w="9525">
            <a:solidFill>
              <a:srgbClr val="E3E1EE"/>
            </a:solidFill>
          </a:ln>
        </p:spPr>
      </p:cxnSp>
      <p:sp>
        <p:nvSpPr>
          <p:cNvPr id="151" name="TextBox 150"/>
          <p:cNvSpPr txBox="1"/>
          <p:nvPr/>
        </p:nvSpPr>
        <p:spPr>
          <a:xfrm>
            <a:off x="4361688" y="4462272"/>
            <a:ext cx="868680" cy="219456"/>
          </a:xfrm>
          <a:prstGeom prst="rect">
            <a:avLst/>
          </a:prstGeom>
          <a:noFill/>
        </p:spPr>
        <p:txBody>
          <a:bodyPr wrap="square" lIns="0" rIns="0" tIns="0" bIns="0" anchor="t">
            <a:noAutofit/>
          </a:bodyPr>
          <a:lstStyle/>
          <a:p>
            <a:pPr algn="r"/>
            <a:r>
              <a:rPr sz="1000" b="0" i="0">
                <a:solidFill>
                  <a:srgbClr val="63637E"/>
                </a:solidFill>
                <a:latin typeface="Calibri"/>
              </a:rPr>
              <a:t>Controller</a:t>
            </a:r>
          </a:p>
        </p:txBody>
      </p:sp>
      <p:cxnSp>
        <p:nvCxnSpPr>
          <p:cNvPr id="152" name="Connector 151"/>
          <p:cNvCxnSpPr/>
          <p:nvPr/>
        </p:nvCxnSpPr>
        <p:spPr>
          <a:xfrm>
            <a:off x="5458968" y="4572000"/>
            <a:ext cx="5577840" cy="0"/>
          </a:xfrm>
          <a:prstGeom prst="line">
            <a:avLst/>
          </a:prstGeom>
          <a:ln w="9525">
            <a:solidFill>
              <a:srgbClr val="E3E1EE"/>
            </a:solidFill>
          </a:ln>
        </p:spPr>
      </p:cxnSp>
      <p:sp>
        <p:nvSpPr>
          <p:cNvPr id="153" name="TextBox 152"/>
          <p:cNvSpPr txBox="1"/>
          <p:nvPr/>
        </p:nvSpPr>
        <p:spPr>
          <a:xfrm>
            <a:off x="4361688" y="4782312"/>
            <a:ext cx="868680" cy="219456"/>
          </a:xfrm>
          <a:prstGeom prst="rect">
            <a:avLst/>
          </a:prstGeom>
          <a:noFill/>
        </p:spPr>
        <p:txBody>
          <a:bodyPr wrap="square" lIns="0" rIns="0" tIns="0" bIns="0" anchor="t">
            <a:noAutofit/>
          </a:bodyPr>
          <a:lstStyle/>
          <a:p>
            <a:pPr algn="r"/>
            <a:r>
              <a:rPr sz="1000" b="0" i="0">
                <a:solidFill>
                  <a:srgbClr val="63637E"/>
                </a:solidFill>
                <a:latin typeface="Calibri"/>
              </a:rPr>
              <a:t>Retrieval</a:t>
            </a:r>
          </a:p>
        </p:txBody>
      </p:sp>
      <p:cxnSp>
        <p:nvCxnSpPr>
          <p:cNvPr id="154" name="Connector 153"/>
          <p:cNvCxnSpPr/>
          <p:nvPr/>
        </p:nvCxnSpPr>
        <p:spPr>
          <a:xfrm>
            <a:off x="5458968" y="4892040"/>
            <a:ext cx="5577840" cy="0"/>
          </a:xfrm>
          <a:prstGeom prst="line">
            <a:avLst/>
          </a:prstGeom>
          <a:ln w="9525">
            <a:solidFill>
              <a:srgbClr val="E3E1EE"/>
            </a:solidFill>
          </a:ln>
        </p:spPr>
      </p:cxnSp>
      <p:sp>
        <p:nvSpPr>
          <p:cNvPr id="155" name="TextBox 154"/>
          <p:cNvSpPr txBox="1"/>
          <p:nvPr/>
        </p:nvSpPr>
        <p:spPr>
          <a:xfrm>
            <a:off x="4361688" y="5102352"/>
            <a:ext cx="868680" cy="219456"/>
          </a:xfrm>
          <a:prstGeom prst="rect">
            <a:avLst/>
          </a:prstGeom>
          <a:noFill/>
        </p:spPr>
        <p:txBody>
          <a:bodyPr wrap="square" lIns="0" rIns="0" tIns="0" bIns="0" anchor="t">
            <a:noAutofit/>
          </a:bodyPr>
          <a:lstStyle/>
          <a:p>
            <a:pPr algn="r"/>
            <a:r>
              <a:rPr sz="1000" b="0" i="0">
                <a:solidFill>
                  <a:srgbClr val="63637E"/>
                </a:solidFill>
                <a:latin typeface="Calibri"/>
              </a:rPr>
              <a:t>Answer</a:t>
            </a:r>
          </a:p>
        </p:txBody>
      </p:sp>
      <p:cxnSp>
        <p:nvCxnSpPr>
          <p:cNvPr id="156" name="Connector 155"/>
          <p:cNvCxnSpPr/>
          <p:nvPr/>
        </p:nvCxnSpPr>
        <p:spPr>
          <a:xfrm>
            <a:off x="5458968" y="5212080"/>
            <a:ext cx="5577840" cy="0"/>
          </a:xfrm>
          <a:prstGeom prst="line">
            <a:avLst/>
          </a:prstGeom>
          <a:ln w="9525">
            <a:solidFill>
              <a:srgbClr val="E3E1EE"/>
            </a:solidFill>
          </a:ln>
        </p:spPr>
      </p:cxnSp>
      <p:sp>
        <p:nvSpPr>
          <p:cNvPr id="157" name="Rounded Rectangle 156"/>
          <p:cNvSpPr/>
          <p:nvPr/>
        </p:nvSpPr>
        <p:spPr>
          <a:xfrm>
            <a:off x="5477255" y="4178808"/>
            <a:ext cx="1822704" cy="146304"/>
          </a:xfrm>
          <a:prstGeom prst="roundRect">
            <a:avLst>
              <a:gd name="adj" fmla="val 25000"/>
            </a:avLst>
          </a:prstGeom>
          <a:solidFill>
            <a:srgbClr val="C9C3E6"/>
          </a:solidFill>
          <a:ln>
            <a:noFill/>
          </a:ln>
        </p:spPr>
        <p:txBody>
          <a:bodyPr rtlCol="0" anchor="ctr"/>
          <a:lstStyle/>
          <a:p>
            <a:pPr algn="ctr"/>
          </a:p>
        </p:txBody>
      </p:sp>
      <p:sp>
        <p:nvSpPr>
          <p:cNvPr id="158" name="Rounded Rectangle 157"/>
          <p:cNvSpPr/>
          <p:nvPr/>
        </p:nvSpPr>
        <p:spPr>
          <a:xfrm>
            <a:off x="7336536" y="4178808"/>
            <a:ext cx="1845944" cy="146304"/>
          </a:xfrm>
          <a:prstGeom prst="roundRect">
            <a:avLst>
              <a:gd name="adj" fmla="val 25000"/>
            </a:avLst>
          </a:prstGeom>
          <a:solidFill>
            <a:srgbClr val="C9C3E6"/>
          </a:solidFill>
          <a:ln>
            <a:noFill/>
          </a:ln>
        </p:spPr>
        <p:txBody>
          <a:bodyPr rtlCol="0" anchor="ctr"/>
          <a:lstStyle/>
          <a:p>
            <a:pPr algn="ctr"/>
          </a:p>
        </p:txBody>
      </p:sp>
      <p:sp>
        <p:nvSpPr>
          <p:cNvPr id="159" name="Rounded Rectangle 158"/>
          <p:cNvSpPr/>
          <p:nvPr/>
        </p:nvSpPr>
        <p:spPr>
          <a:xfrm>
            <a:off x="9219057" y="4178808"/>
            <a:ext cx="1125473" cy="146304"/>
          </a:xfrm>
          <a:prstGeom prst="roundRect">
            <a:avLst>
              <a:gd name="adj" fmla="val 25000"/>
            </a:avLst>
          </a:prstGeom>
          <a:solidFill>
            <a:srgbClr val="C9C3E6"/>
          </a:solidFill>
          <a:ln>
            <a:noFill/>
          </a:ln>
        </p:spPr>
        <p:txBody>
          <a:bodyPr rtlCol="0" anchor="ctr"/>
          <a:lstStyle/>
          <a:p>
            <a:pPr algn="ctr"/>
          </a:p>
        </p:txBody>
      </p:sp>
      <p:sp>
        <p:nvSpPr>
          <p:cNvPr id="160" name="Oval 159"/>
          <p:cNvSpPr/>
          <p:nvPr/>
        </p:nvSpPr>
        <p:spPr>
          <a:xfrm>
            <a:off x="5402084" y="4498848"/>
            <a:ext cx="146304" cy="146304"/>
          </a:xfrm>
          <a:prstGeom prst="ellipse">
            <a:avLst/>
          </a:prstGeom>
          <a:solidFill>
            <a:srgbClr val="B45309"/>
          </a:solidFill>
          <a:ln>
            <a:noFill/>
          </a:ln>
        </p:spPr>
        <p:txBody>
          <a:bodyPr rtlCol="0" anchor="ctr"/>
          <a:lstStyle/>
          <a:p>
            <a:pPr algn="ctr"/>
          </a:p>
        </p:txBody>
      </p:sp>
      <p:sp>
        <p:nvSpPr>
          <p:cNvPr id="161" name="Oval 160"/>
          <p:cNvSpPr/>
          <p:nvPr/>
        </p:nvSpPr>
        <p:spPr>
          <a:xfrm>
            <a:off x="7275309" y="4498848"/>
            <a:ext cx="146304" cy="146304"/>
          </a:xfrm>
          <a:prstGeom prst="ellipse">
            <a:avLst/>
          </a:prstGeom>
          <a:solidFill>
            <a:srgbClr val="15803D"/>
          </a:solidFill>
          <a:ln>
            <a:noFill/>
          </a:ln>
        </p:spPr>
        <p:txBody>
          <a:bodyPr rtlCol="0" anchor="ctr"/>
          <a:lstStyle/>
          <a:p>
            <a:pPr algn="ctr"/>
          </a:p>
        </p:txBody>
      </p:sp>
      <p:sp>
        <p:nvSpPr>
          <p:cNvPr id="162" name="Oval 161"/>
          <p:cNvSpPr/>
          <p:nvPr/>
        </p:nvSpPr>
        <p:spPr>
          <a:xfrm>
            <a:off x="9160154" y="4498848"/>
            <a:ext cx="146304" cy="146304"/>
          </a:xfrm>
          <a:prstGeom prst="ellipse">
            <a:avLst/>
          </a:prstGeom>
          <a:solidFill>
            <a:srgbClr val="15803D"/>
          </a:solidFill>
          <a:ln>
            <a:noFill/>
          </a:ln>
        </p:spPr>
        <p:txBody>
          <a:bodyPr rtlCol="0" anchor="ctr"/>
          <a:lstStyle/>
          <a:p>
            <a:pPr algn="ctr"/>
          </a:p>
        </p:txBody>
      </p:sp>
      <p:sp>
        <p:nvSpPr>
          <p:cNvPr id="163" name="Rectangle 162"/>
          <p:cNvSpPr/>
          <p:nvPr/>
        </p:nvSpPr>
        <p:spPr>
          <a:xfrm>
            <a:off x="7374026" y="4809744"/>
            <a:ext cx="209168" cy="164592"/>
          </a:xfrm>
          <a:prstGeom prst="rect">
            <a:avLst/>
          </a:prstGeom>
          <a:pattFill prst="wdUpDiag">
            <a:fgClr>
              <a:srgbClr val="15803D"/>
            </a:fgClr>
            <a:bgClr>
              <a:srgbClr val="E6F4EC"/>
            </a:bgClr>
          </a:pattFill>
          <a:ln>
            <a:noFill/>
          </a:ln>
        </p:spPr>
        <p:txBody>
          <a:bodyPr rtlCol="0" anchor="ctr"/>
          <a:lstStyle/>
          <a:p>
            <a:pPr algn="ctr"/>
          </a:p>
        </p:txBody>
      </p:sp>
      <p:sp>
        <p:nvSpPr>
          <p:cNvPr id="164" name="Rectangle 163"/>
          <p:cNvSpPr/>
          <p:nvPr/>
        </p:nvSpPr>
        <p:spPr>
          <a:xfrm>
            <a:off x="9270491" y="4809744"/>
            <a:ext cx="360235" cy="164592"/>
          </a:xfrm>
          <a:prstGeom prst="rect">
            <a:avLst/>
          </a:prstGeom>
          <a:pattFill prst="wdUpDiag">
            <a:fgClr>
              <a:srgbClr val="15803D"/>
            </a:fgClr>
            <a:bgClr>
              <a:srgbClr val="E6F4EC"/>
            </a:bgClr>
          </a:pattFill>
          <a:ln>
            <a:noFill/>
          </a:ln>
        </p:spPr>
        <p:txBody>
          <a:bodyPr rtlCol="0" anchor="ctr"/>
          <a:lstStyle/>
          <a:p>
            <a:pPr algn="ctr"/>
          </a:p>
        </p:txBody>
      </p:sp>
      <p:sp>
        <p:nvSpPr>
          <p:cNvPr id="165" name="Oval 164"/>
          <p:cNvSpPr/>
          <p:nvPr/>
        </p:nvSpPr>
        <p:spPr>
          <a:xfrm>
            <a:off x="10429113" y="5138928"/>
            <a:ext cx="146304" cy="146304"/>
          </a:xfrm>
          <a:prstGeom prst="ellipse">
            <a:avLst/>
          </a:prstGeom>
          <a:solidFill>
            <a:srgbClr val="6D28D9"/>
          </a:solidFill>
          <a:ln>
            <a:noFill/>
          </a:ln>
        </p:spPr>
        <p:txBody>
          <a:bodyPr rtlCol="0" anchor="ctr"/>
          <a:lstStyle/>
          <a:p>
            <a:pPr algn="ctr"/>
          </a:p>
        </p:txBody>
      </p:sp>
      <p:cxnSp>
        <p:nvCxnSpPr>
          <p:cNvPr id="166" name="Connector 165"/>
          <p:cNvCxnSpPr/>
          <p:nvPr/>
        </p:nvCxnSpPr>
        <p:spPr>
          <a:xfrm>
            <a:off x="10365143" y="4069080"/>
            <a:ext cx="0" cy="1344168"/>
          </a:xfrm>
          <a:prstGeom prst="line">
            <a:avLst/>
          </a:prstGeom>
          <a:ln w="19050">
            <a:solidFill>
              <a:srgbClr val="3B5BDB"/>
            </a:solidFill>
            <a:prstDash val="dash"/>
          </a:ln>
        </p:spPr>
      </p:cxnSp>
      <p:sp>
        <p:nvSpPr>
          <p:cNvPr id="167" name="TextBox 166"/>
          <p:cNvSpPr txBox="1"/>
          <p:nvPr/>
        </p:nvSpPr>
        <p:spPr>
          <a:xfrm>
            <a:off x="9267863" y="3913632"/>
            <a:ext cx="1051560" cy="182880"/>
          </a:xfrm>
          <a:prstGeom prst="rect">
            <a:avLst/>
          </a:prstGeom>
          <a:noFill/>
        </p:spPr>
        <p:txBody>
          <a:bodyPr wrap="square" lIns="0" rIns="0" tIns="0" bIns="0" anchor="t">
            <a:noAutofit/>
          </a:bodyPr>
          <a:lstStyle/>
          <a:p>
            <a:pPr algn="r"/>
            <a:r>
              <a:rPr sz="900" b="0" i="0">
                <a:solidFill>
                  <a:srgbClr val="3B5BDB"/>
                </a:solidFill>
                <a:latin typeface="Calibri"/>
              </a:rPr>
              <a:t>utterance end</a:t>
            </a:r>
          </a:p>
        </p:txBody>
      </p:sp>
      <p:cxnSp>
        <p:nvCxnSpPr>
          <p:cNvPr id="168" name="Connector 167"/>
          <p:cNvCxnSpPr/>
          <p:nvPr/>
        </p:nvCxnSpPr>
        <p:spPr>
          <a:xfrm>
            <a:off x="7374026" y="5513832"/>
            <a:ext cx="2991117" cy="0"/>
          </a:xfrm>
          <a:prstGeom prst="line">
            <a:avLst/>
          </a:prstGeom>
          <a:ln w="19050">
            <a:solidFill>
              <a:srgbClr val="15803D"/>
            </a:solidFill>
            <a:headEnd type="triangle" w="med" len="med"/>
            <a:tailEnd type="triangle" w="med" len="med"/>
          </a:ln>
        </p:spPr>
      </p:cxnSp>
      <p:sp>
        <p:nvSpPr>
          <p:cNvPr id="169" name="TextBox 168"/>
          <p:cNvSpPr txBox="1"/>
          <p:nvPr/>
        </p:nvSpPr>
        <p:spPr>
          <a:xfrm>
            <a:off x="7236866" y="5577840"/>
            <a:ext cx="3291840" cy="274320"/>
          </a:xfrm>
          <a:prstGeom prst="rect">
            <a:avLst/>
          </a:prstGeom>
          <a:noFill/>
        </p:spPr>
        <p:txBody>
          <a:bodyPr wrap="square" lIns="0" rIns="0" tIns="0" bIns="0" anchor="t">
            <a:noAutofit/>
          </a:bodyPr>
          <a:lstStyle/>
          <a:p>
            <a:pPr algn="l"/>
            <a:r>
              <a:rPr sz="1100" b="1" i="0">
                <a:solidFill>
                  <a:srgbClr val="15803D"/>
                </a:solidFill>
                <a:latin typeface="Calibri"/>
              </a:rPr>
              <a:t>Retrieval began 1.29 s before the user finished</a:t>
            </a:r>
          </a:p>
        </p:txBody>
      </p:sp>
      <p:sp>
        <p:nvSpPr>
          <p:cNvPr id="170" name="TextBox 169"/>
          <p:cNvSpPr txBox="1"/>
          <p:nvPr/>
        </p:nvSpPr>
        <p:spPr>
          <a:xfrm>
            <a:off x="1115568" y="5998464"/>
            <a:ext cx="10515600" cy="228600"/>
          </a:xfrm>
          <a:prstGeom prst="rect">
            <a:avLst/>
          </a:prstGeom>
          <a:noFill/>
        </p:spPr>
        <p:txBody>
          <a:bodyPr wrap="square" lIns="0" rIns="0" tIns="0" bIns="0" anchor="t">
            <a:noAutofit/>
          </a:bodyPr>
          <a:lstStyle/>
          <a:p>
            <a:pPr algn="l"/>
            <a:r>
              <a:rPr sz="950" b="0" i="1">
                <a:solidFill>
                  <a:srgbClr val="63637E"/>
                </a:solidFill>
                <a:latin typeface="Calibri"/>
              </a:rPr>
              <a:t>Actual trace · Demo 2 (Theme 4 guide example) · real-time pace · scripts/demo_stream.py --scenario multi_intent</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Demo &amp; Product Walkthrough</a:t>
            </a:r>
            <a:endParaRPr/>
          </a:p>
        </p:txBody>
      </p:sp>
      <p:sp>
        <p:nvSpPr>
          <p:cNvPr id="120" name="TextBox 119"/>
          <p:cNvSpPr txBox="1"/>
          <p:nvPr/>
        </p:nvSpPr>
        <p:spPr>
          <a:xfrm>
            <a:off x="841248" y="1719072"/>
            <a:ext cx="4937760" cy="256032"/>
          </a:xfrm>
          <a:prstGeom prst="rect">
            <a:avLst/>
          </a:prstGeom>
          <a:noFill/>
        </p:spPr>
        <p:txBody>
          <a:bodyPr wrap="square" lIns="0" rIns="0" tIns="0" bIns="0" anchor="t">
            <a:noAutofit/>
          </a:bodyPr>
          <a:lstStyle/>
          <a:p>
            <a:pPr algn="l"/>
            <a:r>
              <a:rPr sz="1100" b="1" i="0" spc="150">
                <a:solidFill>
                  <a:srgbClr val="6D28D9"/>
                </a:solidFill>
                <a:latin typeface="Calibri"/>
              </a:rPr>
              <a:t>DEMO 2 · ONE SENTENCE, THREE SEARCHES</a:t>
            </a:r>
          </a:p>
        </p:txBody>
      </p:sp>
      <p:sp>
        <p:nvSpPr>
          <p:cNvPr id="121" name="TextBox 120"/>
          <p:cNvSpPr txBox="1"/>
          <p:nvPr/>
        </p:nvSpPr>
        <p:spPr>
          <a:xfrm>
            <a:off x="841248" y="2130552"/>
            <a:ext cx="566928" cy="274320"/>
          </a:xfrm>
          <a:prstGeom prst="rect">
            <a:avLst/>
          </a:prstGeom>
          <a:noFill/>
        </p:spPr>
        <p:txBody>
          <a:bodyPr wrap="square" lIns="0" rIns="0" tIns="0" bIns="0" anchor="t">
            <a:noAutofit/>
          </a:bodyPr>
          <a:lstStyle/>
          <a:p>
            <a:pPr algn="l"/>
            <a:r>
              <a:rPr sz="1050" b="1" i="0">
                <a:solidFill>
                  <a:srgbClr val="63637E"/>
                </a:solidFill>
                <a:latin typeface="Calibri"/>
              </a:rPr>
              <a:t>0.00 s</a:t>
            </a:r>
          </a:p>
        </p:txBody>
      </p:sp>
      <p:sp>
        <p:nvSpPr>
          <p:cNvPr id="122" name="Rounded Rectangle 121"/>
          <p:cNvSpPr/>
          <p:nvPr/>
        </p:nvSpPr>
        <p:spPr>
          <a:xfrm>
            <a:off x="1435608" y="2057400"/>
            <a:ext cx="2514600" cy="786384"/>
          </a:xfrm>
          <a:prstGeom prst="roundRect">
            <a:avLst>
              <a:gd name="adj" fmla="val 9302"/>
            </a:avLst>
          </a:prstGeom>
          <a:solidFill>
            <a:srgbClr val="FFFFFF"/>
          </a:solidFill>
          <a:ln w="12700">
            <a:solidFill>
              <a:srgbClr val="E3E1EE"/>
            </a:solidFill>
          </a:ln>
        </p:spPr>
        <p:txBody>
          <a:bodyPr rtlCol="0" anchor="ctr" wrap="square" lIns="109728" rIns="109728" tIns="36576" bIns="36576">
            <a:noAutofit/>
          </a:bodyPr>
          <a:lstStyle/>
          <a:p>
            <a:pPr algn="l"/>
            <a:r>
              <a:rPr sz="1200" b="0" i="1">
                <a:solidFill>
                  <a:srgbClr val="14142B"/>
                </a:solidFill>
                <a:latin typeface="Calibri"/>
              </a:rPr>
              <a:t>“I need to plan a customer”</a:t>
            </a:r>
          </a:p>
        </p:txBody>
      </p:sp>
      <p:sp>
        <p:nvSpPr>
          <p:cNvPr id="123" name="Rounded Rectangle 122"/>
          <p:cNvSpPr/>
          <p:nvPr/>
        </p:nvSpPr>
        <p:spPr>
          <a:xfrm>
            <a:off x="4059936" y="2112264"/>
            <a:ext cx="960120" cy="256032"/>
          </a:xfrm>
          <a:prstGeom prst="roundRect">
            <a:avLst>
              <a:gd name="adj" fmla="val 50000"/>
            </a:avLst>
          </a:prstGeom>
          <a:solidFill>
            <a:srgbClr val="B45309"/>
          </a:solidFill>
          <a:ln>
            <a:noFill/>
          </a:ln>
        </p:spPr>
        <p:txBody>
          <a:bodyPr rtlCol="0" anchor="ctr" wrap="square" lIns="36576" rIns="36576" tIns="36576" bIns="36576">
            <a:noAutofit/>
          </a:bodyPr>
          <a:lstStyle/>
          <a:p>
            <a:pPr algn="ctr"/>
            <a:r>
              <a:rPr sz="950" b="1" i="0">
                <a:solidFill>
                  <a:srgbClr val="FFFFFF"/>
                </a:solidFill>
                <a:latin typeface="Calibri"/>
              </a:rPr>
              <a:t>WAIT</a:t>
            </a:r>
          </a:p>
        </p:txBody>
      </p:sp>
      <p:sp>
        <p:nvSpPr>
          <p:cNvPr id="124" name="TextBox 123"/>
          <p:cNvSpPr txBox="1"/>
          <p:nvPr/>
        </p:nvSpPr>
        <p:spPr>
          <a:xfrm>
            <a:off x="4059936" y="2404872"/>
            <a:ext cx="1463040" cy="457200"/>
          </a:xfrm>
          <a:prstGeom prst="rect">
            <a:avLst/>
          </a:prstGeom>
          <a:noFill/>
        </p:spPr>
        <p:txBody>
          <a:bodyPr wrap="square" lIns="0" rIns="0" tIns="0" bIns="0" anchor="t">
            <a:noAutofit/>
          </a:bodyPr>
          <a:lstStyle/>
          <a:p>
            <a:pPr algn="l">
              <a:lnSpc>
                <a:spcPct val="92000"/>
              </a:lnSpc>
            </a:pPr>
            <a:r>
              <a:rPr sz="950" b="0" i="0">
                <a:solidFill>
                  <a:srgbClr val="63637E"/>
                </a:solidFill>
                <a:latin typeface="Calibri"/>
              </a:rPr>
              <a:t>not specific yet</a:t>
            </a:r>
          </a:p>
        </p:txBody>
      </p:sp>
      <p:sp>
        <p:nvSpPr>
          <p:cNvPr id="125" name="TextBox 124"/>
          <p:cNvSpPr txBox="1"/>
          <p:nvPr/>
        </p:nvSpPr>
        <p:spPr>
          <a:xfrm>
            <a:off x="841248" y="3008376"/>
            <a:ext cx="566928" cy="274320"/>
          </a:xfrm>
          <a:prstGeom prst="rect">
            <a:avLst/>
          </a:prstGeom>
          <a:noFill/>
        </p:spPr>
        <p:txBody>
          <a:bodyPr wrap="square" lIns="0" rIns="0" tIns="0" bIns="0" anchor="t">
            <a:noAutofit/>
          </a:bodyPr>
          <a:lstStyle/>
          <a:p>
            <a:pPr algn="l"/>
            <a:r>
              <a:rPr sz="1050" b="1" i="0">
                <a:solidFill>
                  <a:srgbClr val="63637E"/>
                </a:solidFill>
                <a:latin typeface="Calibri"/>
              </a:rPr>
              <a:t>0.80 s</a:t>
            </a:r>
          </a:p>
        </p:txBody>
      </p:sp>
      <p:sp>
        <p:nvSpPr>
          <p:cNvPr id="126" name="Rounded Rectangle 125"/>
          <p:cNvSpPr/>
          <p:nvPr/>
        </p:nvSpPr>
        <p:spPr>
          <a:xfrm>
            <a:off x="1435608" y="2935224"/>
            <a:ext cx="2514600" cy="786384"/>
          </a:xfrm>
          <a:prstGeom prst="roundRect">
            <a:avLst>
              <a:gd name="adj" fmla="val 9302"/>
            </a:avLst>
          </a:prstGeom>
          <a:solidFill>
            <a:srgbClr val="FFFFFF"/>
          </a:solidFill>
          <a:ln w="12700">
            <a:solidFill>
              <a:srgbClr val="E3E1EE"/>
            </a:solidFill>
          </a:ln>
        </p:spPr>
        <p:txBody>
          <a:bodyPr rtlCol="0" anchor="ctr" wrap="square" lIns="109728" rIns="109728" tIns="36576" bIns="36576">
            <a:noAutofit/>
          </a:bodyPr>
          <a:lstStyle/>
          <a:p>
            <a:pPr algn="l"/>
            <a:r>
              <a:rPr sz="1200" b="0" i="1">
                <a:solidFill>
                  <a:srgbClr val="14142B"/>
                </a:solidFill>
                <a:latin typeface="Calibri"/>
              </a:rPr>
              <a:t>“workshop in Pune for 30 people,”</a:t>
            </a:r>
          </a:p>
        </p:txBody>
      </p:sp>
      <p:sp>
        <p:nvSpPr>
          <p:cNvPr id="127" name="Rounded Rectangle 126"/>
          <p:cNvSpPr/>
          <p:nvPr/>
        </p:nvSpPr>
        <p:spPr>
          <a:xfrm>
            <a:off x="4059936" y="2990088"/>
            <a:ext cx="960120" cy="256032"/>
          </a:xfrm>
          <a:prstGeom prst="roundRect">
            <a:avLst>
              <a:gd name="adj" fmla="val 50000"/>
            </a:avLst>
          </a:prstGeom>
          <a:solidFill>
            <a:srgbClr val="15803D"/>
          </a:solidFill>
          <a:ln>
            <a:noFill/>
          </a:ln>
        </p:spPr>
        <p:txBody>
          <a:bodyPr rtlCol="0" anchor="ctr" wrap="square" lIns="36576" rIns="36576" tIns="36576" bIns="36576">
            <a:noAutofit/>
          </a:bodyPr>
          <a:lstStyle/>
          <a:p>
            <a:pPr algn="ctr"/>
            <a:r>
              <a:rPr sz="950" b="1" i="0">
                <a:solidFill>
                  <a:srgbClr val="FFFFFF"/>
                </a:solidFill>
                <a:latin typeface="Calibri"/>
              </a:rPr>
              <a:t>RETRIEVE</a:t>
            </a:r>
          </a:p>
        </p:txBody>
      </p:sp>
      <p:sp>
        <p:nvSpPr>
          <p:cNvPr id="128" name="TextBox 127"/>
          <p:cNvSpPr txBox="1"/>
          <p:nvPr/>
        </p:nvSpPr>
        <p:spPr>
          <a:xfrm>
            <a:off x="4059936" y="3282696"/>
            <a:ext cx="1463040" cy="457200"/>
          </a:xfrm>
          <a:prstGeom prst="rect">
            <a:avLst/>
          </a:prstGeom>
          <a:noFill/>
        </p:spPr>
        <p:txBody>
          <a:bodyPr wrap="square" lIns="0" rIns="0" tIns="0" bIns="0" anchor="t">
            <a:noAutofit/>
          </a:bodyPr>
          <a:lstStyle/>
          <a:p>
            <a:pPr algn="l">
              <a:lnSpc>
                <a:spcPct val="92000"/>
              </a:lnSpc>
            </a:pPr>
            <a:r>
              <a:rPr sz="950" b="0" i="0">
                <a:solidFill>
                  <a:srgbClr val="63637E"/>
                </a:solidFill>
                <a:latin typeface="Calibri"/>
              </a:rPr>
              <a:t>q1 starts, provisional</a:t>
            </a:r>
          </a:p>
        </p:txBody>
      </p:sp>
      <p:sp>
        <p:nvSpPr>
          <p:cNvPr id="129" name="TextBox 128"/>
          <p:cNvSpPr txBox="1"/>
          <p:nvPr/>
        </p:nvSpPr>
        <p:spPr>
          <a:xfrm>
            <a:off x="841248" y="3886200"/>
            <a:ext cx="566928" cy="274320"/>
          </a:xfrm>
          <a:prstGeom prst="rect">
            <a:avLst/>
          </a:prstGeom>
          <a:noFill/>
        </p:spPr>
        <p:txBody>
          <a:bodyPr wrap="square" lIns="0" rIns="0" tIns="0" bIns="0" anchor="t">
            <a:noAutofit/>
          </a:bodyPr>
          <a:lstStyle/>
          <a:p>
            <a:pPr algn="l"/>
            <a:r>
              <a:rPr sz="1050" b="1" i="0">
                <a:solidFill>
                  <a:srgbClr val="63637E"/>
                </a:solidFill>
                <a:latin typeface="Calibri"/>
              </a:rPr>
              <a:t>1.61 s</a:t>
            </a:r>
          </a:p>
        </p:txBody>
      </p:sp>
      <p:sp>
        <p:nvSpPr>
          <p:cNvPr id="130" name="Rounded Rectangle 129"/>
          <p:cNvSpPr/>
          <p:nvPr/>
        </p:nvSpPr>
        <p:spPr>
          <a:xfrm>
            <a:off x="1435608" y="3813048"/>
            <a:ext cx="2514600" cy="786384"/>
          </a:xfrm>
          <a:prstGeom prst="roundRect">
            <a:avLst>
              <a:gd name="adj" fmla="val 9302"/>
            </a:avLst>
          </a:prstGeom>
          <a:solidFill>
            <a:srgbClr val="FFFFFF"/>
          </a:solidFill>
          <a:ln w="12700">
            <a:solidFill>
              <a:srgbClr val="E3E1EE"/>
            </a:solidFill>
          </a:ln>
        </p:spPr>
        <p:txBody>
          <a:bodyPr rtlCol="0" anchor="ctr" wrap="square" lIns="109728" rIns="109728" tIns="36576" bIns="36576">
            <a:noAutofit/>
          </a:bodyPr>
          <a:lstStyle/>
          <a:p>
            <a:pPr algn="l"/>
            <a:r>
              <a:rPr sz="1200" b="0" i="1">
                <a:solidFill>
                  <a:srgbClr val="14142B"/>
                </a:solidFill>
                <a:latin typeface="Calibri"/>
              </a:rPr>
              <a:t>“and I need the cancellation policy and the catering options.”</a:t>
            </a:r>
          </a:p>
        </p:txBody>
      </p:sp>
      <p:sp>
        <p:nvSpPr>
          <p:cNvPr id="131" name="Rounded Rectangle 130"/>
          <p:cNvSpPr/>
          <p:nvPr/>
        </p:nvSpPr>
        <p:spPr>
          <a:xfrm>
            <a:off x="4059936" y="3867911"/>
            <a:ext cx="960120" cy="256032"/>
          </a:xfrm>
          <a:prstGeom prst="roundRect">
            <a:avLst>
              <a:gd name="adj" fmla="val 50000"/>
            </a:avLst>
          </a:prstGeom>
          <a:solidFill>
            <a:srgbClr val="15803D"/>
          </a:solidFill>
          <a:ln>
            <a:noFill/>
          </a:ln>
        </p:spPr>
        <p:txBody>
          <a:bodyPr rtlCol="0" anchor="ctr" wrap="square" lIns="36576" rIns="36576" tIns="36576" bIns="36576">
            <a:noAutofit/>
          </a:bodyPr>
          <a:lstStyle/>
          <a:p>
            <a:pPr algn="ctr"/>
            <a:r>
              <a:rPr sz="950" b="1" i="0">
                <a:solidFill>
                  <a:srgbClr val="FFFFFF"/>
                </a:solidFill>
                <a:latin typeface="Calibri"/>
              </a:rPr>
              <a:t>RETRIEVE</a:t>
            </a:r>
          </a:p>
        </p:txBody>
      </p:sp>
      <p:sp>
        <p:nvSpPr>
          <p:cNvPr id="132" name="TextBox 131"/>
          <p:cNvSpPr txBox="1"/>
          <p:nvPr/>
        </p:nvSpPr>
        <p:spPr>
          <a:xfrm>
            <a:off x="4059936" y="4160520"/>
            <a:ext cx="1463040" cy="457200"/>
          </a:xfrm>
          <a:prstGeom prst="rect">
            <a:avLst/>
          </a:prstGeom>
          <a:noFill/>
        </p:spPr>
        <p:txBody>
          <a:bodyPr wrap="square" lIns="0" rIns="0" tIns="0" bIns="0" anchor="t">
            <a:noAutofit/>
          </a:bodyPr>
          <a:lstStyle/>
          <a:p>
            <a:pPr algn="l">
              <a:lnSpc>
                <a:spcPct val="92000"/>
              </a:lnSpc>
            </a:pPr>
            <a:r>
              <a:rPr sz="950" b="0" i="0">
                <a:solidFill>
                  <a:srgbClr val="63637E"/>
                </a:solidFill>
                <a:latin typeface="Calibri"/>
              </a:rPr>
              <a:t>q2, q3 start · “Pune” carried</a:t>
            </a:r>
          </a:p>
        </p:txBody>
      </p:sp>
      <p:sp>
        <p:nvSpPr>
          <p:cNvPr id="133" name="TextBox 132"/>
          <p:cNvSpPr txBox="1"/>
          <p:nvPr/>
        </p:nvSpPr>
        <p:spPr>
          <a:xfrm>
            <a:off x="841248" y="4764024"/>
            <a:ext cx="566928" cy="274320"/>
          </a:xfrm>
          <a:prstGeom prst="rect">
            <a:avLst/>
          </a:prstGeom>
          <a:noFill/>
        </p:spPr>
        <p:txBody>
          <a:bodyPr wrap="square" lIns="0" rIns="0" tIns="0" bIns="0" anchor="t">
            <a:noAutofit/>
          </a:bodyPr>
          <a:lstStyle/>
          <a:p>
            <a:pPr algn="l"/>
            <a:r>
              <a:rPr sz="1050" b="1" i="0">
                <a:solidFill>
                  <a:srgbClr val="63637E"/>
                </a:solidFill>
                <a:latin typeface="Calibri"/>
              </a:rPr>
              <a:t>2.11 s</a:t>
            </a:r>
          </a:p>
        </p:txBody>
      </p:sp>
      <p:sp>
        <p:nvSpPr>
          <p:cNvPr id="134" name="Rounded Rectangle 133"/>
          <p:cNvSpPr/>
          <p:nvPr/>
        </p:nvSpPr>
        <p:spPr>
          <a:xfrm>
            <a:off x="1435608" y="4690872"/>
            <a:ext cx="2514600" cy="786384"/>
          </a:xfrm>
          <a:prstGeom prst="roundRect">
            <a:avLst>
              <a:gd name="adj" fmla="val 9302"/>
            </a:avLst>
          </a:prstGeom>
          <a:solidFill>
            <a:srgbClr val="F3F3F7"/>
          </a:solidFill>
          <a:ln w="12700">
            <a:solidFill>
              <a:srgbClr val="E3E1EE"/>
            </a:solidFill>
          </a:ln>
        </p:spPr>
        <p:txBody>
          <a:bodyPr rtlCol="0" anchor="ctr" wrap="square" lIns="109728" rIns="109728" tIns="36576" bIns="36576">
            <a:noAutofit/>
          </a:bodyPr>
          <a:lstStyle/>
          <a:p>
            <a:pPr algn="l"/>
            <a:r>
              <a:rPr sz="1200" b="0" i="0">
                <a:solidFill>
                  <a:srgbClr val="63637E"/>
                </a:solidFill>
                <a:latin typeface="Calibri"/>
              </a:rPr>
              <a:t>utterance ends</a:t>
            </a:r>
          </a:p>
        </p:txBody>
      </p:sp>
      <p:sp>
        <p:nvSpPr>
          <p:cNvPr id="135" name="Rounded Rectangle 134"/>
          <p:cNvSpPr/>
          <p:nvPr/>
        </p:nvSpPr>
        <p:spPr>
          <a:xfrm>
            <a:off x="4059936" y="4745736"/>
            <a:ext cx="960120" cy="256032"/>
          </a:xfrm>
          <a:prstGeom prst="roundRect">
            <a:avLst>
              <a:gd name="adj" fmla="val 50000"/>
            </a:avLst>
          </a:prstGeom>
          <a:solidFill>
            <a:srgbClr val="6D28D9"/>
          </a:solidFill>
          <a:ln>
            <a:noFill/>
          </a:ln>
        </p:spPr>
        <p:txBody>
          <a:bodyPr rtlCol="0" anchor="ctr" wrap="square" lIns="36576" rIns="36576" tIns="36576" bIns="36576">
            <a:noAutofit/>
          </a:bodyPr>
          <a:lstStyle/>
          <a:p>
            <a:pPr algn="ctr"/>
            <a:r>
              <a:rPr sz="950" b="1" i="0">
                <a:solidFill>
                  <a:srgbClr val="FFFFFF"/>
                </a:solidFill>
                <a:latin typeface="Calibri"/>
              </a:rPr>
              <a:t>ANSWER</a:t>
            </a:r>
          </a:p>
        </p:txBody>
      </p:sp>
      <p:sp>
        <p:nvSpPr>
          <p:cNvPr id="136" name="TextBox 135"/>
          <p:cNvSpPr txBox="1"/>
          <p:nvPr/>
        </p:nvSpPr>
        <p:spPr>
          <a:xfrm>
            <a:off x="4059936" y="5038344"/>
            <a:ext cx="1463040" cy="457200"/>
          </a:xfrm>
          <a:prstGeom prst="rect">
            <a:avLst/>
          </a:prstGeom>
          <a:noFill/>
        </p:spPr>
        <p:txBody>
          <a:bodyPr wrap="square" lIns="0" rIns="0" tIns="0" bIns="0" anchor="t">
            <a:noAutofit/>
          </a:bodyPr>
          <a:lstStyle/>
          <a:p>
            <a:pPr algn="l">
              <a:lnSpc>
                <a:spcPct val="92000"/>
              </a:lnSpc>
            </a:pPr>
            <a:r>
              <a:rPr sz="950" b="0" i="0">
                <a:solidFill>
                  <a:srgbClr val="63637E"/>
                </a:solidFill>
                <a:latin typeface="Calibri"/>
              </a:rPr>
              <a:t>3/3 reused · 1 duplicate dropped · 6/6 claims grounded</a:t>
            </a:r>
          </a:p>
        </p:txBody>
      </p:sp>
      <p:pic>
        <p:nvPicPr>
          <p:cNvPr id="137" name="Picture 136" descr="dashboard_demo2_multi_intent.png"/>
          <p:cNvPicPr>
            <a:picLocks noChangeAspect="1"/>
          </p:cNvPicPr>
          <p:nvPr/>
        </p:nvPicPr>
        <p:blipFill>
          <a:blip r:embed="rId3"/>
          <a:stretch>
            <a:fillRect/>
          </a:stretch>
        </p:blipFill>
        <p:spPr>
          <a:xfrm>
            <a:off x="5916168" y="1719072"/>
            <a:ext cx="5440680" cy="3588582"/>
          </a:xfrm>
          <a:prstGeom prst="rect">
            <a:avLst/>
          </a:prstGeom>
          <a:ln w="9525">
            <a:solidFill>
              <a:srgbClr val="E3E1EE"/>
            </a:solidFill>
          </a:ln>
        </p:spPr>
      </p:pic>
      <p:sp>
        <p:nvSpPr>
          <p:cNvPr id="138" name="TextBox 137"/>
          <p:cNvSpPr txBox="1"/>
          <p:nvPr/>
        </p:nvSpPr>
        <p:spPr>
          <a:xfrm>
            <a:off x="5916168" y="5353373"/>
            <a:ext cx="5440680" cy="228600"/>
          </a:xfrm>
          <a:prstGeom prst="rect">
            <a:avLst/>
          </a:prstGeom>
          <a:noFill/>
        </p:spPr>
        <p:txBody>
          <a:bodyPr wrap="square" lIns="0" rIns="0" tIns="0" bIns="0" anchor="t">
            <a:noAutofit/>
          </a:bodyPr>
          <a:lstStyle/>
          <a:p>
            <a:pPr algn="l"/>
            <a:r>
              <a:rPr sz="950" b="0" i="1">
                <a:solidFill>
                  <a:srgbClr val="63637E"/>
                </a:solidFill>
                <a:latin typeface="Calibri"/>
              </a:rPr>
              <a:t>Actual dashboard, captured from the running app · Demo 2 at real-time pace</a:t>
            </a:r>
          </a:p>
        </p:txBody>
      </p:sp>
      <p:sp>
        <p:nvSpPr>
          <p:cNvPr id="139" name="Rounded Rectangle 138"/>
          <p:cNvSpPr/>
          <p:nvPr/>
        </p:nvSpPr>
        <p:spPr>
          <a:xfrm>
            <a:off x="841248" y="5669280"/>
            <a:ext cx="1517904" cy="365760"/>
          </a:xfrm>
          <a:prstGeom prst="roundRect">
            <a:avLst>
              <a:gd name="adj" fmla="val 50000"/>
            </a:avLst>
          </a:prstGeom>
          <a:solidFill>
            <a:srgbClr val="FDF1DC"/>
          </a:solidFill>
          <a:ln>
            <a:noFill/>
          </a:ln>
        </p:spPr>
        <p:txBody>
          <a:bodyPr rtlCol="0" anchor="ctr" wrap="square" lIns="36576" rIns="36576" tIns="36576" bIns="36576">
            <a:noAutofit/>
          </a:bodyPr>
          <a:lstStyle/>
          <a:p>
            <a:pPr algn="ctr"/>
            <a:r>
              <a:rPr sz="1050" b="1" i="0">
                <a:solidFill>
                  <a:srgbClr val="B45309"/>
                </a:solidFill>
                <a:latin typeface="Calibri"/>
              </a:rPr>
              <a:t>WAIT</a:t>
            </a:r>
          </a:p>
        </p:txBody>
      </p:sp>
      <p:cxnSp>
        <p:nvCxnSpPr>
          <p:cNvPr id="140" name="Connector 139"/>
          <p:cNvCxnSpPr/>
          <p:nvPr/>
        </p:nvCxnSpPr>
        <p:spPr>
          <a:xfrm>
            <a:off x="2395728" y="5852160"/>
            <a:ext cx="208483" cy="0"/>
          </a:xfrm>
          <a:prstGeom prst="line">
            <a:avLst/>
          </a:prstGeom>
          <a:ln w="15875">
            <a:solidFill>
              <a:srgbClr val="9C9CB0"/>
            </a:solidFill>
            <a:tailEnd type="triangle" w="med" len="med"/>
          </a:ln>
        </p:spPr>
      </p:cxnSp>
      <p:sp>
        <p:nvSpPr>
          <p:cNvPr id="141" name="Rounded Rectangle 140"/>
          <p:cNvSpPr/>
          <p:nvPr/>
        </p:nvSpPr>
        <p:spPr>
          <a:xfrm>
            <a:off x="2640787" y="5669280"/>
            <a:ext cx="1517904" cy="365760"/>
          </a:xfrm>
          <a:prstGeom prst="roundRect">
            <a:avLst>
              <a:gd name="adj" fmla="val 50000"/>
            </a:avLst>
          </a:prstGeom>
          <a:solidFill>
            <a:srgbClr val="E6F4EC"/>
          </a:solidFill>
          <a:ln>
            <a:noFill/>
          </a:ln>
        </p:spPr>
        <p:txBody>
          <a:bodyPr rtlCol="0" anchor="ctr" wrap="square" lIns="36576" rIns="36576" tIns="36576" bIns="36576">
            <a:noAutofit/>
          </a:bodyPr>
          <a:lstStyle/>
          <a:p>
            <a:pPr algn="ctr"/>
            <a:r>
              <a:rPr sz="1050" b="1" i="0">
                <a:solidFill>
                  <a:srgbClr val="15803D"/>
                </a:solidFill>
                <a:latin typeface="Calibri"/>
              </a:rPr>
              <a:t>RETRIEVE</a:t>
            </a:r>
          </a:p>
        </p:txBody>
      </p:sp>
      <p:cxnSp>
        <p:nvCxnSpPr>
          <p:cNvPr id="142" name="Connector 141"/>
          <p:cNvCxnSpPr/>
          <p:nvPr/>
        </p:nvCxnSpPr>
        <p:spPr>
          <a:xfrm>
            <a:off x="4195267" y="5852160"/>
            <a:ext cx="208483" cy="0"/>
          </a:xfrm>
          <a:prstGeom prst="line">
            <a:avLst/>
          </a:prstGeom>
          <a:ln w="15875">
            <a:solidFill>
              <a:srgbClr val="9C9CB0"/>
            </a:solidFill>
            <a:tailEnd type="triangle" w="med" len="med"/>
          </a:ln>
        </p:spPr>
      </p:cxnSp>
      <p:sp>
        <p:nvSpPr>
          <p:cNvPr id="143" name="Rounded Rectangle 142"/>
          <p:cNvSpPr/>
          <p:nvPr/>
        </p:nvSpPr>
        <p:spPr>
          <a:xfrm>
            <a:off x="4440326" y="5669280"/>
            <a:ext cx="1517904" cy="365760"/>
          </a:xfrm>
          <a:prstGeom prst="roundRect">
            <a:avLst>
              <a:gd name="adj" fmla="val 50000"/>
            </a:avLst>
          </a:prstGeom>
          <a:solidFill>
            <a:srgbClr val="F4F1FC"/>
          </a:solidFill>
          <a:ln>
            <a:noFill/>
          </a:ln>
        </p:spPr>
        <p:txBody>
          <a:bodyPr rtlCol="0" anchor="ctr" wrap="square" lIns="36576" rIns="36576" tIns="36576" bIns="36576">
            <a:noAutofit/>
          </a:bodyPr>
          <a:lstStyle/>
          <a:p>
            <a:pPr algn="ctr"/>
            <a:r>
              <a:rPr sz="1050" b="1" i="0">
                <a:solidFill>
                  <a:srgbClr val="14142B"/>
                </a:solidFill>
                <a:latin typeface="Calibri"/>
              </a:rPr>
              <a:t>Sub-query decomposition</a:t>
            </a:r>
          </a:p>
        </p:txBody>
      </p:sp>
      <p:cxnSp>
        <p:nvCxnSpPr>
          <p:cNvPr id="144" name="Connector 143"/>
          <p:cNvCxnSpPr/>
          <p:nvPr/>
        </p:nvCxnSpPr>
        <p:spPr>
          <a:xfrm>
            <a:off x="5994806" y="5852160"/>
            <a:ext cx="208483" cy="0"/>
          </a:xfrm>
          <a:prstGeom prst="line">
            <a:avLst/>
          </a:prstGeom>
          <a:ln w="15875">
            <a:solidFill>
              <a:srgbClr val="9C9CB0"/>
            </a:solidFill>
            <a:tailEnd type="triangle" w="med" len="med"/>
          </a:ln>
        </p:spPr>
      </p:cxnSp>
      <p:sp>
        <p:nvSpPr>
          <p:cNvPr id="145" name="Rounded Rectangle 144"/>
          <p:cNvSpPr/>
          <p:nvPr/>
        </p:nvSpPr>
        <p:spPr>
          <a:xfrm>
            <a:off x="6239865" y="5669280"/>
            <a:ext cx="1517904" cy="365760"/>
          </a:xfrm>
          <a:prstGeom prst="roundRect">
            <a:avLst>
              <a:gd name="adj" fmla="val 50000"/>
            </a:avLst>
          </a:prstGeom>
          <a:solidFill>
            <a:srgbClr val="EAF0FF"/>
          </a:solidFill>
          <a:ln>
            <a:noFill/>
          </a:ln>
        </p:spPr>
        <p:txBody>
          <a:bodyPr rtlCol="0" anchor="ctr" wrap="square" lIns="36576" rIns="36576" tIns="36576" bIns="36576">
            <a:noAutofit/>
          </a:bodyPr>
          <a:lstStyle/>
          <a:p>
            <a:pPr algn="ctr"/>
            <a:r>
              <a:rPr sz="1050" b="1" i="0">
                <a:solidFill>
                  <a:srgbClr val="3B5BDB"/>
                </a:solidFill>
                <a:latin typeface="Calibri"/>
              </a:rPr>
              <a:t>Parallel retrieval</a:t>
            </a:r>
          </a:p>
        </p:txBody>
      </p:sp>
      <p:cxnSp>
        <p:nvCxnSpPr>
          <p:cNvPr id="146" name="Connector 145"/>
          <p:cNvCxnSpPr/>
          <p:nvPr/>
        </p:nvCxnSpPr>
        <p:spPr>
          <a:xfrm>
            <a:off x="7794345" y="5852160"/>
            <a:ext cx="208483" cy="0"/>
          </a:xfrm>
          <a:prstGeom prst="line">
            <a:avLst/>
          </a:prstGeom>
          <a:ln w="15875">
            <a:solidFill>
              <a:srgbClr val="9C9CB0"/>
            </a:solidFill>
            <a:tailEnd type="triangle" w="med" len="med"/>
          </a:ln>
        </p:spPr>
      </p:cxnSp>
      <p:sp>
        <p:nvSpPr>
          <p:cNvPr id="147" name="Rounded Rectangle 146"/>
          <p:cNvSpPr/>
          <p:nvPr/>
        </p:nvSpPr>
        <p:spPr>
          <a:xfrm>
            <a:off x="8039404" y="5669280"/>
            <a:ext cx="1517904" cy="365760"/>
          </a:xfrm>
          <a:prstGeom prst="roundRect">
            <a:avLst>
              <a:gd name="adj" fmla="val 50000"/>
            </a:avLst>
          </a:prstGeom>
          <a:solidFill>
            <a:srgbClr val="F4F1FC"/>
          </a:solidFill>
          <a:ln>
            <a:noFill/>
          </a:ln>
        </p:spPr>
        <p:txBody>
          <a:bodyPr rtlCol="0" anchor="ctr" wrap="square" lIns="36576" rIns="36576" tIns="36576" bIns="36576">
            <a:noAutofit/>
          </a:bodyPr>
          <a:lstStyle/>
          <a:p>
            <a:pPr algn="ctr"/>
            <a:r>
              <a:rPr sz="1050" b="1" i="0">
                <a:solidFill>
                  <a:srgbClr val="14142B"/>
                </a:solidFill>
                <a:latin typeface="Calibri"/>
              </a:rPr>
              <a:t>Fusion</a:t>
            </a:r>
          </a:p>
        </p:txBody>
      </p:sp>
      <p:cxnSp>
        <p:nvCxnSpPr>
          <p:cNvPr id="148" name="Connector 147"/>
          <p:cNvCxnSpPr/>
          <p:nvPr/>
        </p:nvCxnSpPr>
        <p:spPr>
          <a:xfrm>
            <a:off x="9593884" y="5852160"/>
            <a:ext cx="208484" cy="0"/>
          </a:xfrm>
          <a:prstGeom prst="line">
            <a:avLst/>
          </a:prstGeom>
          <a:ln w="15875">
            <a:solidFill>
              <a:srgbClr val="9C9CB0"/>
            </a:solidFill>
            <a:tailEnd type="triangle" w="med" len="med"/>
          </a:ln>
        </p:spPr>
      </p:cxnSp>
      <p:sp>
        <p:nvSpPr>
          <p:cNvPr id="149" name="Rounded Rectangle 148"/>
          <p:cNvSpPr/>
          <p:nvPr/>
        </p:nvSpPr>
        <p:spPr>
          <a:xfrm>
            <a:off x="9838944" y="5669280"/>
            <a:ext cx="1517904" cy="365760"/>
          </a:xfrm>
          <a:prstGeom prst="roundRect">
            <a:avLst>
              <a:gd name="adj" fmla="val 50000"/>
            </a:avLst>
          </a:prstGeom>
          <a:solidFill>
            <a:srgbClr val="6D28D9"/>
          </a:solidFill>
          <a:ln>
            <a:noFill/>
          </a:ln>
        </p:spPr>
        <p:txBody>
          <a:bodyPr rtlCol="0" anchor="ctr" wrap="square" lIns="36576" rIns="36576" tIns="36576" bIns="36576">
            <a:noAutofit/>
          </a:bodyPr>
          <a:lstStyle/>
          <a:p>
            <a:pPr algn="ctr"/>
            <a:r>
              <a:rPr sz="1050" b="1" i="0">
                <a:solidFill>
                  <a:srgbClr val="FFFFFF"/>
                </a:solidFill>
                <a:latin typeface="Calibri"/>
              </a:rPr>
              <a:t>Grounded answer</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Tools &amp; Technology</a:t>
            </a:r>
            <a:endParaRPr b="1">
              <a:solidFill>
                <a:srgbClr val="704EA6"/>
              </a:solidFill>
            </a:endParaRPr>
          </a:p>
        </p:txBody>
      </p:sp>
      <p:sp>
        <p:nvSpPr>
          <p:cNvPr id="126" name="Rounded Rectangle 125"/>
          <p:cNvSpPr/>
          <p:nvPr/>
        </p:nvSpPr>
        <p:spPr>
          <a:xfrm>
            <a:off x="841248" y="1783080"/>
            <a:ext cx="3322320" cy="1965960"/>
          </a:xfrm>
          <a:prstGeom prst="roundRect">
            <a:avLst>
              <a:gd name="adj" fmla="val 5581"/>
            </a:avLst>
          </a:prstGeom>
          <a:solidFill>
            <a:srgbClr val="F4F1FC"/>
          </a:solidFill>
          <a:ln>
            <a:noFill/>
          </a:ln>
        </p:spPr>
        <p:txBody>
          <a:bodyPr rtlCol="0" anchor="ctr"/>
          <a:lstStyle/>
          <a:p>
            <a:pPr algn="ctr"/>
          </a:p>
        </p:txBody>
      </p:sp>
      <p:sp>
        <p:nvSpPr>
          <p:cNvPr id="127" name="TextBox 126"/>
          <p:cNvSpPr txBox="1"/>
          <p:nvPr/>
        </p:nvSpPr>
        <p:spPr>
          <a:xfrm>
            <a:off x="1042416" y="1947672"/>
            <a:ext cx="2956560" cy="256032"/>
          </a:xfrm>
          <a:prstGeom prst="rect">
            <a:avLst/>
          </a:prstGeom>
          <a:noFill/>
        </p:spPr>
        <p:txBody>
          <a:bodyPr wrap="square" lIns="0" rIns="0" tIns="0" bIns="0" anchor="t">
            <a:noAutofit/>
          </a:bodyPr>
          <a:lstStyle/>
          <a:p>
            <a:pPr algn="l"/>
            <a:r>
              <a:rPr sz="1100" b="1" i="0" spc="150">
                <a:solidFill>
                  <a:srgbClr val="6D28D9"/>
                </a:solidFill>
                <a:latin typeface="Calibri"/>
              </a:rPr>
              <a:t>STREAMING &amp; API</a:t>
            </a:r>
          </a:p>
        </p:txBody>
      </p:sp>
      <p:sp>
        <p:nvSpPr>
          <p:cNvPr id="128" name="TextBox 127"/>
          <p:cNvSpPr txBox="1"/>
          <p:nvPr/>
        </p:nvSpPr>
        <p:spPr>
          <a:xfrm>
            <a:off x="1042416" y="2258568"/>
            <a:ext cx="2956560" cy="1417319"/>
          </a:xfrm>
          <a:prstGeom prst="rect">
            <a:avLst/>
          </a:prstGeom>
          <a:noFill/>
        </p:spPr>
        <p:txBody>
          <a:bodyPr wrap="square" lIns="0" rIns="0" tIns="0" bIns="0" anchor="t">
            <a:noAutofit/>
          </a:bodyPr>
          <a:lstStyle/>
          <a:p>
            <a:pPr algn="l">
              <a:lnSpc>
                <a:spcPct val="95000"/>
              </a:lnSpc>
              <a:spcAft>
                <a:spcPts val="500"/>
              </a:spcAft>
            </a:pPr>
            <a:r>
              <a:rPr sz="1250" b="1" i="0">
                <a:solidFill>
                  <a:srgbClr val="14142B"/>
                </a:solidFill>
                <a:latin typeface="Calibri"/>
              </a:rPr>
              <a:t>FastAPI + Uvicorn</a:t>
            </a:r>
            <a:r>
              <a:rPr sz="1100" b="0" i="0">
                <a:solidFill>
                  <a:srgbClr val="63637E"/>
                </a:solidFill>
                <a:latin typeface="Calibri"/>
              </a:rPr>
              <a:t>  async API server</a:t>
            </a:r>
          </a:p>
          <a:p>
            <a:pPr algn="l">
              <a:lnSpc>
                <a:spcPct val="95000"/>
              </a:lnSpc>
              <a:spcAft>
                <a:spcPts val="500"/>
              </a:spcAft>
            </a:pPr>
            <a:r>
              <a:rPr sz="1250" b="1" i="0">
                <a:solidFill>
                  <a:srgbClr val="14142B"/>
                </a:solidFill>
                <a:latin typeface="Calibri"/>
              </a:rPr>
              <a:t>Server-Sent Events</a:t>
            </a:r>
            <a:r>
              <a:rPr sz="1100" b="0" i="0">
                <a:solidFill>
                  <a:srgbClr val="63637E"/>
                </a:solidFill>
                <a:latin typeface="Calibri"/>
              </a:rPr>
              <a:t>  live event stream</a:t>
            </a:r>
          </a:p>
          <a:p>
            <a:pPr algn="l">
              <a:lnSpc>
                <a:spcPct val="95000"/>
              </a:lnSpc>
              <a:spcAft>
                <a:spcPts val="500"/>
              </a:spcAft>
            </a:pPr>
            <a:r>
              <a:rPr sz="1250" b="1" i="0">
                <a:solidFill>
                  <a:srgbClr val="14142B"/>
                </a:solidFill>
                <a:latin typeface="Calibri"/>
              </a:rPr>
              <a:t>asyncio</a:t>
            </a:r>
            <a:r>
              <a:rPr sz="1100" b="0" i="0">
                <a:solidFill>
                  <a:srgbClr val="63637E"/>
                </a:solidFill>
                <a:latin typeface="Calibri"/>
              </a:rPr>
              <a:t>  parallel sub-query retrieval</a:t>
            </a:r>
          </a:p>
          <a:p>
            <a:pPr algn="l">
              <a:lnSpc>
                <a:spcPct val="95000"/>
              </a:lnSpc>
              <a:spcAft>
                <a:spcPts val="500"/>
              </a:spcAft>
            </a:pPr>
            <a:r>
              <a:rPr sz="1250" b="1" i="0">
                <a:solidFill>
                  <a:srgbClr val="14142B"/>
                </a:solidFill>
                <a:latin typeface="Calibri"/>
              </a:rPr>
              <a:t>Pydantic</a:t>
            </a:r>
            <a:r>
              <a:rPr sz="1100" b="0" i="0">
                <a:solidFill>
                  <a:srgbClr val="63637E"/>
                </a:solidFill>
                <a:latin typeface="Calibri"/>
              </a:rPr>
              <a:t>  request / response models</a:t>
            </a:r>
          </a:p>
        </p:txBody>
      </p:sp>
      <p:sp>
        <p:nvSpPr>
          <p:cNvPr id="129" name="Rounded Rectangle 128"/>
          <p:cNvSpPr/>
          <p:nvPr/>
        </p:nvSpPr>
        <p:spPr>
          <a:xfrm>
            <a:off x="4437888" y="1783080"/>
            <a:ext cx="3322320" cy="1965960"/>
          </a:xfrm>
          <a:prstGeom prst="roundRect">
            <a:avLst>
              <a:gd name="adj" fmla="val 5581"/>
            </a:avLst>
          </a:prstGeom>
          <a:solidFill>
            <a:srgbClr val="F3F3F7"/>
          </a:solidFill>
          <a:ln>
            <a:noFill/>
          </a:ln>
        </p:spPr>
        <p:txBody>
          <a:bodyPr rtlCol="0" anchor="ctr"/>
          <a:lstStyle/>
          <a:p>
            <a:pPr algn="ctr"/>
          </a:p>
        </p:txBody>
      </p:sp>
      <p:sp>
        <p:nvSpPr>
          <p:cNvPr id="130" name="TextBox 129"/>
          <p:cNvSpPr txBox="1"/>
          <p:nvPr/>
        </p:nvSpPr>
        <p:spPr>
          <a:xfrm>
            <a:off x="4639056" y="1947672"/>
            <a:ext cx="2956560" cy="256032"/>
          </a:xfrm>
          <a:prstGeom prst="rect">
            <a:avLst/>
          </a:prstGeom>
          <a:noFill/>
        </p:spPr>
        <p:txBody>
          <a:bodyPr wrap="square" lIns="0" rIns="0" tIns="0" bIns="0" anchor="t">
            <a:noAutofit/>
          </a:bodyPr>
          <a:lstStyle/>
          <a:p>
            <a:pPr algn="l"/>
            <a:r>
              <a:rPr sz="1100" b="1" i="0" spc="150">
                <a:solidFill>
                  <a:srgbClr val="6D28D9"/>
                </a:solidFill>
                <a:latin typeface="Calibri"/>
              </a:rPr>
              <a:t>RETRIEVAL &amp; RANKING</a:t>
            </a:r>
          </a:p>
        </p:txBody>
      </p:sp>
      <p:sp>
        <p:nvSpPr>
          <p:cNvPr id="131" name="TextBox 130"/>
          <p:cNvSpPr txBox="1"/>
          <p:nvPr/>
        </p:nvSpPr>
        <p:spPr>
          <a:xfrm>
            <a:off x="4639056" y="2258568"/>
            <a:ext cx="2956560" cy="1417319"/>
          </a:xfrm>
          <a:prstGeom prst="rect">
            <a:avLst/>
          </a:prstGeom>
          <a:noFill/>
        </p:spPr>
        <p:txBody>
          <a:bodyPr wrap="square" lIns="0" rIns="0" tIns="0" bIns="0" anchor="t">
            <a:noAutofit/>
          </a:bodyPr>
          <a:lstStyle/>
          <a:p>
            <a:pPr algn="l">
              <a:lnSpc>
                <a:spcPct val="95000"/>
              </a:lnSpc>
              <a:spcAft>
                <a:spcPts val="500"/>
              </a:spcAft>
            </a:pPr>
            <a:r>
              <a:rPr sz="1250" b="1" i="0">
                <a:solidFill>
                  <a:srgbClr val="14142B"/>
                </a:solidFill>
                <a:latin typeface="Calibri"/>
              </a:rPr>
              <a:t>all-MiniLM-L6-v2</a:t>
            </a:r>
            <a:r>
              <a:rPr sz="1100" b="0" i="0">
                <a:solidFill>
                  <a:srgbClr val="63637E"/>
                </a:solidFill>
                <a:latin typeface="Calibri"/>
              </a:rPr>
              <a:t>  dense embeddings</a:t>
            </a:r>
          </a:p>
          <a:p>
            <a:pPr algn="l">
              <a:lnSpc>
                <a:spcPct val="95000"/>
              </a:lnSpc>
              <a:spcAft>
                <a:spcPts val="500"/>
              </a:spcAft>
            </a:pPr>
            <a:r>
              <a:rPr sz="1250" b="1" i="0">
                <a:solidFill>
                  <a:srgbClr val="14142B"/>
                </a:solidFill>
                <a:latin typeface="Calibri"/>
              </a:rPr>
              <a:t>BM25 (in-house)</a:t>
            </a:r>
            <a:r>
              <a:rPr sz="1100" b="0" i="0">
                <a:solidFill>
                  <a:srgbClr val="63637E"/>
                </a:solidFill>
                <a:latin typeface="Calibri"/>
              </a:rPr>
              <a:t>  sparse retrieval</a:t>
            </a:r>
          </a:p>
          <a:p>
            <a:pPr algn="l">
              <a:lnSpc>
                <a:spcPct val="95000"/>
              </a:lnSpc>
              <a:spcAft>
                <a:spcPts val="500"/>
              </a:spcAft>
            </a:pPr>
            <a:r>
              <a:rPr sz="1250" b="1" i="0">
                <a:solidFill>
                  <a:srgbClr val="14142B"/>
                </a:solidFill>
                <a:latin typeface="Calibri"/>
              </a:rPr>
              <a:t>RRF (in-house, k = 60)</a:t>
            </a:r>
            <a:r>
              <a:rPr sz="1100" b="0" i="0">
                <a:solidFill>
                  <a:srgbClr val="63637E"/>
                </a:solidFill>
                <a:latin typeface="Calibri"/>
              </a:rPr>
              <a:t>  rank fusion</a:t>
            </a:r>
          </a:p>
          <a:p>
            <a:pPr algn="l">
              <a:lnSpc>
                <a:spcPct val="95000"/>
              </a:lnSpc>
              <a:spcAft>
                <a:spcPts val="500"/>
              </a:spcAft>
            </a:pPr>
            <a:r>
              <a:rPr sz="1250" b="1" i="0">
                <a:solidFill>
                  <a:srgbClr val="14142B"/>
                </a:solidFill>
                <a:latin typeface="Calibri"/>
              </a:rPr>
              <a:t>ms-marco-MiniLM-L6-v2</a:t>
            </a:r>
            <a:r>
              <a:rPr sz="1100" b="0" i="0">
                <a:solidFill>
                  <a:srgbClr val="63637E"/>
                </a:solidFill>
                <a:latin typeface="Calibri"/>
              </a:rPr>
              <a:t>  cross-encoder reranker</a:t>
            </a:r>
          </a:p>
        </p:txBody>
      </p:sp>
      <p:sp>
        <p:nvSpPr>
          <p:cNvPr id="132" name="Rounded Rectangle 131"/>
          <p:cNvSpPr/>
          <p:nvPr/>
        </p:nvSpPr>
        <p:spPr>
          <a:xfrm>
            <a:off x="8034528" y="1783080"/>
            <a:ext cx="3322320" cy="1965960"/>
          </a:xfrm>
          <a:prstGeom prst="roundRect">
            <a:avLst>
              <a:gd name="adj" fmla="val 5581"/>
            </a:avLst>
          </a:prstGeom>
          <a:solidFill>
            <a:srgbClr val="F4F1FC"/>
          </a:solidFill>
          <a:ln>
            <a:noFill/>
          </a:ln>
        </p:spPr>
        <p:txBody>
          <a:bodyPr rtlCol="0" anchor="ctr"/>
          <a:lstStyle/>
          <a:p>
            <a:pPr algn="ctr"/>
          </a:p>
        </p:txBody>
      </p:sp>
      <p:sp>
        <p:nvSpPr>
          <p:cNvPr id="133" name="TextBox 132"/>
          <p:cNvSpPr txBox="1"/>
          <p:nvPr/>
        </p:nvSpPr>
        <p:spPr>
          <a:xfrm>
            <a:off x="8235696" y="1947672"/>
            <a:ext cx="2956560" cy="256032"/>
          </a:xfrm>
          <a:prstGeom prst="rect">
            <a:avLst/>
          </a:prstGeom>
          <a:noFill/>
        </p:spPr>
        <p:txBody>
          <a:bodyPr wrap="square" lIns="0" rIns="0" tIns="0" bIns="0" anchor="t">
            <a:noAutofit/>
          </a:bodyPr>
          <a:lstStyle/>
          <a:p>
            <a:pPr algn="l"/>
            <a:r>
              <a:rPr sz="1100" b="1" i="0" spc="150">
                <a:solidFill>
                  <a:srgbClr val="6D28D9"/>
                </a:solidFill>
                <a:latin typeface="Calibri"/>
              </a:rPr>
              <a:t>MODELS &amp; PROCESSING</a:t>
            </a:r>
          </a:p>
        </p:txBody>
      </p:sp>
      <p:sp>
        <p:nvSpPr>
          <p:cNvPr id="134" name="TextBox 133"/>
          <p:cNvSpPr txBox="1"/>
          <p:nvPr/>
        </p:nvSpPr>
        <p:spPr>
          <a:xfrm>
            <a:off x="8235696" y="2258568"/>
            <a:ext cx="2956560" cy="1417319"/>
          </a:xfrm>
          <a:prstGeom prst="rect">
            <a:avLst/>
          </a:prstGeom>
          <a:noFill/>
        </p:spPr>
        <p:txBody>
          <a:bodyPr wrap="square" lIns="0" rIns="0" tIns="0" bIns="0" anchor="t">
            <a:noAutofit/>
          </a:bodyPr>
          <a:lstStyle/>
          <a:p>
            <a:pPr algn="l">
              <a:lnSpc>
                <a:spcPct val="95000"/>
              </a:lnSpc>
              <a:spcAft>
                <a:spcPts val="500"/>
              </a:spcAft>
            </a:pPr>
            <a:r>
              <a:rPr sz="1250" b="1" i="0">
                <a:solidFill>
                  <a:srgbClr val="14142B"/>
                </a:solidFill>
                <a:latin typeface="Calibri"/>
              </a:rPr>
              <a:t>Python 3.13 · NumPy</a:t>
            </a:r>
            <a:r>
              <a:rPr sz="1100" b="0" i="0">
                <a:solidFill>
                  <a:srgbClr val="63637E"/>
                </a:solidFill>
                <a:latin typeface="Calibri"/>
              </a:rPr>
              <a:t>  core pipeline</a:t>
            </a:r>
          </a:p>
          <a:p>
            <a:pPr algn="l">
              <a:lnSpc>
                <a:spcPct val="95000"/>
              </a:lnSpc>
              <a:spcAft>
                <a:spcPts val="500"/>
              </a:spcAft>
            </a:pPr>
            <a:r>
              <a:rPr sz="1250" b="1" i="0">
                <a:solidFill>
                  <a:srgbClr val="14142B"/>
                </a:solidFill>
                <a:latin typeface="Calibri"/>
              </a:rPr>
              <a:t>PyTorch (CPU) + HF transformers</a:t>
            </a:r>
            <a:r>
              <a:rPr sz="1100" b="0" i="0">
                <a:solidFill>
                  <a:srgbClr val="63637E"/>
                </a:solidFill>
                <a:latin typeface="Calibri"/>
              </a:rPr>
              <a:t>  model inference</a:t>
            </a:r>
          </a:p>
          <a:p>
            <a:pPr algn="l">
              <a:lnSpc>
                <a:spcPct val="95000"/>
              </a:lnSpc>
              <a:spcAft>
                <a:spcPts val="500"/>
              </a:spcAft>
            </a:pPr>
            <a:r>
              <a:rPr sz="1250" b="1" i="0">
                <a:solidFill>
                  <a:srgbClr val="14142B"/>
                </a:solidFill>
                <a:latin typeface="Calibri"/>
              </a:rPr>
              <a:t>scikit-learn</a:t>
            </a:r>
            <a:r>
              <a:rPr sz="1100" b="0" i="0">
                <a:solidFill>
                  <a:srgbClr val="63637E"/>
                </a:solidFill>
                <a:latin typeface="Calibri"/>
              </a:rPr>
              <a:t>  logistic regressions: controller, abstention gate</a:t>
            </a:r>
          </a:p>
        </p:txBody>
      </p:sp>
      <p:sp>
        <p:nvSpPr>
          <p:cNvPr id="135" name="Rounded Rectangle 134"/>
          <p:cNvSpPr/>
          <p:nvPr/>
        </p:nvSpPr>
        <p:spPr>
          <a:xfrm>
            <a:off x="841248" y="3977639"/>
            <a:ext cx="3322320" cy="1965960"/>
          </a:xfrm>
          <a:prstGeom prst="roundRect">
            <a:avLst>
              <a:gd name="adj" fmla="val 5581"/>
            </a:avLst>
          </a:prstGeom>
          <a:solidFill>
            <a:srgbClr val="F3F3F7"/>
          </a:solidFill>
          <a:ln>
            <a:noFill/>
          </a:ln>
        </p:spPr>
        <p:txBody>
          <a:bodyPr rtlCol="0" anchor="ctr"/>
          <a:lstStyle/>
          <a:p>
            <a:pPr algn="ctr"/>
          </a:p>
        </p:txBody>
      </p:sp>
      <p:sp>
        <p:nvSpPr>
          <p:cNvPr id="136" name="TextBox 135"/>
          <p:cNvSpPr txBox="1"/>
          <p:nvPr/>
        </p:nvSpPr>
        <p:spPr>
          <a:xfrm>
            <a:off x="1042416" y="4142231"/>
            <a:ext cx="2956560" cy="256032"/>
          </a:xfrm>
          <a:prstGeom prst="rect">
            <a:avLst/>
          </a:prstGeom>
          <a:noFill/>
        </p:spPr>
        <p:txBody>
          <a:bodyPr wrap="square" lIns="0" rIns="0" tIns="0" bIns="0" anchor="t">
            <a:noAutofit/>
          </a:bodyPr>
          <a:lstStyle/>
          <a:p>
            <a:pPr algn="l"/>
            <a:r>
              <a:rPr sz="1100" b="1" i="0" spc="150">
                <a:solidFill>
                  <a:srgbClr val="6D28D9"/>
                </a:solidFill>
                <a:latin typeface="Calibri"/>
              </a:rPr>
              <a:t>FRONTEND</a:t>
            </a:r>
          </a:p>
        </p:txBody>
      </p:sp>
      <p:sp>
        <p:nvSpPr>
          <p:cNvPr id="137" name="TextBox 136"/>
          <p:cNvSpPr txBox="1"/>
          <p:nvPr/>
        </p:nvSpPr>
        <p:spPr>
          <a:xfrm>
            <a:off x="1042416" y="4453127"/>
            <a:ext cx="2956560" cy="1417319"/>
          </a:xfrm>
          <a:prstGeom prst="rect">
            <a:avLst/>
          </a:prstGeom>
          <a:noFill/>
        </p:spPr>
        <p:txBody>
          <a:bodyPr wrap="square" lIns="0" rIns="0" tIns="0" bIns="0" anchor="t">
            <a:noAutofit/>
          </a:bodyPr>
          <a:lstStyle/>
          <a:p>
            <a:pPr algn="l">
              <a:lnSpc>
                <a:spcPct val="95000"/>
              </a:lnSpc>
              <a:spcAft>
                <a:spcPts val="500"/>
              </a:spcAft>
            </a:pPr>
            <a:r>
              <a:rPr sz="1250" b="1" i="0">
                <a:solidFill>
                  <a:srgbClr val="14142B"/>
                </a:solidFill>
                <a:latin typeface="Calibri"/>
              </a:rPr>
              <a:t>HTML · CSS · vanilla JavaScript</a:t>
            </a:r>
            <a:r>
              <a:rPr sz="1100" b="0" i="0">
                <a:solidFill>
                  <a:srgbClr val="63637E"/>
                </a:solidFill>
                <a:latin typeface="Calibri"/>
              </a:rPr>
              <a:t>  live dashboard, no framework</a:t>
            </a:r>
          </a:p>
          <a:p>
            <a:pPr algn="l">
              <a:lnSpc>
                <a:spcPct val="95000"/>
              </a:lnSpc>
              <a:spcAft>
                <a:spcPts val="500"/>
              </a:spcAft>
            </a:pPr>
            <a:r>
              <a:rPr sz="1250" b="1" i="0">
                <a:solidFill>
                  <a:srgbClr val="14142B"/>
                </a:solidFill>
                <a:latin typeface="Calibri"/>
              </a:rPr>
              <a:t>fetch stream reader</a:t>
            </a:r>
            <a:r>
              <a:rPr sz="1100" b="0" i="0">
                <a:solidFill>
                  <a:srgbClr val="63637E"/>
                </a:solidFill>
                <a:latin typeface="Calibri"/>
              </a:rPr>
              <a:t>  consumes the SSE event stream</a:t>
            </a:r>
          </a:p>
        </p:txBody>
      </p:sp>
      <p:sp>
        <p:nvSpPr>
          <p:cNvPr id="138" name="Rounded Rectangle 137"/>
          <p:cNvSpPr/>
          <p:nvPr/>
        </p:nvSpPr>
        <p:spPr>
          <a:xfrm>
            <a:off x="4437888" y="3977639"/>
            <a:ext cx="3322320" cy="1965960"/>
          </a:xfrm>
          <a:prstGeom prst="roundRect">
            <a:avLst>
              <a:gd name="adj" fmla="val 5581"/>
            </a:avLst>
          </a:prstGeom>
          <a:solidFill>
            <a:srgbClr val="F4F1FC"/>
          </a:solidFill>
          <a:ln>
            <a:noFill/>
          </a:ln>
        </p:spPr>
        <p:txBody>
          <a:bodyPr rtlCol="0" anchor="ctr"/>
          <a:lstStyle/>
          <a:p>
            <a:pPr algn="ctr"/>
          </a:p>
        </p:txBody>
      </p:sp>
      <p:sp>
        <p:nvSpPr>
          <p:cNvPr id="139" name="TextBox 138"/>
          <p:cNvSpPr txBox="1"/>
          <p:nvPr/>
        </p:nvSpPr>
        <p:spPr>
          <a:xfrm>
            <a:off x="4639056" y="4142231"/>
            <a:ext cx="2956560" cy="256032"/>
          </a:xfrm>
          <a:prstGeom prst="rect">
            <a:avLst/>
          </a:prstGeom>
          <a:noFill/>
        </p:spPr>
        <p:txBody>
          <a:bodyPr wrap="square" lIns="0" rIns="0" tIns="0" bIns="0" anchor="t">
            <a:noAutofit/>
          </a:bodyPr>
          <a:lstStyle/>
          <a:p>
            <a:pPr algn="l"/>
            <a:r>
              <a:rPr sz="1100" b="1" i="0" spc="150">
                <a:solidFill>
                  <a:srgbClr val="6D28D9"/>
                </a:solidFill>
                <a:latin typeface="Calibri"/>
              </a:rPr>
              <a:t>TESTING &amp; EVALUATION</a:t>
            </a:r>
          </a:p>
        </p:txBody>
      </p:sp>
      <p:sp>
        <p:nvSpPr>
          <p:cNvPr id="140" name="TextBox 139"/>
          <p:cNvSpPr txBox="1"/>
          <p:nvPr/>
        </p:nvSpPr>
        <p:spPr>
          <a:xfrm>
            <a:off x="4639056" y="4453127"/>
            <a:ext cx="2956560" cy="1417319"/>
          </a:xfrm>
          <a:prstGeom prst="rect">
            <a:avLst/>
          </a:prstGeom>
          <a:noFill/>
        </p:spPr>
        <p:txBody>
          <a:bodyPr wrap="square" lIns="0" rIns="0" tIns="0" bIns="0" anchor="t">
            <a:noAutofit/>
          </a:bodyPr>
          <a:lstStyle/>
          <a:p>
            <a:pPr algn="l">
              <a:lnSpc>
                <a:spcPct val="95000"/>
              </a:lnSpc>
              <a:spcAft>
                <a:spcPts val="500"/>
              </a:spcAft>
            </a:pPr>
            <a:r>
              <a:rPr sz="1250" b="1" i="0">
                <a:solidFill>
                  <a:srgbClr val="14142B"/>
                </a:solidFill>
                <a:latin typeface="Calibri"/>
              </a:rPr>
              <a:t>pytest</a:t>
            </a:r>
            <a:r>
              <a:rPr sz="1100" b="0" i="0">
                <a:solidFill>
                  <a:srgbClr val="63637E"/>
                </a:solidFill>
                <a:latin typeface="Calibri"/>
              </a:rPr>
              <a:t>  61 tests: 60 pass, 1 strict expected failure</a:t>
            </a:r>
          </a:p>
          <a:p>
            <a:pPr algn="l">
              <a:lnSpc>
                <a:spcPct val="95000"/>
              </a:lnSpc>
              <a:spcAft>
                <a:spcPts val="500"/>
              </a:spcAft>
            </a:pPr>
            <a:r>
              <a:rPr sz="1250" b="1" i="0">
                <a:solidFill>
                  <a:srgbClr val="14142B"/>
                </a:solidFill>
                <a:latin typeface="Calibri"/>
              </a:rPr>
              <a:t>benchmark + report scripts</a:t>
            </a:r>
            <a:r>
              <a:rPr sz="1100" b="0" i="0">
                <a:solidFill>
                  <a:srgbClr val="63637E"/>
                </a:solidFill>
                <a:latin typeface="Calibri"/>
              </a:rPr>
              <a:t>  held-out evaluation, gates</a:t>
            </a:r>
          </a:p>
          <a:p>
            <a:pPr algn="l">
              <a:lnSpc>
                <a:spcPct val="95000"/>
              </a:lnSpc>
              <a:spcAft>
                <a:spcPts val="500"/>
              </a:spcAft>
            </a:pPr>
            <a:r>
              <a:rPr sz="1250" b="1" i="0">
                <a:solidFill>
                  <a:srgbClr val="14142B"/>
                </a:solidFill>
                <a:latin typeface="Calibri"/>
              </a:rPr>
              <a:t>matplotlib · JSONL</a:t>
            </a:r>
            <a:r>
              <a:rPr sz="1100" b="0" i="0">
                <a:solidFill>
                  <a:srgbClr val="63637E"/>
                </a:solidFill>
                <a:latin typeface="Calibri"/>
              </a:rPr>
              <a:t>  plots · telemetry export</a:t>
            </a:r>
          </a:p>
        </p:txBody>
      </p:sp>
      <p:sp>
        <p:nvSpPr>
          <p:cNvPr id="141" name="Rounded Rectangle 140"/>
          <p:cNvSpPr/>
          <p:nvPr/>
        </p:nvSpPr>
        <p:spPr>
          <a:xfrm>
            <a:off x="8034528" y="3977639"/>
            <a:ext cx="3322320" cy="1965960"/>
          </a:xfrm>
          <a:prstGeom prst="roundRect">
            <a:avLst>
              <a:gd name="adj" fmla="val 5581"/>
            </a:avLst>
          </a:prstGeom>
          <a:solidFill>
            <a:srgbClr val="F3F3F7"/>
          </a:solidFill>
          <a:ln>
            <a:noFill/>
          </a:ln>
        </p:spPr>
        <p:txBody>
          <a:bodyPr rtlCol="0" anchor="ctr"/>
          <a:lstStyle/>
          <a:p>
            <a:pPr algn="ctr"/>
          </a:p>
        </p:txBody>
      </p:sp>
      <p:sp>
        <p:nvSpPr>
          <p:cNvPr id="142" name="TextBox 141"/>
          <p:cNvSpPr txBox="1"/>
          <p:nvPr/>
        </p:nvSpPr>
        <p:spPr>
          <a:xfrm>
            <a:off x="8235696" y="4142231"/>
            <a:ext cx="2956560" cy="256032"/>
          </a:xfrm>
          <a:prstGeom prst="rect">
            <a:avLst/>
          </a:prstGeom>
          <a:noFill/>
        </p:spPr>
        <p:txBody>
          <a:bodyPr wrap="square" lIns="0" rIns="0" tIns="0" bIns="0" anchor="t">
            <a:noAutofit/>
          </a:bodyPr>
          <a:lstStyle/>
          <a:p>
            <a:pPr algn="l"/>
            <a:r>
              <a:rPr sz="1100" b="1" i="0" spc="150">
                <a:solidFill>
                  <a:srgbClr val="6D28D9"/>
                </a:solidFill>
                <a:latin typeface="Calibri"/>
              </a:rPr>
              <a:t>DEPLOYMENT</a:t>
            </a:r>
          </a:p>
        </p:txBody>
      </p:sp>
      <p:sp>
        <p:nvSpPr>
          <p:cNvPr id="143" name="TextBox 142"/>
          <p:cNvSpPr txBox="1"/>
          <p:nvPr/>
        </p:nvSpPr>
        <p:spPr>
          <a:xfrm>
            <a:off x="8235696" y="4453127"/>
            <a:ext cx="2956560" cy="1417319"/>
          </a:xfrm>
          <a:prstGeom prst="rect">
            <a:avLst/>
          </a:prstGeom>
          <a:noFill/>
        </p:spPr>
        <p:txBody>
          <a:bodyPr wrap="square" lIns="0" rIns="0" tIns="0" bIns="0" anchor="t">
            <a:noAutofit/>
          </a:bodyPr>
          <a:lstStyle/>
          <a:p>
            <a:pPr algn="l">
              <a:lnSpc>
                <a:spcPct val="95000"/>
              </a:lnSpc>
              <a:spcAft>
                <a:spcPts val="500"/>
              </a:spcAft>
            </a:pPr>
            <a:r>
              <a:rPr sz="1250" b="1" i="0">
                <a:solidFill>
                  <a:srgbClr val="14142B"/>
                </a:solidFill>
                <a:latin typeface="Calibri"/>
              </a:rPr>
              <a:t>Docker</a:t>
            </a:r>
            <a:r>
              <a:rPr sz="1100" b="0" i="0">
                <a:solidFill>
                  <a:srgbClr val="63637E"/>
                </a:solidFill>
                <a:latin typeface="Calibri"/>
              </a:rPr>
              <a:t>  CPU-only image</a:t>
            </a:r>
          </a:p>
          <a:p>
            <a:pPr algn="l">
              <a:lnSpc>
                <a:spcPct val="95000"/>
              </a:lnSpc>
              <a:spcAft>
                <a:spcPts val="500"/>
              </a:spcAft>
            </a:pPr>
            <a:r>
              <a:rPr sz="1250" b="1" i="0">
                <a:solidFill>
                  <a:srgbClr val="14142B"/>
                </a:solidFill>
                <a:latin typeface="Calibri"/>
              </a:rPr>
              <a:t>Docker Compose</a:t>
            </a:r>
            <a:r>
              <a:rPr sz="1100" b="0" i="0">
                <a:solidFill>
                  <a:srgbClr val="63637E"/>
                </a:solidFill>
                <a:latin typeface="Calibri"/>
              </a:rPr>
              <a:t>  app · tests · benchmark profiles</a:t>
            </a:r>
          </a:p>
        </p:txBody>
      </p:sp>
      <p:sp>
        <p:nvSpPr>
          <p:cNvPr id="144" name="TextBox 143"/>
          <p:cNvSpPr txBox="1"/>
          <p:nvPr/>
        </p:nvSpPr>
        <p:spPr>
          <a:xfrm>
            <a:off x="841248" y="6062472"/>
            <a:ext cx="10515600" cy="256032"/>
          </a:xfrm>
          <a:prstGeom prst="rect">
            <a:avLst/>
          </a:prstGeom>
          <a:noFill/>
        </p:spPr>
        <p:txBody>
          <a:bodyPr wrap="square" lIns="0" rIns="0" tIns="0" bIns="0" anchor="t">
            <a:noAutofit/>
          </a:bodyPr>
          <a:lstStyle/>
          <a:p>
            <a:pPr algn="l"/>
            <a:r>
              <a:rPr sz="1150" b="1" i="0">
                <a:solidFill>
                  <a:srgbClr val="6D28D9"/>
                </a:solidFill>
                <a:latin typeface="Calibri"/>
              </a:rPr>
              <a:t>No LLM calls by default  </a:t>
            </a:r>
            <a:r>
              <a:rPr sz="1150" b="0" i="0">
                <a:solidFill>
                  <a:srgbClr val="63637E"/>
                </a:solidFill>
                <a:latin typeface="Calibri"/>
              </a:rPr>
              <a:t>answers are extracted from the corpus; LLM cost per turn $0; runs entirely on CPU</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Impact &amp; Use Cases</a:t>
            </a:r>
            <a:endParaRPr b="1">
              <a:solidFill>
                <a:srgbClr val="704EA6"/>
              </a:solidFill>
            </a:endParaRPr>
          </a:p>
        </p:txBody>
      </p:sp>
      <p:sp>
        <p:nvSpPr>
          <p:cNvPr id="132" name="TextBox 131"/>
          <p:cNvSpPr txBox="1"/>
          <p:nvPr/>
        </p:nvSpPr>
        <p:spPr>
          <a:xfrm>
            <a:off x="841248" y="1737360"/>
            <a:ext cx="4572000" cy="256032"/>
          </a:xfrm>
          <a:prstGeom prst="rect">
            <a:avLst/>
          </a:prstGeom>
          <a:noFill/>
        </p:spPr>
        <p:txBody>
          <a:bodyPr wrap="square" lIns="0" rIns="0" tIns="0" bIns="0" anchor="t">
            <a:noAutofit/>
          </a:bodyPr>
          <a:lstStyle/>
          <a:p>
            <a:pPr algn="l"/>
            <a:r>
              <a:rPr sz="1100" b="1" i="0" spc="150">
                <a:solidFill>
                  <a:srgbClr val="6D28D9"/>
                </a:solidFill>
                <a:latin typeface="Calibri"/>
              </a:rPr>
              <a:t>POTENTIAL USE CASES</a:t>
            </a:r>
          </a:p>
        </p:txBody>
      </p:sp>
      <p:sp>
        <p:nvSpPr>
          <p:cNvPr id="133" name="Rounded Rectangle 132"/>
          <p:cNvSpPr/>
          <p:nvPr/>
        </p:nvSpPr>
        <p:spPr>
          <a:xfrm>
            <a:off x="841248" y="2157984"/>
            <a:ext cx="420624" cy="420624"/>
          </a:xfrm>
          <a:prstGeom prst="roundRect">
            <a:avLst>
              <a:gd name="adj" fmla="val 21739"/>
            </a:avLst>
          </a:prstGeom>
          <a:solidFill>
            <a:srgbClr val="F4F1FC"/>
          </a:solidFill>
          <a:ln>
            <a:noFill/>
          </a:ln>
        </p:spPr>
        <p:txBody>
          <a:bodyPr rtlCol="0" anchor="ctr" wrap="square" lIns="36576" rIns="36576" tIns="36576" bIns="36576">
            <a:noAutofit/>
          </a:bodyPr>
          <a:lstStyle/>
          <a:p>
            <a:pPr algn="ctr"/>
            <a:r>
              <a:rPr sz="1300" b="1" i="0">
                <a:solidFill>
                  <a:srgbClr val="6D28D9"/>
                </a:solidFill>
                <a:latin typeface="Calibri"/>
              </a:rPr>
              <a:t>A</a:t>
            </a:r>
          </a:p>
        </p:txBody>
      </p:sp>
      <p:sp>
        <p:nvSpPr>
          <p:cNvPr id="134" name="TextBox 133"/>
          <p:cNvSpPr txBox="1"/>
          <p:nvPr/>
        </p:nvSpPr>
        <p:spPr>
          <a:xfrm>
            <a:off x="1408176" y="2084831"/>
            <a:ext cx="4389120" cy="603504"/>
          </a:xfrm>
          <a:prstGeom prst="rect">
            <a:avLst/>
          </a:prstGeom>
          <a:noFill/>
        </p:spPr>
        <p:txBody>
          <a:bodyPr wrap="square" lIns="0" rIns="0" tIns="0" bIns="0" anchor="ctr">
            <a:noAutofit/>
          </a:bodyPr>
          <a:lstStyle/>
          <a:p>
            <a:pPr algn="l"/>
            <a:r>
              <a:rPr sz="1400" b="1" i="0">
                <a:solidFill>
                  <a:srgbClr val="14142B"/>
                </a:solidFill>
                <a:latin typeface="Calibri"/>
              </a:rPr>
              <a:t>Voice &amp; conversational assistants</a:t>
            </a:r>
          </a:p>
          <a:p>
            <a:pPr algn="l"/>
            <a:r>
              <a:rPr sz="1150" b="0" i="0">
                <a:solidFill>
                  <a:srgbClr val="63637E"/>
                </a:solidFill>
                <a:latin typeface="Calibri"/>
              </a:rPr>
              <a:t>retrieval starts while the user is still talking</a:t>
            </a:r>
          </a:p>
        </p:txBody>
      </p:sp>
      <p:sp>
        <p:nvSpPr>
          <p:cNvPr id="135" name="Rounded Rectangle 134"/>
          <p:cNvSpPr/>
          <p:nvPr/>
        </p:nvSpPr>
        <p:spPr>
          <a:xfrm>
            <a:off x="841248" y="2889504"/>
            <a:ext cx="420624" cy="420624"/>
          </a:xfrm>
          <a:prstGeom prst="roundRect">
            <a:avLst>
              <a:gd name="adj" fmla="val 21739"/>
            </a:avLst>
          </a:prstGeom>
          <a:solidFill>
            <a:srgbClr val="F4F1FC"/>
          </a:solidFill>
          <a:ln>
            <a:noFill/>
          </a:ln>
        </p:spPr>
        <p:txBody>
          <a:bodyPr rtlCol="0" anchor="ctr" wrap="square" lIns="36576" rIns="36576" tIns="36576" bIns="36576">
            <a:noAutofit/>
          </a:bodyPr>
          <a:lstStyle/>
          <a:p>
            <a:pPr algn="ctr"/>
            <a:r>
              <a:rPr sz="1300" b="1" i="0">
                <a:solidFill>
                  <a:srgbClr val="6D28D9"/>
                </a:solidFill>
                <a:latin typeface="Calibri"/>
              </a:rPr>
              <a:t>B</a:t>
            </a:r>
          </a:p>
        </p:txBody>
      </p:sp>
      <p:sp>
        <p:nvSpPr>
          <p:cNvPr id="136" name="TextBox 135"/>
          <p:cNvSpPr txBox="1"/>
          <p:nvPr/>
        </p:nvSpPr>
        <p:spPr>
          <a:xfrm>
            <a:off x="1408176" y="2816352"/>
            <a:ext cx="4389120" cy="603504"/>
          </a:xfrm>
          <a:prstGeom prst="rect">
            <a:avLst/>
          </a:prstGeom>
          <a:noFill/>
        </p:spPr>
        <p:txBody>
          <a:bodyPr wrap="square" lIns="0" rIns="0" tIns="0" bIns="0" anchor="ctr">
            <a:noAutofit/>
          </a:bodyPr>
          <a:lstStyle/>
          <a:p>
            <a:pPr algn="l"/>
            <a:r>
              <a:rPr sz="1400" b="1" i="0">
                <a:solidFill>
                  <a:srgbClr val="14142B"/>
                </a:solidFill>
                <a:latin typeface="Calibri"/>
              </a:rPr>
              <a:t>Voice-driven enterprise search</a:t>
            </a:r>
          </a:p>
          <a:p>
            <a:pPr algn="l"/>
            <a:r>
              <a:rPr sz="1150" b="0" i="0">
                <a:solidFill>
                  <a:srgbClr val="63637E"/>
                </a:solidFill>
                <a:latin typeface="Calibri"/>
              </a:rPr>
              <a:t>policies, travel, facilities, HR</a:t>
            </a:r>
          </a:p>
        </p:txBody>
      </p:sp>
      <p:sp>
        <p:nvSpPr>
          <p:cNvPr id="137" name="Rounded Rectangle 136"/>
          <p:cNvSpPr/>
          <p:nvPr/>
        </p:nvSpPr>
        <p:spPr>
          <a:xfrm>
            <a:off x="841248" y="3621024"/>
            <a:ext cx="420624" cy="420624"/>
          </a:xfrm>
          <a:prstGeom prst="roundRect">
            <a:avLst>
              <a:gd name="adj" fmla="val 21739"/>
            </a:avLst>
          </a:prstGeom>
          <a:solidFill>
            <a:srgbClr val="F4F1FC"/>
          </a:solidFill>
          <a:ln>
            <a:noFill/>
          </a:ln>
        </p:spPr>
        <p:txBody>
          <a:bodyPr rtlCol="0" anchor="ctr" wrap="square" lIns="36576" rIns="36576" tIns="36576" bIns="36576">
            <a:noAutofit/>
          </a:bodyPr>
          <a:lstStyle/>
          <a:p>
            <a:pPr algn="ctr"/>
            <a:r>
              <a:rPr sz="1300" b="1" i="0">
                <a:solidFill>
                  <a:srgbClr val="6D28D9"/>
                </a:solidFill>
                <a:latin typeface="Calibri"/>
              </a:rPr>
              <a:t>C</a:t>
            </a:r>
          </a:p>
        </p:txBody>
      </p:sp>
      <p:sp>
        <p:nvSpPr>
          <p:cNvPr id="138" name="TextBox 137"/>
          <p:cNvSpPr txBox="1"/>
          <p:nvPr/>
        </p:nvSpPr>
        <p:spPr>
          <a:xfrm>
            <a:off x="1408176" y="3547872"/>
            <a:ext cx="4389120" cy="603504"/>
          </a:xfrm>
          <a:prstGeom prst="rect">
            <a:avLst/>
          </a:prstGeom>
          <a:noFill/>
        </p:spPr>
        <p:txBody>
          <a:bodyPr wrap="square" lIns="0" rIns="0" tIns="0" bIns="0" anchor="ctr">
            <a:noAutofit/>
          </a:bodyPr>
          <a:lstStyle/>
          <a:p>
            <a:pPr algn="l"/>
            <a:r>
              <a:rPr sz="1400" b="1" i="0">
                <a:solidFill>
                  <a:srgbClr val="14142B"/>
                </a:solidFill>
                <a:latin typeface="Calibri"/>
              </a:rPr>
              <a:t>Device support &amp; troubleshooting</a:t>
            </a:r>
          </a:p>
          <a:p>
            <a:pPr algn="l"/>
            <a:r>
              <a:rPr sz="1150" b="0" i="0">
                <a:solidFill>
                  <a:srgbClr val="63637E"/>
                </a:solidFill>
                <a:latin typeface="Calibri"/>
              </a:rPr>
              <a:t>multi-part problem descriptions in one breath</a:t>
            </a:r>
          </a:p>
        </p:txBody>
      </p:sp>
      <p:sp>
        <p:nvSpPr>
          <p:cNvPr id="139" name="Rounded Rectangle 138"/>
          <p:cNvSpPr/>
          <p:nvPr/>
        </p:nvSpPr>
        <p:spPr>
          <a:xfrm>
            <a:off x="841248" y="4352544"/>
            <a:ext cx="420624" cy="420624"/>
          </a:xfrm>
          <a:prstGeom prst="roundRect">
            <a:avLst>
              <a:gd name="adj" fmla="val 21739"/>
            </a:avLst>
          </a:prstGeom>
          <a:solidFill>
            <a:srgbClr val="F4F1FC"/>
          </a:solidFill>
          <a:ln>
            <a:noFill/>
          </a:ln>
        </p:spPr>
        <p:txBody>
          <a:bodyPr rtlCol="0" anchor="ctr" wrap="square" lIns="36576" rIns="36576" tIns="36576" bIns="36576">
            <a:noAutofit/>
          </a:bodyPr>
          <a:lstStyle/>
          <a:p>
            <a:pPr algn="ctr"/>
            <a:r>
              <a:rPr sz="1300" b="1" i="0">
                <a:solidFill>
                  <a:srgbClr val="6D28D9"/>
                </a:solidFill>
                <a:latin typeface="Calibri"/>
              </a:rPr>
              <a:t>D</a:t>
            </a:r>
          </a:p>
        </p:txBody>
      </p:sp>
      <p:sp>
        <p:nvSpPr>
          <p:cNvPr id="140" name="TextBox 139"/>
          <p:cNvSpPr txBox="1"/>
          <p:nvPr/>
        </p:nvSpPr>
        <p:spPr>
          <a:xfrm>
            <a:off x="1408176" y="4279392"/>
            <a:ext cx="4389120" cy="603504"/>
          </a:xfrm>
          <a:prstGeom prst="rect">
            <a:avLst/>
          </a:prstGeom>
          <a:noFill/>
        </p:spPr>
        <p:txBody>
          <a:bodyPr wrap="square" lIns="0" rIns="0" tIns="0" bIns="0" anchor="ctr">
            <a:noAutofit/>
          </a:bodyPr>
          <a:lstStyle/>
          <a:p>
            <a:pPr algn="l"/>
            <a:r>
              <a:rPr sz="1400" b="1" i="0">
                <a:solidFill>
                  <a:srgbClr val="14142B"/>
                </a:solidFill>
                <a:latin typeface="Calibri"/>
              </a:rPr>
              <a:t>Enterprise knowledge assistants</a:t>
            </a:r>
          </a:p>
          <a:p>
            <a:pPr algn="l"/>
            <a:r>
              <a:rPr sz="1150" b="0" i="0">
                <a:solidFill>
                  <a:srgbClr val="63637E"/>
                </a:solidFill>
                <a:latin typeface="Calibri"/>
              </a:rPr>
              <a:t>cited answers, or an explicit “not in the documents”</a:t>
            </a:r>
          </a:p>
        </p:txBody>
      </p:sp>
      <p:sp>
        <p:nvSpPr>
          <p:cNvPr id="141" name="Rounded Rectangle 140"/>
          <p:cNvSpPr/>
          <p:nvPr/>
        </p:nvSpPr>
        <p:spPr>
          <a:xfrm>
            <a:off x="841248" y="5084064"/>
            <a:ext cx="420624" cy="420624"/>
          </a:xfrm>
          <a:prstGeom prst="roundRect">
            <a:avLst>
              <a:gd name="adj" fmla="val 21739"/>
            </a:avLst>
          </a:prstGeom>
          <a:solidFill>
            <a:srgbClr val="F4F1FC"/>
          </a:solidFill>
          <a:ln>
            <a:noFill/>
          </a:ln>
        </p:spPr>
        <p:txBody>
          <a:bodyPr rtlCol="0" anchor="ctr" wrap="square" lIns="36576" rIns="36576" tIns="36576" bIns="36576">
            <a:noAutofit/>
          </a:bodyPr>
          <a:lstStyle/>
          <a:p>
            <a:pPr algn="ctr"/>
            <a:r>
              <a:rPr sz="1300" b="1" i="0">
                <a:solidFill>
                  <a:srgbClr val="6D28D9"/>
                </a:solidFill>
                <a:latin typeface="Calibri"/>
              </a:rPr>
              <a:t>E</a:t>
            </a:r>
          </a:p>
        </p:txBody>
      </p:sp>
      <p:sp>
        <p:nvSpPr>
          <p:cNvPr id="142" name="TextBox 141"/>
          <p:cNvSpPr txBox="1"/>
          <p:nvPr/>
        </p:nvSpPr>
        <p:spPr>
          <a:xfrm>
            <a:off x="1408176" y="5010912"/>
            <a:ext cx="4389120" cy="603504"/>
          </a:xfrm>
          <a:prstGeom prst="rect">
            <a:avLst/>
          </a:prstGeom>
          <a:noFill/>
        </p:spPr>
        <p:txBody>
          <a:bodyPr wrap="square" lIns="0" rIns="0" tIns="0" bIns="0" anchor="ctr">
            <a:noAutofit/>
          </a:bodyPr>
          <a:lstStyle/>
          <a:p>
            <a:pPr algn="l"/>
            <a:r>
              <a:rPr sz="1400" b="1" i="0">
                <a:solidFill>
                  <a:srgbClr val="14142B"/>
                </a:solidFill>
                <a:latin typeface="Calibri"/>
              </a:rPr>
              <a:t>Real-time information assistants</a:t>
            </a:r>
          </a:p>
          <a:p>
            <a:pPr algn="l"/>
            <a:r>
              <a:rPr sz="1150" b="0" i="0">
                <a:solidFill>
                  <a:srgbClr val="63637E"/>
                </a:solidFill>
                <a:latin typeface="Calibri"/>
              </a:rPr>
              <a:t>late details refine the answer instead of restarting</a:t>
            </a:r>
          </a:p>
        </p:txBody>
      </p:sp>
      <p:sp>
        <p:nvSpPr>
          <p:cNvPr id="143" name="TextBox 142"/>
          <p:cNvSpPr txBox="1"/>
          <p:nvPr/>
        </p:nvSpPr>
        <p:spPr>
          <a:xfrm>
            <a:off x="841248" y="5760720"/>
            <a:ext cx="5029200" cy="274320"/>
          </a:xfrm>
          <a:prstGeom prst="rect">
            <a:avLst/>
          </a:prstGeom>
          <a:noFill/>
        </p:spPr>
        <p:txBody>
          <a:bodyPr wrap="square" lIns="0" rIns="0" tIns="0" bIns="0" anchor="t">
            <a:noAutofit/>
          </a:bodyPr>
          <a:lstStyle/>
          <a:p>
            <a:pPr algn="l"/>
            <a:r>
              <a:rPr sz="1050" b="0" i="1">
                <a:solidFill>
                  <a:srgbClr val="63637E"/>
                </a:solidFill>
                <a:latin typeface="Calibri"/>
              </a:rPr>
              <a:t>Prototype only: not deployed in production.</a:t>
            </a:r>
          </a:p>
        </p:txBody>
      </p:sp>
      <p:sp>
        <p:nvSpPr>
          <p:cNvPr id="144" name="TextBox 143"/>
          <p:cNvSpPr txBox="1"/>
          <p:nvPr/>
        </p:nvSpPr>
        <p:spPr>
          <a:xfrm>
            <a:off x="6172200" y="1737360"/>
            <a:ext cx="4572000" cy="256032"/>
          </a:xfrm>
          <a:prstGeom prst="rect">
            <a:avLst/>
          </a:prstGeom>
          <a:noFill/>
        </p:spPr>
        <p:txBody>
          <a:bodyPr wrap="square" lIns="0" rIns="0" tIns="0" bIns="0" anchor="t">
            <a:noAutofit/>
          </a:bodyPr>
          <a:lstStyle/>
          <a:p>
            <a:pPr algn="l"/>
            <a:r>
              <a:rPr sz="1100" b="1" i="0" spc="150">
                <a:solidFill>
                  <a:srgbClr val="6D28D9"/>
                </a:solidFill>
                <a:latin typeface="Calibri"/>
              </a:rPr>
              <a:t>WHAT THE ARCHITECTURE CHANGES</a:t>
            </a:r>
          </a:p>
        </p:txBody>
      </p:sp>
      <p:sp>
        <p:nvSpPr>
          <p:cNvPr id="145" name="Rounded Rectangle 144"/>
          <p:cNvSpPr/>
          <p:nvPr/>
        </p:nvSpPr>
        <p:spPr>
          <a:xfrm>
            <a:off x="6172200" y="2084831"/>
            <a:ext cx="2478024" cy="1097280"/>
          </a:xfrm>
          <a:prstGeom prst="roundRect">
            <a:avLst>
              <a:gd name="adj" fmla="val 8333"/>
            </a:avLst>
          </a:prstGeom>
          <a:solidFill>
            <a:srgbClr val="F4F1FC"/>
          </a:solidFill>
          <a:ln>
            <a:noFill/>
          </a:ln>
        </p:spPr>
        <p:txBody>
          <a:bodyPr rtlCol="0" anchor="ctr"/>
          <a:lstStyle/>
          <a:p>
            <a:pPr algn="ctr"/>
          </a:p>
        </p:txBody>
      </p:sp>
      <p:sp>
        <p:nvSpPr>
          <p:cNvPr id="146" name="TextBox 145"/>
          <p:cNvSpPr txBox="1"/>
          <p:nvPr/>
        </p:nvSpPr>
        <p:spPr>
          <a:xfrm>
            <a:off x="6336792" y="2176272"/>
            <a:ext cx="2203704" cy="228600"/>
          </a:xfrm>
          <a:prstGeom prst="rect">
            <a:avLst/>
          </a:prstGeom>
          <a:noFill/>
        </p:spPr>
        <p:txBody>
          <a:bodyPr wrap="square" lIns="0" rIns="0" tIns="0" bIns="0" anchor="t">
            <a:noAutofit/>
          </a:bodyPr>
          <a:lstStyle/>
          <a:p>
            <a:pPr algn="l"/>
            <a:r>
              <a:rPr sz="850" b="1" i="0" spc="80">
                <a:solidFill>
                  <a:srgbClr val="6D28D9"/>
                </a:solidFill>
                <a:latin typeface="Calibri"/>
              </a:rPr>
              <a:t>LOWER PERCEIVED WAIT</a:t>
            </a:r>
          </a:p>
        </p:txBody>
      </p:sp>
      <p:sp>
        <p:nvSpPr>
          <p:cNvPr id="147" name="TextBox 146"/>
          <p:cNvSpPr txBox="1"/>
          <p:nvPr/>
        </p:nvSpPr>
        <p:spPr>
          <a:xfrm>
            <a:off x="6336792" y="2386584"/>
            <a:ext cx="2203704" cy="411480"/>
          </a:xfrm>
          <a:prstGeom prst="rect">
            <a:avLst/>
          </a:prstGeom>
          <a:noFill/>
        </p:spPr>
        <p:txBody>
          <a:bodyPr wrap="square" lIns="0" rIns="0" tIns="0" bIns="0" anchor="t">
            <a:noAutofit/>
          </a:bodyPr>
          <a:lstStyle/>
          <a:p>
            <a:pPr algn="l"/>
            <a:r>
              <a:rPr sz="2200" b="1" i="0">
                <a:solidFill>
                  <a:srgbClr val="14142B"/>
                </a:solidFill>
                <a:latin typeface="Arial"/>
              </a:rPr>
              <a:t>90%</a:t>
            </a:r>
          </a:p>
        </p:txBody>
      </p:sp>
      <p:sp>
        <p:nvSpPr>
          <p:cNvPr id="148" name="TextBox 147"/>
          <p:cNvSpPr txBox="1"/>
          <p:nvPr/>
        </p:nvSpPr>
        <p:spPr>
          <a:xfrm>
            <a:off x="6336792" y="2816352"/>
            <a:ext cx="2203704" cy="347472"/>
          </a:xfrm>
          <a:prstGeom prst="rect">
            <a:avLst/>
          </a:prstGeom>
          <a:noFill/>
        </p:spPr>
        <p:txBody>
          <a:bodyPr wrap="square" lIns="0" rIns="0" tIns="0" bIns="0" anchor="t">
            <a:noAutofit/>
          </a:bodyPr>
          <a:lstStyle/>
          <a:p>
            <a:pPr algn="l">
              <a:lnSpc>
                <a:spcPct val="92000"/>
              </a:lnSpc>
            </a:pPr>
            <a:r>
              <a:rPr sz="1000" b="0" i="0">
                <a:solidFill>
                  <a:srgbClr val="63637E"/>
                </a:solidFill>
                <a:latin typeface="Calibri"/>
              </a:rPr>
              <a:t>turns where retrieval starts before the user finishes</a:t>
            </a:r>
          </a:p>
        </p:txBody>
      </p:sp>
      <p:sp>
        <p:nvSpPr>
          <p:cNvPr id="149" name="Rounded Rectangle 148"/>
          <p:cNvSpPr/>
          <p:nvPr/>
        </p:nvSpPr>
        <p:spPr>
          <a:xfrm>
            <a:off x="8878824" y="2084831"/>
            <a:ext cx="2478024" cy="1097280"/>
          </a:xfrm>
          <a:prstGeom prst="roundRect">
            <a:avLst>
              <a:gd name="adj" fmla="val 8333"/>
            </a:avLst>
          </a:prstGeom>
          <a:solidFill>
            <a:srgbClr val="F4F1FC"/>
          </a:solidFill>
          <a:ln>
            <a:noFill/>
          </a:ln>
        </p:spPr>
        <p:txBody>
          <a:bodyPr rtlCol="0" anchor="ctr"/>
          <a:lstStyle/>
          <a:p>
            <a:pPr algn="ctr"/>
          </a:p>
        </p:txBody>
      </p:sp>
      <p:sp>
        <p:nvSpPr>
          <p:cNvPr id="150" name="TextBox 149"/>
          <p:cNvSpPr txBox="1"/>
          <p:nvPr/>
        </p:nvSpPr>
        <p:spPr>
          <a:xfrm>
            <a:off x="9043416" y="2176272"/>
            <a:ext cx="2203704" cy="228600"/>
          </a:xfrm>
          <a:prstGeom prst="rect">
            <a:avLst/>
          </a:prstGeom>
          <a:noFill/>
        </p:spPr>
        <p:txBody>
          <a:bodyPr wrap="square" lIns="0" rIns="0" tIns="0" bIns="0" anchor="t">
            <a:noAutofit/>
          </a:bodyPr>
          <a:lstStyle/>
          <a:p>
            <a:pPr algn="l"/>
            <a:r>
              <a:rPr sz="850" b="1" i="0" spc="80">
                <a:solidFill>
                  <a:srgbClr val="6D28D9"/>
                </a:solidFill>
                <a:latin typeface="Calibri"/>
              </a:rPr>
              <a:t>SAME PIPELINE</a:t>
            </a:r>
          </a:p>
        </p:txBody>
      </p:sp>
      <p:sp>
        <p:nvSpPr>
          <p:cNvPr id="151" name="TextBox 150"/>
          <p:cNvSpPr txBox="1"/>
          <p:nvPr/>
        </p:nvSpPr>
        <p:spPr>
          <a:xfrm>
            <a:off x="9043416" y="2386584"/>
            <a:ext cx="2203704" cy="411480"/>
          </a:xfrm>
          <a:prstGeom prst="rect">
            <a:avLst/>
          </a:prstGeom>
          <a:noFill/>
        </p:spPr>
        <p:txBody>
          <a:bodyPr wrap="square" lIns="0" rIns="0" tIns="0" bIns="0" anchor="t">
            <a:noAutofit/>
          </a:bodyPr>
          <a:lstStyle/>
          <a:p>
            <a:pPr algn="l"/>
            <a:r>
              <a:rPr sz="2200" b="1" i="0">
                <a:solidFill>
                  <a:srgbClr val="14142B"/>
                </a:solidFill>
                <a:latin typeface="Arial"/>
              </a:rPr>
              <a:t>187 → 21 ms</a:t>
            </a:r>
          </a:p>
        </p:txBody>
      </p:sp>
      <p:sp>
        <p:nvSpPr>
          <p:cNvPr id="152" name="TextBox 151"/>
          <p:cNvSpPr txBox="1"/>
          <p:nvPr/>
        </p:nvSpPr>
        <p:spPr>
          <a:xfrm>
            <a:off x="9043416" y="2816352"/>
            <a:ext cx="2203704" cy="347472"/>
          </a:xfrm>
          <a:prstGeom prst="rect">
            <a:avLst/>
          </a:prstGeom>
          <a:noFill/>
        </p:spPr>
        <p:txBody>
          <a:bodyPr wrap="square" lIns="0" rIns="0" tIns="0" bIns="0" anchor="t">
            <a:noAutofit/>
          </a:bodyPr>
          <a:lstStyle/>
          <a:p>
            <a:pPr algn="l">
              <a:lnSpc>
                <a:spcPct val="92000"/>
              </a:lnSpc>
            </a:pPr>
            <a:r>
              <a:rPr sz="1000" b="0" i="0">
                <a:solidFill>
                  <a:srgbClr val="63637E"/>
                </a:solidFill>
                <a:latin typeface="Calibri"/>
              </a:rPr>
              <a:t>time to first token without → with early retrieval</a:t>
            </a:r>
          </a:p>
        </p:txBody>
      </p:sp>
      <p:sp>
        <p:nvSpPr>
          <p:cNvPr id="153" name="Rounded Rectangle 152"/>
          <p:cNvSpPr/>
          <p:nvPr/>
        </p:nvSpPr>
        <p:spPr>
          <a:xfrm>
            <a:off x="6172200" y="3346703"/>
            <a:ext cx="2478024" cy="1097280"/>
          </a:xfrm>
          <a:prstGeom prst="roundRect">
            <a:avLst>
              <a:gd name="adj" fmla="val 8333"/>
            </a:avLst>
          </a:prstGeom>
          <a:solidFill>
            <a:srgbClr val="F4F1FC"/>
          </a:solidFill>
          <a:ln>
            <a:noFill/>
          </a:ln>
        </p:spPr>
        <p:txBody>
          <a:bodyPr rtlCol="0" anchor="ctr"/>
          <a:lstStyle/>
          <a:p>
            <a:pPr algn="ctr"/>
          </a:p>
        </p:txBody>
      </p:sp>
      <p:sp>
        <p:nvSpPr>
          <p:cNvPr id="154" name="TextBox 153"/>
          <p:cNvSpPr txBox="1"/>
          <p:nvPr/>
        </p:nvSpPr>
        <p:spPr>
          <a:xfrm>
            <a:off x="6336792" y="3438144"/>
            <a:ext cx="2203704" cy="228600"/>
          </a:xfrm>
          <a:prstGeom prst="rect">
            <a:avLst/>
          </a:prstGeom>
          <a:noFill/>
        </p:spPr>
        <p:txBody>
          <a:bodyPr wrap="square" lIns="0" rIns="0" tIns="0" bIns="0" anchor="t">
            <a:noAutofit/>
          </a:bodyPr>
          <a:lstStyle/>
          <a:p>
            <a:pPr algn="l"/>
            <a:r>
              <a:rPr sz="850" b="1" i="0" spc="80">
                <a:solidFill>
                  <a:srgbClr val="6D28D9"/>
                </a:solidFill>
                <a:latin typeface="Calibri"/>
              </a:rPr>
              <a:t>MULTIPLE INTENTS</a:t>
            </a:r>
          </a:p>
        </p:txBody>
      </p:sp>
      <p:sp>
        <p:nvSpPr>
          <p:cNvPr id="155" name="TextBox 154"/>
          <p:cNvSpPr txBox="1"/>
          <p:nvPr/>
        </p:nvSpPr>
        <p:spPr>
          <a:xfrm>
            <a:off x="6336792" y="3648456"/>
            <a:ext cx="2203704" cy="411480"/>
          </a:xfrm>
          <a:prstGeom prst="rect">
            <a:avLst/>
          </a:prstGeom>
          <a:noFill/>
        </p:spPr>
        <p:txBody>
          <a:bodyPr wrap="square" lIns="0" rIns="0" tIns="0" bIns="0" anchor="t">
            <a:noAutofit/>
          </a:bodyPr>
          <a:lstStyle/>
          <a:p>
            <a:pPr algn="l"/>
            <a:r>
              <a:rPr sz="2200" b="1" i="0">
                <a:solidFill>
                  <a:srgbClr val="14142B"/>
                </a:solidFill>
                <a:latin typeface="Arial"/>
              </a:rPr>
              <a:t>78% vs 0%</a:t>
            </a:r>
          </a:p>
        </p:txBody>
      </p:sp>
      <p:sp>
        <p:nvSpPr>
          <p:cNvPr id="156" name="TextBox 155"/>
          <p:cNvSpPr txBox="1"/>
          <p:nvPr/>
        </p:nvSpPr>
        <p:spPr>
          <a:xfrm>
            <a:off x="6336792" y="4078224"/>
            <a:ext cx="2203704" cy="347472"/>
          </a:xfrm>
          <a:prstGeom prst="rect">
            <a:avLst/>
          </a:prstGeom>
          <a:noFill/>
        </p:spPr>
        <p:txBody>
          <a:bodyPr wrap="square" lIns="0" rIns="0" tIns="0" bIns="0" anchor="t">
            <a:noAutofit/>
          </a:bodyPr>
          <a:lstStyle/>
          <a:p>
            <a:pPr algn="l">
              <a:lnSpc>
                <a:spcPct val="92000"/>
              </a:lnSpc>
            </a:pPr>
            <a:r>
              <a:rPr sz="1000" b="0" i="0">
                <a:solidFill>
                  <a:srgbClr val="63637E"/>
                </a:solidFill>
                <a:latin typeface="Calibri"/>
              </a:rPr>
              <a:t>compound requests split correctly</a:t>
            </a:r>
          </a:p>
        </p:txBody>
      </p:sp>
      <p:sp>
        <p:nvSpPr>
          <p:cNvPr id="157" name="Rounded Rectangle 156"/>
          <p:cNvSpPr/>
          <p:nvPr/>
        </p:nvSpPr>
        <p:spPr>
          <a:xfrm>
            <a:off x="8878824" y="3346703"/>
            <a:ext cx="2478024" cy="1097280"/>
          </a:xfrm>
          <a:prstGeom prst="roundRect">
            <a:avLst>
              <a:gd name="adj" fmla="val 8333"/>
            </a:avLst>
          </a:prstGeom>
          <a:solidFill>
            <a:srgbClr val="F4F1FC"/>
          </a:solidFill>
          <a:ln>
            <a:noFill/>
          </a:ln>
        </p:spPr>
        <p:txBody>
          <a:bodyPr rtlCol="0" anchor="ctr"/>
          <a:lstStyle/>
          <a:p>
            <a:pPr algn="ctr"/>
          </a:p>
        </p:txBody>
      </p:sp>
      <p:sp>
        <p:nvSpPr>
          <p:cNvPr id="158" name="TextBox 157"/>
          <p:cNvSpPr txBox="1"/>
          <p:nvPr/>
        </p:nvSpPr>
        <p:spPr>
          <a:xfrm>
            <a:off x="9043416" y="3438144"/>
            <a:ext cx="2203704" cy="228600"/>
          </a:xfrm>
          <a:prstGeom prst="rect">
            <a:avLst/>
          </a:prstGeom>
          <a:noFill/>
        </p:spPr>
        <p:txBody>
          <a:bodyPr wrap="square" lIns="0" rIns="0" tIns="0" bIns="0" anchor="t">
            <a:noAutofit/>
          </a:bodyPr>
          <a:lstStyle/>
          <a:p>
            <a:pPr algn="l"/>
            <a:r>
              <a:rPr sz="850" b="1" i="0" spc="80">
                <a:solidFill>
                  <a:srgbClr val="6D28D9"/>
                </a:solidFill>
                <a:latin typeface="Calibri"/>
              </a:rPr>
              <a:t>INCREMENTAL REFINEMENT</a:t>
            </a:r>
          </a:p>
        </p:txBody>
      </p:sp>
      <p:sp>
        <p:nvSpPr>
          <p:cNvPr id="159" name="TextBox 158"/>
          <p:cNvSpPr txBox="1"/>
          <p:nvPr/>
        </p:nvSpPr>
        <p:spPr>
          <a:xfrm>
            <a:off x="9043416" y="3648456"/>
            <a:ext cx="2203704" cy="411480"/>
          </a:xfrm>
          <a:prstGeom prst="rect">
            <a:avLst/>
          </a:prstGeom>
          <a:noFill/>
        </p:spPr>
        <p:txBody>
          <a:bodyPr wrap="square" lIns="0" rIns="0" tIns="0" bIns="0" anchor="t">
            <a:noAutofit/>
          </a:bodyPr>
          <a:lstStyle/>
          <a:p>
            <a:pPr algn="l"/>
            <a:r>
              <a:rPr sz="2200" b="1" i="0">
                <a:solidFill>
                  <a:srgbClr val="14142B"/>
                </a:solidFill>
                <a:latin typeface="Arial"/>
              </a:rPr>
              <a:t>100% vs 0%</a:t>
            </a:r>
          </a:p>
        </p:txBody>
      </p:sp>
      <p:sp>
        <p:nvSpPr>
          <p:cNvPr id="160" name="TextBox 159"/>
          <p:cNvSpPr txBox="1"/>
          <p:nvPr/>
        </p:nvSpPr>
        <p:spPr>
          <a:xfrm>
            <a:off x="9043416" y="4078224"/>
            <a:ext cx="2203704" cy="347472"/>
          </a:xfrm>
          <a:prstGeom prst="rect">
            <a:avLst/>
          </a:prstGeom>
          <a:noFill/>
        </p:spPr>
        <p:txBody>
          <a:bodyPr wrap="square" lIns="0" rIns="0" tIns="0" bIns="0" anchor="t">
            <a:noAutofit/>
          </a:bodyPr>
          <a:lstStyle/>
          <a:p>
            <a:pPr algn="l">
              <a:lnSpc>
                <a:spcPct val="92000"/>
              </a:lnSpc>
            </a:pPr>
            <a:r>
              <a:rPr sz="1000" b="0" i="0">
                <a:solidFill>
                  <a:srgbClr val="63637E"/>
                </a:solidFill>
                <a:latin typeface="Calibri"/>
              </a:rPr>
              <a:t>late details handled without restart</a:t>
            </a:r>
          </a:p>
        </p:txBody>
      </p:sp>
      <p:sp>
        <p:nvSpPr>
          <p:cNvPr id="161" name="Rounded Rectangle 160"/>
          <p:cNvSpPr/>
          <p:nvPr/>
        </p:nvSpPr>
        <p:spPr>
          <a:xfrm>
            <a:off x="6172200" y="4608575"/>
            <a:ext cx="2478024" cy="1097280"/>
          </a:xfrm>
          <a:prstGeom prst="roundRect">
            <a:avLst>
              <a:gd name="adj" fmla="val 8333"/>
            </a:avLst>
          </a:prstGeom>
          <a:solidFill>
            <a:srgbClr val="F4F1FC"/>
          </a:solidFill>
          <a:ln>
            <a:noFill/>
          </a:ln>
        </p:spPr>
        <p:txBody>
          <a:bodyPr rtlCol="0" anchor="ctr"/>
          <a:lstStyle/>
          <a:p>
            <a:pPr algn="ctr"/>
          </a:p>
        </p:txBody>
      </p:sp>
      <p:sp>
        <p:nvSpPr>
          <p:cNvPr id="162" name="TextBox 161"/>
          <p:cNvSpPr txBox="1"/>
          <p:nvPr/>
        </p:nvSpPr>
        <p:spPr>
          <a:xfrm>
            <a:off x="6336792" y="4700015"/>
            <a:ext cx="2203704" cy="228600"/>
          </a:xfrm>
          <a:prstGeom prst="rect">
            <a:avLst/>
          </a:prstGeom>
          <a:noFill/>
        </p:spPr>
        <p:txBody>
          <a:bodyPr wrap="square" lIns="0" rIns="0" tIns="0" bIns="0" anchor="t">
            <a:noAutofit/>
          </a:bodyPr>
          <a:lstStyle/>
          <a:p>
            <a:pPr algn="l"/>
            <a:r>
              <a:rPr sz="850" b="1" i="0" spc="80">
                <a:solidFill>
                  <a:srgbClr val="6D28D9"/>
                </a:solidFill>
                <a:latin typeface="Calibri"/>
              </a:rPr>
              <a:t>FEWER UNNECESSARY RETRIEVALS</a:t>
            </a:r>
          </a:p>
        </p:txBody>
      </p:sp>
      <p:sp>
        <p:nvSpPr>
          <p:cNvPr id="163" name="TextBox 162"/>
          <p:cNvSpPr txBox="1"/>
          <p:nvPr/>
        </p:nvSpPr>
        <p:spPr>
          <a:xfrm>
            <a:off x="6336792" y="4910327"/>
            <a:ext cx="2203704" cy="411480"/>
          </a:xfrm>
          <a:prstGeom prst="rect">
            <a:avLst/>
          </a:prstGeom>
          <a:noFill/>
        </p:spPr>
        <p:txBody>
          <a:bodyPr wrap="square" lIns="0" rIns="0" tIns="0" bIns="0" anchor="t">
            <a:noAutofit/>
          </a:bodyPr>
          <a:lstStyle/>
          <a:p>
            <a:pPr algn="l"/>
            <a:r>
              <a:rPr sz="2200" b="1" i="0">
                <a:solidFill>
                  <a:srgbClr val="14142B"/>
                </a:solidFill>
                <a:latin typeface="Arial"/>
              </a:rPr>
              <a:t>1 vs 8</a:t>
            </a:r>
          </a:p>
        </p:txBody>
      </p:sp>
      <p:sp>
        <p:nvSpPr>
          <p:cNvPr id="164" name="TextBox 163"/>
          <p:cNvSpPr txBox="1"/>
          <p:nvPr/>
        </p:nvSpPr>
        <p:spPr>
          <a:xfrm>
            <a:off x="6336792" y="5340095"/>
            <a:ext cx="2203704" cy="347472"/>
          </a:xfrm>
          <a:prstGeom prst="rect">
            <a:avLst/>
          </a:prstGeom>
          <a:noFill/>
        </p:spPr>
        <p:txBody>
          <a:bodyPr wrap="square" lIns="0" rIns="0" tIns="0" bIns="0" anchor="t">
            <a:noAutofit/>
          </a:bodyPr>
          <a:lstStyle/>
          <a:p>
            <a:pPr algn="l">
              <a:lnSpc>
                <a:spcPct val="92000"/>
              </a:lnSpc>
            </a:pPr>
            <a:r>
              <a:rPr sz="1000" b="0" i="0">
                <a:solidFill>
                  <a:srgbClr val="63637E"/>
                </a:solidFill>
                <a:latin typeface="Calibri"/>
              </a:rPr>
              <a:t>searches on turns that need none</a:t>
            </a:r>
          </a:p>
        </p:txBody>
      </p:sp>
      <p:sp>
        <p:nvSpPr>
          <p:cNvPr id="165" name="Rounded Rectangle 164"/>
          <p:cNvSpPr/>
          <p:nvPr/>
        </p:nvSpPr>
        <p:spPr>
          <a:xfrm>
            <a:off x="8878824" y="4608575"/>
            <a:ext cx="2478024" cy="1097280"/>
          </a:xfrm>
          <a:prstGeom prst="roundRect">
            <a:avLst>
              <a:gd name="adj" fmla="val 8333"/>
            </a:avLst>
          </a:prstGeom>
          <a:solidFill>
            <a:srgbClr val="F4F1FC"/>
          </a:solidFill>
          <a:ln>
            <a:noFill/>
          </a:ln>
        </p:spPr>
        <p:txBody>
          <a:bodyPr rtlCol="0" anchor="ctr"/>
          <a:lstStyle/>
          <a:p>
            <a:pPr algn="ctr"/>
          </a:p>
        </p:txBody>
      </p:sp>
      <p:sp>
        <p:nvSpPr>
          <p:cNvPr id="166" name="TextBox 165"/>
          <p:cNvSpPr txBox="1"/>
          <p:nvPr/>
        </p:nvSpPr>
        <p:spPr>
          <a:xfrm>
            <a:off x="9043416" y="4700015"/>
            <a:ext cx="2203704" cy="228600"/>
          </a:xfrm>
          <a:prstGeom prst="rect">
            <a:avLst/>
          </a:prstGeom>
          <a:noFill/>
        </p:spPr>
        <p:txBody>
          <a:bodyPr wrap="square" lIns="0" rIns="0" tIns="0" bIns="0" anchor="t">
            <a:noAutofit/>
          </a:bodyPr>
          <a:lstStyle/>
          <a:p>
            <a:pPr algn="l"/>
            <a:r>
              <a:rPr sz="850" b="1" i="0" spc="80">
                <a:solidFill>
                  <a:srgbClr val="6D28D9"/>
                </a:solidFill>
                <a:latin typeface="Calibri"/>
              </a:rPr>
              <a:t>GROUNDED ANSWERS</a:t>
            </a:r>
          </a:p>
        </p:txBody>
      </p:sp>
      <p:sp>
        <p:nvSpPr>
          <p:cNvPr id="167" name="TextBox 166"/>
          <p:cNvSpPr txBox="1"/>
          <p:nvPr/>
        </p:nvSpPr>
        <p:spPr>
          <a:xfrm>
            <a:off x="9043416" y="4910327"/>
            <a:ext cx="2203704" cy="411480"/>
          </a:xfrm>
          <a:prstGeom prst="rect">
            <a:avLst/>
          </a:prstGeom>
          <a:noFill/>
        </p:spPr>
        <p:txBody>
          <a:bodyPr wrap="square" lIns="0" rIns="0" tIns="0" bIns="0" anchor="t">
            <a:noAutofit/>
          </a:bodyPr>
          <a:lstStyle/>
          <a:p>
            <a:pPr algn="l"/>
            <a:r>
              <a:rPr sz="2200" b="1" i="0">
                <a:solidFill>
                  <a:srgbClr val="14142B"/>
                </a:solidFill>
                <a:latin typeface="Arial"/>
              </a:rPr>
              <a:t>100% · 0</a:t>
            </a:r>
          </a:p>
        </p:txBody>
      </p:sp>
      <p:sp>
        <p:nvSpPr>
          <p:cNvPr id="168" name="TextBox 167"/>
          <p:cNvSpPr txBox="1"/>
          <p:nvPr/>
        </p:nvSpPr>
        <p:spPr>
          <a:xfrm>
            <a:off x="9043416" y="5340095"/>
            <a:ext cx="2203704" cy="347472"/>
          </a:xfrm>
          <a:prstGeom prst="rect">
            <a:avLst/>
          </a:prstGeom>
          <a:noFill/>
        </p:spPr>
        <p:txBody>
          <a:bodyPr wrap="square" lIns="0" rIns="0" tIns="0" bIns="0" anchor="t">
            <a:noAutofit/>
          </a:bodyPr>
          <a:lstStyle/>
          <a:p>
            <a:pPr algn="l">
              <a:lnSpc>
                <a:spcPct val="92000"/>
              </a:lnSpc>
            </a:pPr>
            <a:r>
              <a:rPr sz="1000" b="0" i="0">
                <a:solidFill>
                  <a:srgbClr val="63637E"/>
                </a:solidFill>
                <a:latin typeface="Calibri"/>
              </a:rPr>
              <a:t>claims supported · fabricated citations</a:t>
            </a:r>
          </a:p>
        </p:txBody>
      </p:sp>
      <p:sp>
        <p:nvSpPr>
          <p:cNvPr id="169" name="TextBox 168"/>
          <p:cNvSpPr txBox="1"/>
          <p:nvPr/>
        </p:nvSpPr>
        <p:spPr>
          <a:xfrm>
            <a:off x="841248" y="6089904"/>
            <a:ext cx="10515600" cy="237744"/>
          </a:xfrm>
          <a:prstGeom prst="rect">
            <a:avLst/>
          </a:prstGeom>
          <a:noFill/>
        </p:spPr>
        <p:txBody>
          <a:bodyPr wrap="square" lIns="0" rIns="0" tIns="0" bIns="0" anchor="t">
            <a:noAutofit/>
          </a:bodyPr>
          <a:lstStyle/>
          <a:p>
            <a:pPr algn="l"/>
            <a:r>
              <a:rPr sz="950" b="0" i="1">
                <a:solidFill>
                  <a:srgbClr val="63637E"/>
                </a:solidFill>
                <a:latin typeface="Calibri"/>
              </a:rPr>
              <a:t>Development benchmark · 16-document synthetic corpus · streaming Live RAG vs conventional baseline unless noted</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Innovation Highlights &amp; Limitations</a:t>
            </a:r>
            <a:endParaRPr b="1" sz="4400">
              <a:solidFill>
                <a:srgbClr val="704EA6"/>
              </a:solidFill>
            </a:endParaRPr>
          </a:p>
        </p:txBody>
      </p:sp>
      <p:sp>
        <p:nvSpPr>
          <p:cNvPr id="138" name="TextBox 137"/>
          <p:cNvSpPr txBox="1"/>
          <p:nvPr/>
        </p:nvSpPr>
        <p:spPr>
          <a:xfrm>
            <a:off x="841248" y="1737360"/>
            <a:ext cx="5486400" cy="256032"/>
          </a:xfrm>
          <a:prstGeom prst="rect">
            <a:avLst/>
          </a:prstGeom>
          <a:noFill/>
        </p:spPr>
        <p:txBody>
          <a:bodyPr wrap="square" lIns="0" rIns="0" tIns="0" bIns="0" anchor="t">
            <a:noAutofit/>
          </a:bodyPr>
          <a:lstStyle/>
          <a:p>
            <a:pPr algn="l"/>
            <a:r>
              <a:rPr sz="1100" b="1" i="0" spc="150">
                <a:solidFill>
                  <a:srgbClr val="6D28D9"/>
                </a:solidFill>
                <a:latin typeface="Calibri"/>
              </a:rPr>
              <a:t>INNOVATION HIGHLIGHTS</a:t>
            </a:r>
          </a:p>
        </p:txBody>
      </p:sp>
      <p:sp>
        <p:nvSpPr>
          <p:cNvPr id="139" name="Rounded Rectangle 138"/>
          <p:cNvSpPr/>
          <p:nvPr/>
        </p:nvSpPr>
        <p:spPr>
          <a:xfrm>
            <a:off x="841248" y="2057400"/>
            <a:ext cx="1764792" cy="1188720"/>
          </a:xfrm>
          <a:prstGeom prst="roundRect">
            <a:avLst>
              <a:gd name="adj" fmla="val 7692"/>
            </a:avLst>
          </a:prstGeom>
          <a:solidFill>
            <a:srgbClr val="F4F1FC"/>
          </a:solidFill>
          <a:ln>
            <a:noFill/>
          </a:ln>
        </p:spPr>
        <p:txBody>
          <a:bodyPr rtlCol="0" anchor="ctr"/>
          <a:lstStyle/>
          <a:p>
            <a:pPr algn="ctr"/>
          </a:p>
        </p:txBody>
      </p:sp>
      <p:sp>
        <p:nvSpPr>
          <p:cNvPr id="140" name="TextBox 139"/>
          <p:cNvSpPr txBox="1"/>
          <p:nvPr/>
        </p:nvSpPr>
        <p:spPr>
          <a:xfrm>
            <a:off x="969264" y="2148840"/>
            <a:ext cx="457200" cy="228600"/>
          </a:xfrm>
          <a:prstGeom prst="rect">
            <a:avLst/>
          </a:prstGeom>
          <a:noFill/>
        </p:spPr>
        <p:txBody>
          <a:bodyPr wrap="square" lIns="0" rIns="0" tIns="0" bIns="0" anchor="t">
            <a:noAutofit/>
          </a:bodyPr>
          <a:lstStyle/>
          <a:p>
            <a:pPr algn="l"/>
            <a:r>
              <a:rPr sz="950" b="1" i="0">
                <a:solidFill>
                  <a:srgbClr val="6D28D9"/>
                </a:solidFill>
                <a:latin typeface="Calibri"/>
              </a:rPr>
              <a:t>01</a:t>
            </a:r>
          </a:p>
        </p:txBody>
      </p:sp>
      <p:sp>
        <p:nvSpPr>
          <p:cNvPr id="141" name="TextBox 140"/>
          <p:cNvSpPr txBox="1"/>
          <p:nvPr/>
        </p:nvSpPr>
        <p:spPr>
          <a:xfrm>
            <a:off x="969264" y="2359152"/>
            <a:ext cx="1527048" cy="457200"/>
          </a:xfrm>
          <a:prstGeom prst="rect">
            <a:avLst/>
          </a:prstGeom>
          <a:noFill/>
        </p:spPr>
        <p:txBody>
          <a:bodyPr wrap="square" lIns="0" rIns="0" tIns="0" bIns="0" anchor="t">
            <a:noAutofit/>
          </a:bodyPr>
          <a:lstStyle/>
          <a:p>
            <a:pPr algn="l">
              <a:lnSpc>
                <a:spcPct val="92000"/>
              </a:lnSpc>
            </a:pPr>
            <a:r>
              <a:rPr sz="1200" b="1" i="0">
                <a:solidFill>
                  <a:srgbClr val="14142B"/>
                </a:solidFill>
                <a:latin typeface="Calibri"/>
              </a:rPr>
              <a:t>Retrieval before utterance end</a:t>
            </a:r>
          </a:p>
        </p:txBody>
      </p:sp>
      <p:sp>
        <p:nvSpPr>
          <p:cNvPr id="142" name="TextBox 141"/>
          <p:cNvSpPr txBox="1"/>
          <p:nvPr/>
        </p:nvSpPr>
        <p:spPr>
          <a:xfrm>
            <a:off x="969264" y="2807208"/>
            <a:ext cx="1527048" cy="457200"/>
          </a:xfrm>
          <a:prstGeom prst="rect">
            <a:avLst/>
          </a:prstGeom>
          <a:noFill/>
        </p:spPr>
        <p:txBody>
          <a:bodyPr wrap="square" lIns="0" rIns="0" tIns="0" bIns="0" anchor="t">
            <a:noAutofit/>
          </a:bodyPr>
          <a:lstStyle/>
          <a:p>
            <a:pPr algn="l">
              <a:lnSpc>
                <a:spcPct val="92000"/>
              </a:lnSpc>
            </a:pPr>
            <a:r>
              <a:rPr sz="950" b="0" i="0">
                <a:solidFill>
                  <a:srgbClr val="63637E"/>
                </a:solidFill>
                <a:latin typeface="Calibri"/>
              </a:rPr>
              <a:t>provisional retrieval + sentence scoring during speech</a:t>
            </a:r>
          </a:p>
        </p:txBody>
      </p:sp>
      <p:sp>
        <p:nvSpPr>
          <p:cNvPr id="143" name="Rounded Rectangle 142"/>
          <p:cNvSpPr/>
          <p:nvPr/>
        </p:nvSpPr>
        <p:spPr>
          <a:xfrm>
            <a:off x="2724912" y="2057400"/>
            <a:ext cx="1764792" cy="1188720"/>
          </a:xfrm>
          <a:prstGeom prst="roundRect">
            <a:avLst>
              <a:gd name="adj" fmla="val 7692"/>
            </a:avLst>
          </a:prstGeom>
          <a:solidFill>
            <a:srgbClr val="F4F1FC"/>
          </a:solidFill>
          <a:ln>
            <a:noFill/>
          </a:ln>
        </p:spPr>
        <p:txBody>
          <a:bodyPr rtlCol="0" anchor="ctr"/>
          <a:lstStyle/>
          <a:p>
            <a:pPr algn="ctr"/>
          </a:p>
        </p:txBody>
      </p:sp>
      <p:sp>
        <p:nvSpPr>
          <p:cNvPr id="144" name="TextBox 143"/>
          <p:cNvSpPr txBox="1"/>
          <p:nvPr/>
        </p:nvSpPr>
        <p:spPr>
          <a:xfrm>
            <a:off x="2852928" y="2148840"/>
            <a:ext cx="457200" cy="228600"/>
          </a:xfrm>
          <a:prstGeom prst="rect">
            <a:avLst/>
          </a:prstGeom>
          <a:noFill/>
        </p:spPr>
        <p:txBody>
          <a:bodyPr wrap="square" lIns="0" rIns="0" tIns="0" bIns="0" anchor="t">
            <a:noAutofit/>
          </a:bodyPr>
          <a:lstStyle/>
          <a:p>
            <a:pPr algn="l"/>
            <a:r>
              <a:rPr sz="950" b="1" i="0">
                <a:solidFill>
                  <a:srgbClr val="6D28D9"/>
                </a:solidFill>
                <a:latin typeface="Calibri"/>
              </a:rPr>
              <a:t>02</a:t>
            </a:r>
          </a:p>
        </p:txBody>
      </p:sp>
      <p:sp>
        <p:nvSpPr>
          <p:cNvPr id="145" name="TextBox 144"/>
          <p:cNvSpPr txBox="1"/>
          <p:nvPr/>
        </p:nvSpPr>
        <p:spPr>
          <a:xfrm>
            <a:off x="2852928" y="2359152"/>
            <a:ext cx="1527048" cy="457200"/>
          </a:xfrm>
          <a:prstGeom prst="rect">
            <a:avLst/>
          </a:prstGeom>
          <a:noFill/>
        </p:spPr>
        <p:txBody>
          <a:bodyPr wrap="square" lIns="0" rIns="0" tIns="0" bIns="0" anchor="t">
            <a:noAutofit/>
          </a:bodyPr>
          <a:lstStyle/>
          <a:p>
            <a:pPr algn="l">
              <a:lnSpc>
                <a:spcPct val="92000"/>
              </a:lnSpc>
            </a:pPr>
            <a:r>
              <a:rPr sz="1200" b="1" i="0">
                <a:solidFill>
                  <a:srgbClr val="14142B"/>
                </a:solidFill>
                <a:latin typeface="Calibri"/>
              </a:rPr>
              <a:t>WAIT / RETRIEVE / SUPPRESS</a:t>
            </a:r>
          </a:p>
        </p:txBody>
      </p:sp>
      <p:sp>
        <p:nvSpPr>
          <p:cNvPr id="146" name="TextBox 145"/>
          <p:cNvSpPr txBox="1"/>
          <p:nvPr/>
        </p:nvSpPr>
        <p:spPr>
          <a:xfrm>
            <a:off x="2852928" y="2807208"/>
            <a:ext cx="1527048" cy="457200"/>
          </a:xfrm>
          <a:prstGeom prst="rect">
            <a:avLst/>
          </a:prstGeom>
          <a:noFill/>
        </p:spPr>
        <p:txBody>
          <a:bodyPr wrap="square" lIns="0" rIns="0" tIns="0" bIns="0" anchor="t">
            <a:noAutofit/>
          </a:bodyPr>
          <a:lstStyle/>
          <a:p>
            <a:pPr algn="l">
              <a:lnSpc>
                <a:spcPct val="92000"/>
              </a:lnSpc>
            </a:pPr>
            <a:r>
              <a:rPr sz="950" b="0" i="0">
                <a:solidFill>
                  <a:srgbClr val="63637E"/>
                </a:solidFill>
                <a:latin typeface="Calibri"/>
              </a:rPr>
              <a:t>learned per-chunk decision, logged with its reason</a:t>
            </a:r>
          </a:p>
        </p:txBody>
      </p:sp>
      <p:sp>
        <p:nvSpPr>
          <p:cNvPr id="147" name="Rounded Rectangle 146"/>
          <p:cNvSpPr/>
          <p:nvPr/>
        </p:nvSpPr>
        <p:spPr>
          <a:xfrm>
            <a:off x="4608576" y="2057400"/>
            <a:ext cx="1764792" cy="1188720"/>
          </a:xfrm>
          <a:prstGeom prst="roundRect">
            <a:avLst>
              <a:gd name="adj" fmla="val 7692"/>
            </a:avLst>
          </a:prstGeom>
          <a:solidFill>
            <a:srgbClr val="F4F1FC"/>
          </a:solidFill>
          <a:ln>
            <a:noFill/>
          </a:ln>
        </p:spPr>
        <p:txBody>
          <a:bodyPr rtlCol="0" anchor="ctr"/>
          <a:lstStyle/>
          <a:p>
            <a:pPr algn="ctr"/>
          </a:p>
        </p:txBody>
      </p:sp>
      <p:sp>
        <p:nvSpPr>
          <p:cNvPr id="148" name="TextBox 147"/>
          <p:cNvSpPr txBox="1"/>
          <p:nvPr/>
        </p:nvSpPr>
        <p:spPr>
          <a:xfrm>
            <a:off x="4736592" y="2148840"/>
            <a:ext cx="457200" cy="228600"/>
          </a:xfrm>
          <a:prstGeom prst="rect">
            <a:avLst/>
          </a:prstGeom>
          <a:noFill/>
        </p:spPr>
        <p:txBody>
          <a:bodyPr wrap="square" lIns="0" rIns="0" tIns="0" bIns="0" anchor="t">
            <a:noAutofit/>
          </a:bodyPr>
          <a:lstStyle/>
          <a:p>
            <a:pPr algn="l"/>
            <a:r>
              <a:rPr sz="950" b="1" i="0">
                <a:solidFill>
                  <a:srgbClr val="6D28D9"/>
                </a:solidFill>
                <a:latin typeface="Calibri"/>
              </a:rPr>
              <a:t>03</a:t>
            </a:r>
          </a:p>
        </p:txBody>
      </p:sp>
      <p:sp>
        <p:nvSpPr>
          <p:cNvPr id="149" name="TextBox 148"/>
          <p:cNvSpPr txBox="1"/>
          <p:nvPr/>
        </p:nvSpPr>
        <p:spPr>
          <a:xfrm>
            <a:off x="4736592" y="2359152"/>
            <a:ext cx="1527048" cy="457200"/>
          </a:xfrm>
          <a:prstGeom prst="rect">
            <a:avLst/>
          </a:prstGeom>
          <a:noFill/>
        </p:spPr>
        <p:txBody>
          <a:bodyPr wrap="square" lIns="0" rIns="0" tIns="0" bIns="0" anchor="t">
            <a:noAutofit/>
          </a:bodyPr>
          <a:lstStyle/>
          <a:p>
            <a:pPr algn="l">
              <a:lnSpc>
                <a:spcPct val="92000"/>
              </a:lnSpc>
            </a:pPr>
            <a:r>
              <a:rPr sz="1200" b="1" i="0">
                <a:solidFill>
                  <a:srgbClr val="14142B"/>
                </a:solidFill>
                <a:latin typeface="Calibri"/>
              </a:rPr>
              <a:t>Multi-intent decomposition</a:t>
            </a:r>
          </a:p>
        </p:txBody>
      </p:sp>
      <p:sp>
        <p:nvSpPr>
          <p:cNvPr id="150" name="TextBox 149"/>
          <p:cNvSpPr txBox="1"/>
          <p:nvPr/>
        </p:nvSpPr>
        <p:spPr>
          <a:xfrm>
            <a:off x="4736592" y="2807208"/>
            <a:ext cx="1527048" cy="457200"/>
          </a:xfrm>
          <a:prstGeom prst="rect">
            <a:avLst/>
          </a:prstGeom>
          <a:noFill/>
        </p:spPr>
        <p:txBody>
          <a:bodyPr wrap="square" lIns="0" rIns="0" tIns="0" bIns="0" anchor="t">
            <a:noAutofit/>
          </a:bodyPr>
          <a:lstStyle/>
          <a:p>
            <a:pPr algn="l">
              <a:lnSpc>
                <a:spcPct val="92000"/>
              </a:lnSpc>
            </a:pPr>
            <a:r>
              <a:rPr sz="950" b="0" i="0">
                <a:solidFill>
                  <a:srgbClr val="63637E"/>
                </a:solidFill>
                <a:latin typeface="Calibri"/>
              </a:rPr>
              <a:t>the corpus decides which clauses merge</a:t>
            </a:r>
          </a:p>
        </p:txBody>
      </p:sp>
      <p:sp>
        <p:nvSpPr>
          <p:cNvPr id="151" name="Rounded Rectangle 150"/>
          <p:cNvSpPr/>
          <p:nvPr/>
        </p:nvSpPr>
        <p:spPr>
          <a:xfrm>
            <a:off x="841248" y="3364992"/>
            <a:ext cx="1764792" cy="1188720"/>
          </a:xfrm>
          <a:prstGeom prst="roundRect">
            <a:avLst>
              <a:gd name="adj" fmla="val 7692"/>
            </a:avLst>
          </a:prstGeom>
          <a:solidFill>
            <a:srgbClr val="F4F1FC"/>
          </a:solidFill>
          <a:ln>
            <a:noFill/>
          </a:ln>
        </p:spPr>
        <p:txBody>
          <a:bodyPr rtlCol="0" anchor="ctr"/>
          <a:lstStyle/>
          <a:p>
            <a:pPr algn="ctr"/>
          </a:p>
        </p:txBody>
      </p:sp>
      <p:sp>
        <p:nvSpPr>
          <p:cNvPr id="152" name="TextBox 151"/>
          <p:cNvSpPr txBox="1"/>
          <p:nvPr/>
        </p:nvSpPr>
        <p:spPr>
          <a:xfrm>
            <a:off x="969264" y="3456432"/>
            <a:ext cx="457200" cy="228600"/>
          </a:xfrm>
          <a:prstGeom prst="rect">
            <a:avLst/>
          </a:prstGeom>
          <a:noFill/>
        </p:spPr>
        <p:txBody>
          <a:bodyPr wrap="square" lIns="0" rIns="0" tIns="0" bIns="0" anchor="t">
            <a:noAutofit/>
          </a:bodyPr>
          <a:lstStyle/>
          <a:p>
            <a:pPr algn="l"/>
            <a:r>
              <a:rPr sz="950" b="1" i="0">
                <a:solidFill>
                  <a:srgbClr val="6D28D9"/>
                </a:solidFill>
                <a:latin typeface="Calibri"/>
              </a:rPr>
              <a:t>04</a:t>
            </a:r>
          </a:p>
        </p:txBody>
      </p:sp>
      <p:sp>
        <p:nvSpPr>
          <p:cNvPr id="153" name="TextBox 152"/>
          <p:cNvSpPr txBox="1"/>
          <p:nvPr/>
        </p:nvSpPr>
        <p:spPr>
          <a:xfrm>
            <a:off x="969264" y="3666744"/>
            <a:ext cx="1527048" cy="457200"/>
          </a:xfrm>
          <a:prstGeom prst="rect">
            <a:avLst/>
          </a:prstGeom>
          <a:noFill/>
        </p:spPr>
        <p:txBody>
          <a:bodyPr wrap="square" lIns="0" rIns="0" tIns="0" bIns="0" anchor="t">
            <a:noAutofit/>
          </a:bodyPr>
          <a:lstStyle/>
          <a:p>
            <a:pPr algn="l">
              <a:lnSpc>
                <a:spcPct val="92000"/>
              </a:lnSpc>
            </a:pPr>
            <a:r>
              <a:rPr sz="1200" b="1" i="0">
                <a:solidFill>
                  <a:srgbClr val="14142B"/>
                </a:solidFill>
                <a:latin typeface="Calibri"/>
              </a:rPr>
              <a:t>Parallel retrieval</a:t>
            </a:r>
          </a:p>
        </p:txBody>
      </p:sp>
      <p:sp>
        <p:nvSpPr>
          <p:cNvPr id="154" name="TextBox 153"/>
          <p:cNvSpPr txBox="1"/>
          <p:nvPr/>
        </p:nvSpPr>
        <p:spPr>
          <a:xfrm>
            <a:off x="969264" y="4114800"/>
            <a:ext cx="1527048" cy="457200"/>
          </a:xfrm>
          <a:prstGeom prst="rect">
            <a:avLst/>
          </a:prstGeom>
          <a:noFill/>
        </p:spPr>
        <p:txBody>
          <a:bodyPr wrap="square" lIns="0" rIns="0" tIns="0" bIns="0" anchor="t">
            <a:noAutofit/>
          </a:bodyPr>
          <a:lstStyle/>
          <a:p>
            <a:pPr algn="l">
              <a:lnSpc>
                <a:spcPct val="92000"/>
              </a:lnSpc>
            </a:pPr>
            <a:r>
              <a:rPr sz="950" b="0" i="0">
                <a:solidFill>
                  <a:srgbClr val="63637E"/>
                </a:solidFill>
                <a:latin typeface="Calibri"/>
              </a:rPr>
              <a:t>dense + BM25 for every sub-query, concurrently</a:t>
            </a:r>
          </a:p>
        </p:txBody>
      </p:sp>
      <p:sp>
        <p:nvSpPr>
          <p:cNvPr id="155" name="Rounded Rectangle 154"/>
          <p:cNvSpPr/>
          <p:nvPr/>
        </p:nvSpPr>
        <p:spPr>
          <a:xfrm>
            <a:off x="2724912" y="3364992"/>
            <a:ext cx="1764792" cy="1188720"/>
          </a:xfrm>
          <a:prstGeom prst="roundRect">
            <a:avLst>
              <a:gd name="adj" fmla="val 7692"/>
            </a:avLst>
          </a:prstGeom>
          <a:solidFill>
            <a:srgbClr val="F4F1FC"/>
          </a:solidFill>
          <a:ln>
            <a:noFill/>
          </a:ln>
        </p:spPr>
        <p:txBody>
          <a:bodyPr rtlCol="0" anchor="ctr"/>
          <a:lstStyle/>
          <a:p>
            <a:pPr algn="ctr"/>
          </a:p>
        </p:txBody>
      </p:sp>
      <p:sp>
        <p:nvSpPr>
          <p:cNvPr id="156" name="TextBox 155"/>
          <p:cNvSpPr txBox="1"/>
          <p:nvPr/>
        </p:nvSpPr>
        <p:spPr>
          <a:xfrm>
            <a:off x="2852928" y="3456432"/>
            <a:ext cx="457200" cy="228600"/>
          </a:xfrm>
          <a:prstGeom prst="rect">
            <a:avLst/>
          </a:prstGeom>
          <a:noFill/>
        </p:spPr>
        <p:txBody>
          <a:bodyPr wrap="square" lIns="0" rIns="0" tIns="0" bIns="0" anchor="t">
            <a:noAutofit/>
          </a:bodyPr>
          <a:lstStyle/>
          <a:p>
            <a:pPr algn="l"/>
            <a:r>
              <a:rPr sz="950" b="1" i="0">
                <a:solidFill>
                  <a:srgbClr val="6D28D9"/>
                </a:solidFill>
                <a:latin typeface="Calibri"/>
              </a:rPr>
              <a:t>05</a:t>
            </a:r>
          </a:p>
        </p:txBody>
      </p:sp>
      <p:sp>
        <p:nvSpPr>
          <p:cNvPr id="157" name="TextBox 156"/>
          <p:cNvSpPr txBox="1"/>
          <p:nvPr/>
        </p:nvSpPr>
        <p:spPr>
          <a:xfrm>
            <a:off x="2852928" y="3666744"/>
            <a:ext cx="1527048" cy="457200"/>
          </a:xfrm>
          <a:prstGeom prst="rect">
            <a:avLst/>
          </a:prstGeom>
          <a:noFill/>
        </p:spPr>
        <p:txBody>
          <a:bodyPr wrap="square" lIns="0" rIns="0" tIns="0" bIns="0" anchor="t">
            <a:noAutofit/>
          </a:bodyPr>
          <a:lstStyle/>
          <a:p>
            <a:pPr algn="l">
              <a:lnSpc>
                <a:spcPct val="92000"/>
              </a:lnSpc>
            </a:pPr>
            <a:r>
              <a:rPr sz="1200" b="1" i="0">
                <a:solidFill>
                  <a:srgbClr val="14142B"/>
                </a:solidFill>
                <a:latin typeface="Calibri"/>
              </a:rPr>
              <a:t>Fusion + reranking</a:t>
            </a:r>
          </a:p>
        </p:txBody>
      </p:sp>
      <p:sp>
        <p:nvSpPr>
          <p:cNvPr id="158" name="TextBox 157"/>
          <p:cNvSpPr txBox="1"/>
          <p:nvPr/>
        </p:nvSpPr>
        <p:spPr>
          <a:xfrm>
            <a:off x="2852928" y="4114800"/>
            <a:ext cx="1527048" cy="457200"/>
          </a:xfrm>
          <a:prstGeom prst="rect">
            <a:avLst/>
          </a:prstGeom>
          <a:noFill/>
        </p:spPr>
        <p:txBody>
          <a:bodyPr wrap="square" lIns="0" rIns="0" tIns="0" bIns="0" anchor="t">
            <a:noAutofit/>
          </a:bodyPr>
          <a:lstStyle/>
          <a:p>
            <a:pPr algn="l">
              <a:lnSpc>
                <a:spcPct val="92000"/>
              </a:lnSpc>
            </a:pPr>
            <a:r>
              <a:rPr sz="950" b="0" i="0">
                <a:solidFill>
                  <a:srgbClr val="63637E"/>
                </a:solidFill>
                <a:latin typeface="Calibri"/>
              </a:rPr>
              <a:t>coverage quota · dedup · superseded docs dropped</a:t>
            </a:r>
          </a:p>
        </p:txBody>
      </p:sp>
      <p:sp>
        <p:nvSpPr>
          <p:cNvPr id="159" name="Rounded Rectangle 158"/>
          <p:cNvSpPr/>
          <p:nvPr/>
        </p:nvSpPr>
        <p:spPr>
          <a:xfrm>
            <a:off x="4608576" y="3364992"/>
            <a:ext cx="1764792" cy="1188720"/>
          </a:xfrm>
          <a:prstGeom prst="roundRect">
            <a:avLst>
              <a:gd name="adj" fmla="val 7692"/>
            </a:avLst>
          </a:prstGeom>
          <a:solidFill>
            <a:srgbClr val="F4F1FC"/>
          </a:solidFill>
          <a:ln>
            <a:noFill/>
          </a:ln>
        </p:spPr>
        <p:txBody>
          <a:bodyPr rtlCol="0" anchor="ctr"/>
          <a:lstStyle/>
          <a:p>
            <a:pPr algn="ctr"/>
          </a:p>
        </p:txBody>
      </p:sp>
      <p:sp>
        <p:nvSpPr>
          <p:cNvPr id="160" name="TextBox 159"/>
          <p:cNvSpPr txBox="1"/>
          <p:nvPr/>
        </p:nvSpPr>
        <p:spPr>
          <a:xfrm>
            <a:off x="4736592" y="3456432"/>
            <a:ext cx="457200" cy="228600"/>
          </a:xfrm>
          <a:prstGeom prst="rect">
            <a:avLst/>
          </a:prstGeom>
          <a:noFill/>
        </p:spPr>
        <p:txBody>
          <a:bodyPr wrap="square" lIns="0" rIns="0" tIns="0" bIns="0" anchor="t">
            <a:noAutofit/>
          </a:bodyPr>
          <a:lstStyle/>
          <a:p>
            <a:pPr algn="l"/>
            <a:r>
              <a:rPr sz="950" b="1" i="0">
                <a:solidFill>
                  <a:srgbClr val="6D28D9"/>
                </a:solidFill>
                <a:latin typeface="Calibri"/>
              </a:rPr>
              <a:t>06</a:t>
            </a:r>
          </a:p>
        </p:txBody>
      </p:sp>
      <p:sp>
        <p:nvSpPr>
          <p:cNvPr id="161" name="TextBox 160"/>
          <p:cNvSpPr txBox="1"/>
          <p:nvPr/>
        </p:nvSpPr>
        <p:spPr>
          <a:xfrm>
            <a:off x="4736592" y="3666744"/>
            <a:ext cx="1527048" cy="457200"/>
          </a:xfrm>
          <a:prstGeom prst="rect">
            <a:avLst/>
          </a:prstGeom>
          <a:noFill/>
        </p:spPr>
        <p:txBody>
          <a:bodyPr wrap="square" lIns="0" rIns="0" tIns="0" bIns="0" anchor="t">
            <a:noAutofit/>
          </a:bodyPr>
          <a:lstStyle/>
          <a:p>
            <a:pPr algn="l">
              <a:lnSpc>
                <a:spcPct val="92000"/>
              </a:lnSpc>
            </a:pPr>
            <a:r>
              <a:rPr sz="1200" b="1" i="0">
                <a:solidFill>
                  <a:srgbClr val="14142B"/>
                </a:solidFill>
                <a:latin typeface="Calibri"/>
              </a:rPr>
              <a:t>Session-aware refinement</a:t>
            </a:r>
          </a:p>
        </p:txBody>
      </p:sp>
      <p:sp>
        <p:nvSpPr>
          <p:cNvPr id="162" name="TextBox 161"/>
          <p:cNvSpPr txBox="1"/>
          <p:nvPr/>
        </p:nvSpPr>
        <p:spPr>
          <a:xfrm>
            <a:off x="4736592" y="4114800"/>
            <a:ext cx="1527048" cy="457200"/>
          </a:xfrm>
          <a:prstGeom prst="rect">
            <a:avLst/>
          </a:prstGeom>
          <a:noFill/>
        </p:spPr>
        <p:txBody>
          <a:bodyPr wrap="square" lIns="0" rIns="0" tIns="0" bIns="0" anchor="t">
            <a:noAutofit/>
          </a:bodyPr>
          <a:lstStyle/>
          <a:p>
            <a:pPr algn="l">
              <a:lnSpc>
                <a:spcPct val="92000"/>
              </a:lnSpc>
            </a:pPr>
            <a:r>
              <a:rPr sz="950" b="0" i="0">
                <a:solidFill>
                  <a:srgbClr val="63637E"/>
                </a:solidFill>
                <a:latin typeface="Calibri"/>
              </a:rPr>
              <a:t>late details → delta-only retrieval</a:t>
            </a:r>
          </a:p>
        </p:txBody>
      </p:sp>
      <p:sp>
        <p:nvSpPr>
          <p:cNvPr id="163" name="Rounded Rectangle 162"/>
          <p:cNvSpPr/>
          <p:nvPr/>
        </p:nvSpPr>
        <p:spPr>
          <a:xfrm>
            <a:off x="841248" y="4672584"/>
            <a:ext cx="1764792" cy="1188720"/>
          </a:xfrm>
          <a:prstGeom prst="roundRect">
            <a:avLst>
              <a:gd name="adj" fmla="val 7692"/>
            </a:avLst>
          </a:prstGeom>
          <a:solidFill>
            <a:srgbClr val="F4F1FC"/>
          </a:solidFill>
          <a:ln>
            <a:noFill/>
          </a:ln>
        </p:spPr>
        <p:txBody>
          <a:bodyPr rtlCol="0" anchor="ctr"/>
          <a:lstStyle/>
          <a:p>
            <a:pPr algn="ctr"/>
          </a:p>
        </p:txBody>
      </p:sp>
      <p:sp>
        <p:nvSpPr>
          <p:cNvPr id="164" name="TextBox 163"/>
          <p:cNvSpPr txBox="1"/>
          <p:nvPr/>
        </p:nvSpPr>
        <p:spPr>
          <a:xfrm>
            <a:off x="969264" y="4764024"/>
            <a:ext cx="457200" cy="228600"/>
          </a:xfrm>
          <a:prstGeom prst="rect">
            <a:avLst/>
          </a:prstGeom>
          <a:noFill/>
        </p:spPr>
        <p:txBody>
          <a:bodyPr wrap="square" lIns="0" rIns="0" tIns="0" bIns="0" anchor="t">
            <a:noAutofit/>
          </a:bodyPr>
          <a:lstStyle/>
          <a:p>
            <a:pPr algn="l"/>
            <a:r>
              <a:rPr sz="950" b="1" i="0">
                <a:solidFill>
                  <a:srgbClr val="6D28D9"/>
                </a:solidFill>
                <a:latin typeface="Calibri"/>
              </a:rPr>
              <a:t>07</a:t>
            </a:r>
          </a:p>
        </p:txBody>
      </p:sp>
      <p:sp>
        <p:nvSpPr>
          <p:cNvPr id="165" name="TextBox 164"/>
          <p:cNvSpPr txBox="1"/>
          <p:nvPr/>
        </p:nvSpPr>
        <p:spPr>
          <a:xfrm>
            <a:off x="969264" y="4974336"/>
            <a:ext cx="1527048" cy="457200"/>
          </a:xfrm>
          <a:prstGeom prst="rect">
            <a:avLst/>
          </a:prstGeom>
          <a:noFill/>
        </p:spPr>
        <p:txBody>
          <a:bodyPr wrap="square" lIns="0" rIns="0" tIns="0" bIns="0" anchor="t">
            <a:noAutofit/>
          </a:bodyPr>
          <a:lstStyle/>
          <a:p>
            <a:pPr algn="l">
              <a:lnSpc>
                <a:spcPct val="92000"/>
              </a:lnSpc>
            </a:pPr>
            <a:r>
              <a:rPr sz="1200" b="1" i="0">
                <a:solidFill>
                  <a:srgbClr val="14142B"/>
                </a:solidFill>
                <a:latin typeface="Calibri"/>
              </a:rPr>
              <a:t>Answer versioning</a:t>
            </a:r>
          </a:p>
        </p:txBody>
      </p:sp>
      <p:sp>
        <p:nvSpPr>
          <p:cNvPr id="166" name="TextBox 165"/>
          <p:cNvSpPr txBox="1"/>
          <p:nvPr/>
        </p:nvSpPr>
        <p:spPr>
          <a:xfrm>
            <a:off x="969264" y="5422392"/>
            <a:ext cx="1527048" cy="457200"/>
          </a:xfrm>
          <a:prstGeom prst="rect">
            <a:avLst/>
          </a:prstGeom>
          <a:noFill/>
        </p:spPr>
        <p:txBody>
          <a:bodyPr wrap="square" lIns="0" rIns="0" tIns="0" bIns="0" anchor="t">
            <a:noAutofit/>
          </a:bodyPr>
          <a:lstStyle/>
          <a:p>
            <a:pPr algn="l">
              <a:lnSpc>
                <a:spcPct val="92000"/>
              </a:lnSpc>
            </a:pPr>
            <a:r>
              <a:rPr sz="950" b="0" i="0">
                <a:solidFill>
                  <a:srgbClr val="63637E"/>
                </a:solidFill>
                <a:latin typeface="Calibri"/>
              </a:rPr>
              <a:t>v1 → v2 with retained / added / removed log</a:t>
            </a:r>
          </a:p>
        </p:txBody>
      </p:sp>
      <p:sp>
        <p:nvSpPr>
          <p:cNvPr id="167" name="Rounded Rectangle 166"/>
          <p:cNvSpPr/>
          <p:nvPr/>
        </p:nvSpPr>
        <p:spPr>
          <a:xfrm>
            <a:off x="2724912" y="4672584"/>
            <a:ext cx="1764792" cy="1188720"/>
          </a:xfrm>
          <a:prstGeom prst="roundRect">
            <a:avLst>
              <a:gd name="adj" fmla="val 7692"/>
            </a:avLst>
          </a:prstGeom>
          <a:solidFill>
            <a:srgbClr val="F4F1FC"/>
          </a:solidFill>
          <a:ln>
            <a:noFill/>
          </a:ln>
        </p:spPr>
        <p:txBody>
          <a:bodyPr rtlCol="0" anchor="ctr"/>
          <a:lstStyle/>
          <a:p>
            <a:pPr algn="ctr"/>
          </a:p>
        </p:txBody>
      </p:sp>
      <p:sp>
        <p:nvSpPr>
          <p:cNvPr id="168" name="TextBox 167"/>
          <p:cNvSpPr txBox="1"/>
          <p:nvPr/>
        </p:nvSpPr>
        <p:spPr>
          <a:xfrm>
            <a:off x="2852928" y="4764024"/>
            <a:ext cx="457200" cy="228600"/>
          </a:xfrm>
          <a:prstGeom prst="rect">
            <a:avLst/>
          </a:prstGeom>
          <a:noFill/>
        </p:spPr>
        <p:txBody>
          <a:bodyPr wrap="square" lIns="0" rIns="0" tIns="0" bIns="0" anchor="t">
            <a:noAutofit/>
          </a:bodyPr>
          <a:lstStyle/>
          <a:p>
            <a:pPr algn="l"/>
            <a:r>
              <a:rPr sz="950" b="1" i="0">
                <a:solidFill>
                  <a:srgbClr val="6D28D9"/>
                </a:solidFill>
                <a:latin typeface="Calibri"/>
              </a:rPr>
              <a:t>08</a:t>
            </a:r>
          </a:p>
        </p:txBody>
      </p:sp>
      <p:sp>
        <p:nvSpPr>
          <p:cNvPr id="169" name="TextBox 168"/>
          <p:cNvSpPr txBox="1"/>
          <p:nvPr/>
        </p:nvSpPr>
        <p:spPr>
          <a:xfrm>
            <a:off x="2852928" y="4974336"/>
            <a:ext cx="1527048" cy="457200"/>
          </a:xfrm>
          <a:prstGeom prst="rect">
            <a:avLst/>
          </a:prstGeom>
          <a:noFill/>
        </p:spPr>
        <p:txBody>
          <a:bodyPr wrap="square" lIns="0" rIns="0" tIns="0" bIns="0" anchor="t">
            <a:noAutofit/>
          </a:bodyPr>
          <a:lstStyle/>
          <a:p>
            <a:pPr algn="l">
              <a:lnSpc>
                <a:spcPct val="92000"/>
              </a:lnSpc>
            </a:pPr>
            <a:r>
              <a:rPr sz="1200" b="1" i="0">
                <a:solidFill>
                  <a:srgbClr val="14142B"/>
                </a:solidFill>
                <a:latin typeface="Calibri"/>
              </a:rPr>
              <a:t>Grounding validation</a:t>
            </a:r>
          </a:p>
        </p:txBody>
      </p:sp>
      <p:sp>
        <p:nvSpPr>
          <p:cNvPr id="170" name="TextBox 169"/>
          <p:cNvSpPr txBox="1"/>
          <p:nvPr/>
        </p:nvSpPr>
        <p:spPr>
          <a:xfrm>
            <a:off x="2852928" y="5422392"/>
            <a:ext cx="1527048" cy="457200"/>
          </a:xfrm>
          <a:prstGeom prst="rect">
            <a:avLst/>
          </a:prstGeom>
          <a:noFill/>
        </p:spPr>
        <p:txBody>
          <a:bodyPr wrap="square" lIns="0" rIns="0" tIns="0" bIns="0" anchor="t">
            <a:noAutofit/>
          </a:bodyPr>
          <a:lstStyle/>
          <a:p>
            <a:pPr algn="l">
              <a:lnSpc>
                <a:spcPct val="92000"/>
              </a:lnSpc>
            </a:pPr>
            <a:r>
              <a:rPr sz="950" b="0" i="0">
                <a:solidFill>
                  <a:srgbClr val="63637E"/>
                </a:solidFill>
                <a:latin typeface="Calibri"/>
              </a:rPr>
              <a:t>id exists, was retrieved, text &amp; numbers match</a:t>
            </a:r>
          </a:p>
        </p:txBody>
      </p:sp>
      <p:sp>
        <p:nvSpPr>
          <p:cNvPr id="171" name="Rounded Rectangle 170"/>
          <p:cNvSpPr/>
          <p:nvPr/>
        </p:nvSpPr>
        <p:spPr>
          <a:xfrm>
            <a:off x="4608576" y="4672584"/>
            <a:ext cx="1764792" cy="1188720"/>
          </a:xfrm>
          <a:prstGeom prst="roundRect">
            <a:avLst>
              <a:gd name="adj" fmla="val 7692"/>
            </a:avLst>
          </a:prstGeom>
          <a:solidFill>
            <a:srgbClr val="F4F1FC"/>
          </a:solidFill>
          <a:ln>
            <a:noFill/>
          </a:ln>
        </p:spPr>
        <p:txBody>
          <a:bodyPr rtlCol="0" anchor="ctr"/>
          <a:lstStyle/>
          <a:p>
            <a:pPr algn="ctr"/>
          </a:p>
        </p:txBody>
      </p:sp>
      <p:sp>
        <p:nvSpPr>
          <p:cNvPr id="172" name="TextBox 171"/>
          <p:cNvSpPr txBox="1"/>
          <p:nvPr/>
        </p:nvSpPr>
        <p:spPr>
          <a:xfrm>
            <a:off x="4736592" y="4764024"/>
            <a:ext cx="457200" cy="228600"/>
          </a:xfrm>
          <a:prstGeom prst="rect">
            <a:avLst/>
          </a:prstGeom>
          <a:noFill/>
        </p:spPr>
        <p:txBody>
          <a:bodyPr wrap="square" lIns="0" rIns="0" tIns="0" bIns="0" anchor="t">
            <a:noAutofit/>
          </a:bodyPr>
          <a:lstStyle/>
          <a:p>
            <a:pPr algn="l"/>
            <a:r>
              <a:rPr sz="950" b="1" i="0">
                <a:solidFill>
                  <a:srgbClr val="6D28D9"/>
                </a:solidFill>
                <a:latin typeface="Calibri"/>
              </a:rPr>
              <a:t>09</a:t>
            </a:r>
          </a:p>
        </p:txBody>
      </p:sp>
      <p:sp>
        <p:nvSpPr>
          <p:cNvPr id="173" name="TextBox 172"/>
          <p:cNvSpPr txBox="1"/>
          <p:nvPr/>
        </p:nvSpPr>
        <p:spPr>
          <a:xfrm>
            <a:off x="4736592" y="4974336"/>
            <a:ext cx="1527048" cy="457200"/>
          </a:xfrm>
          <a:prstGeom prst="rect">
            <a:avLst/>
          </a:prstGeom>
          <a:noFill/>
        </p:spPr>
        <p:txBody>
          <a:bodyPr wrap="square" lIns="0" rIns="0" tIns="0" bIns="0" anchor="t">
            <a:noAutofit/>
          </a:bodyPr>
          <a:lstStyle/>
          <a:p>
            <a:pPr algn="l">
              <a:lnSpc>
                <a:spcPct val="92000"/>
              </a:lnSpc>
            </a:pPr>
            <a:r>
              <a:rPr sz="1200" b="1" i="0">
                <a:solidFill>
                  <a:srgbClr val="14142B"/>
                </a:solidFill>
                <a:latin typeface="Calibri"/>
              </a:rPr>
              <a:t>Retrieval telemetry</a:t>
            </a:r>
          </a:p>
        </p:txBody>
      </p:sp>
      <p:sp>
        <p:nvSpPr>
          <p:cNvPr id="174" name="TextBox 173"/>
          <p:cNvSpPr txBox="1"/>
          <p:nvPr/>
        </p:nvSpPr>
        <p:spPr>
          <a:xfrm>
            <a:off x="4736592" y="5422392"/>
            <a:ext cx="1527048" cy="457200"/>
          </a:xfrm>
          <a:prstGeom prst="rect">
            <a:avLst/>
          </a:prstGeom>
          <a:noFill/>
        </p:spPr>
        <p:txBody>
          <a:bodyPr wrap="square" lIns="0" rIns="0" tIns="0" bIns="0" anchor="t">
            <a:noAutofit/>
          </a:bodyPr>
          <a:lstStyle/>
          <a:p>
            <a:pPr algn="l">
              <a:lnSpc>
                <a:spcPct val="92000"/>
              </a:lnSpc>
            </a:pPr>
            <a:r>
              <a:rPr sz="950" b="0" i="0">
                <a:solidFill>
                  <a:srgbClr val="63637E"/>
                </a:solidFill>
                <a:latin typeface="Calibri"/>
              </a:rPr>
              <a:t>every event on one clock → UI, SSE, JSONL</a:t>
            </a:r>
          </a:p>
        </p:txBody>
      </p:sp>
      <p:sp>
        <p:nvSpPr>
          <p:cNvPr id="175" name="Rounded Rectangle 174"/>
          <p:cNvSpPr/>
          <p:nvPr/>
        </p:nvSpPr>
        <p:spPr>
          <a:xfrm>
            <a:off x="6766559" y="1737360"/>
            <a:ext cx="4590288" cy="4224528"/>
          </a:xfrm>
          <a:prstGeom prst="roundRect">
            <a:avLst>
              <a:gd name="adj" fmla="val 2597"/>
            </a:avLst>
          </a:prstGeom>
          <a:solidFill>
            <a:srgbClr val="FFFFFF"/>
          </a:solidFill>
          <a:ln w="12700">
            <a:solidFill>
              <a:srgbClr val="E3E1EE"/>
            </a:solidFill>
          </a:ln>
        </p:spPr>
        <p:txBody>
          <a:bodyPr rtlCol="0" anchor="ctr"/>
          <a:lstStyle/>
          <a:p>
            <a:pPr algn="ctr"/>
          </a:p>
        </p:txBody>
      </p:sp>
      <p:sp>
        <p:nvSpPr>
          <p:cNvPr id="176" name="TextBox 175"/>
          <p:cNvSpPr txBox="1"/>
          <p:nvPr/>
        </p:nvSpPr>
        <p:spPr>
          <a:xfrm>
            <a:off x="6995159" y="1874519"/>
            <a:ext cx="3657600" cy="256032"/>
          </a:xfrm>
          <a:prstGeom prst="rect">
            <a:avLst/>
          </a:prstGeom>
          <a:noFill/>
        </p:spPr>
        <p:txBody>
          <a:bodyPr wrap="square" lIns="0" rIns="0" tIns="0" bIns="0" anchor="t">
            <a:noAutofit/>
          </a:bodyPr>
          <a:lstStyle/>
          <a:p>
            <a:pPr algn="l"/>
            <a:r>
              <a:rPr sz="1100" b="1" i="0" spc="150">
                <a:solidFill>
                  <a:srgbClr val="B45309"/>
                </a:solidFill>
                <a:latin typeface="Calibri"/>
              </a:rPr>
              <a:t>LIMITATIONS</a:t>
            </a:r>
          </a:p>
        </p:txBody>
      </p:sp>
      <p:sp>
        <p:nvSpPr>
          <p:cNvPr id="177" name="Oval 176"/>
          <p:cNvSpPr/>
          <p:nvPr/>
        </p:nvSpPr>
        <p:spPr>
          <a:xfrm>
            <a:off x="7013448" y="2331720"/>
            <a:ext cx="91440" cy="91440"/>
          </a:xfrm>
          <a:prstGeom prst="ellipse">
            <a:avLst/>
          </a:prstGeom>
          <a:solidFill>
            <a:srgbClr val="B45309"/>
          </a:solidFill>
          <a:ln>
            <a:noFill/>
          </a:ln>
        </p:spPr>
        <p:txBody>
          <a:bodyPr rtlCol="0" anchor="ctr"/>
          <a:lstStyle/>
          <a:p>
            <a:pPr algn="ctr"/>
          </a:p>
        </p:txBody>
      </p:sp>
      <p:sp>
        <p:nvSpPr>
          <p:cNvPr id="178" name="TextBox 177"/>
          <p:cNvSpPr txBox="1"/>
          <p:nvPr/>
        </p:nvSpPr>
        <p:spPr>
          <a:xfrm>
            <a:off x="7223759" y="2240280"/>
            <a:ext cx="3950208" cy="512064"/>
          </a:xfrm>
          <a:prstGeom prst="rect">
            <a:avLst/>
          </a:prstGeom>
          <a:noFill/>
        </p:spPr>
        <p:txBody>
          <a:bodyPr wrap="square" lIns="0" rIns="0" tIns="0" bIns="0" anchor="t">
            <a:noAutofit/>
          </a:bodyPr>
          <a:lstStyle/>
          <a:p>
            <a:pPr algn="l">
              <a:lnSpc>
                <a:spcPct val="92000"/>
              </a:lnSpc>
            </a:pPr>
            <a:r>
              <a:rPr sz="1200" b="1" i="0">
                <a:solidFill>
                  <a:srgbClr val="14142B"/>
                </a:solidFill>
                <a:latin typeface="Calibri"/>
              </a:rPr>
              <a:t>Synthetic development corpus</a:t>
            </a:r>
          </a:p>
          <a:p>
            <a:pPr algn="l">
              <a:lnSpc>
                <a:spcPct val="92000"/>
              </a:lnSpc>
            </a:pPr>
            <a:r>
              <a:rPr sz="1000" b="0" i="0">
                <a:solidFill>
                  <a:srgbClr val="63637E"/>
                </a:solidFill>
                <a:latin typeface="Calibri"/>
              </a:rPr>
              <a:t>16 documents; corpus and all eval sets written by the system's author</a:t>
            </a:r>
          </a:p>
        </p:txBody>
      </p:sp>
      <p:sp>
        <p:nvSpPr>
          <p:cNvPr id="179" name="Oval 178"/>
          <p:cNvSpPr/>
          <p:nvPr/>
        </p:nvSpPr>
        <p:spPr>
          <a:xfrm>
            <a:off x="7013448" y="2852928"/>
            <a:ext cx="91440" cy="91440"/>
          </a:xfrm>
          <a:prstGeom prst="ellipse">
            <a:avLst/>
          </a:prstGeom>
          <a:solidFill>
            <a:srgbClr val="B45309"/>
          </a:solidFill>
          <a:ln>
            <a:noFill/>
          </a:ln>
        </p:spPr>
        <p:txBody>
          <a:bodyPr rtlCol="0" anchor="ctr"/>
          <a:lstStyle/>
          <a:p>
            <a:pPr algn="ctr"/>
          </a:p>
        </p:txBody>
      </p:sp>
      <p:sp>
        <p:nvSpPr>
          <p:cNvPr id="180" name="TextBox 179"/>
          <p:cNvSpPr txBox="1"/>
          <p:nvPr/>
        </p:nvSpPr>
        <p:spPr>
          <a:xfrm>
            <a:off x="7223759" y="2761488"/>
            <a:ext cx="3950208" cy="512064"/>
          </a:xfrm>
          <a:prstGeom prst="rect">
            <a:avLst/>
          </a:prstGeom>
          <a:noFill/>
        </p:spPr>
        <p:txBody>
          <a:bodyPr wrap="square" lIns="0" rIns="0" tIns="0" bIns="0" anchor="t">
            <a:noAutofit/>
          </a:bodyPr>
          <a:lstStyle/>
          <a:p>
            <a:pPr algn="l">
              <a:lnSpc>
                <a:spcPct val="92000"/>
              </a:lnSpc>
            </a:pPr>
            <a:r>
              <a:rPr sz="1200" b="1" i="0">
                <a:solidFill>
                  <a:srgbClr val="14142B"/>
                </a:solidFill>
                <a:latin typeface="Calibri"/>
              </a:rPr>
              <a:t>No official validation</a:t>
            </a:r>
          </a:p>
          <a:p>
            <a:pPr algn="l">
              <a:lnSpc>
                <a:spcPct val="92000"/>
              </a:lnSpc>
            </a:pPr>
            <a:r>
              <a:rPr sz="1000" b="0" i="0">
                <a:solidFill>
                  <a:srgbClr val="63637E"/>
                </a:solidFill>
                <a:latin typeface="Calibri"/>
              </a:rPr>
              <a:t>the official Theme 4 corpus was not available</a:t>
            </a:r>
          </a:p>
        </p:txBody>
      </p:sp>
      <p:sp>
        <p:nvSpPr>
          <p:cNvPr id="181" name="Oval 180"/>
          <p:cNvSpPr/>
          <p:nvPr/>
        </p:nvSpPr>
        <p:spPr>
          <a:xfrm>
            <a:off x="7013448" y="3374136"/>
            <a:ext cx="91440" cy="91440"/>
          </a:xfrm>
          <a:prstGeom prst="ellipse">
            <a:avLst/>
          </a:prstGeom>
          <a:solidFill>
            <a:srgbClr val="B45309"/>
          </a:solidFill>
          <a:ln>
            <a:noFill/>
          </a:ln>
        </p:spPr>
        <p:txBody>
          <a:bodyPr rtlCol="0" anchor="ctr"/>
          <a:lstStyle/>
          <a:p>
            <a:pPr algn="ctr"/>
          </a:p>
        </p:txBody>
      </p:sp>
      <p:sp>
        <p:nvSpPr>
          <p:cNvPr id="182" name="TextBox 181"/>
          <p:cNvSpPr txBox="1"/>
          <p:nvPr/>
        </p:nvSpPr>
        <p:spPr>
          <a:xfrm>
            <a:off x="7223759" y="3282696"/>
            <a:ext cx="3950208" cy="512064"/>
          </a:xfrm>
          <a:prstGeom prst="rect">
            <a:avLst/>
          </a:prstGeom>
          <a:noFill/>
        </p:spPr>
        <p:txBody>
          <a:bodyPr wrap="square" lIns="0" rIns="0" tIns="0" bIns="0" anchor="t">
            <a:noAutofit/>
          </a:bodyPr>
          <a:lstStyle/>
          <a:p>
            <a:pPr algn="l">
              <a:lnSpc>
                <a:spcPct val="92000"/>
              </a:lnSpc>
            </a:pPr>
            <a:r>
              <a:rPr sz="1200" b="1" i="0">
                <a:solidFill>
                  <a:srgbClr val="14142B"/>
                </a:solidFill>
                <a:latin typeface="Calibri"/>
              </a:rPr>
              <a:t>Conservative abstention</a:t>
            </a:r>
          </a:p>
          <a:p>
            <a:pPr algn="l">
              <a:lnSpc>
                <a:spcPct val="92000"/>
              </a:lnSpc>
            </a:pPr>
            <a:r>
              <a:rPr sz="1000" b="0" i="0">
                <a:solidFill>
                  <a:srgbClr val="63637E"/>
                </a:solidFill>
                <a:latin typeface="Calibri"/>
              </a:rPr>
              <a:t>12 of 63 answerable held-out turns refused; citation hit 73% = baseline</a:t>
            </a:r>
          </a:p>
        </p:txBody>
      </p:sp>
      <p:sp>
        <p:nvSpPr>
          <p:cNvPr id="183" name="Oval 182"/>
          <p:cNvSpPr/>
          <p:nvPr/>
        </p:nvSpPr>
        <p:spPr>
          <a:xfrm>
            <a:off x="7013448" y="3895344"/>
            <a:ext cx="91440" cy="91440"/>
          </a:xfrm>
          <a:prstGeom prst="ellipse">
            <a:avLst/>
          </a:prstGeom>
          <a:solidFill>
            <a:srgbClr val="B45309"/>
          </a:solidFill>
          <a:ln>
            <a:noFill/>
          </a:ln>
        </p:spPr>
        <p:txBody>
          <a:bodyPr rtlCol="0" anchor="ctr"/>
          <a:lstStyle/>
          <a:p>
            <a:pPr algn="ctr"/>
          </a:p>
        </p:txBody>
      </p:sp>
      <p:sp>
        <p:nvSpPr>
          <p:cNvPr id="184" name="TextBox 183"/>
          <p:cNvSpPr txBox="1"/>
          <p:nvPr/>
        </p:nvSpPr>
        <p:spPr>
          <a:xfrm>
            <a:off x="7223759" y="3803904"/>
            <a:ext cx="3950208" cy="512064"/>
          </a:xfrm>
          <a:prstGeom prst="rect">
            <a:avLst/>
          </a:prstGeom>
          <a:noFill/>
        </p:spPr>
        <p:txBody>
          <a:bodyPr wrap="square" lIns="0" rIns="0" tIns="0" bIns="0" anchor="t">
            <a:noAutofit/>
          </a:bodyPr>
          <a:lstStyle/>
          <a:p>
            <a:pPr algn="l">
              <a:lnSpc>
                <a:spcPct val="92000"/>
              </a:lnSpc>
            </a:pPr>
            <a:r>
              <a:rPr sz="1200" b="1" i="0">
                <a:solidFill>
                  <a:srgbClr val="14142B"/>
                </a:solidFill>
                <a:latin typeface="Calibri"/>
              </a:rPr>
              <a:t>Off-target extractive sentences</a:t>
            </a:r>
          </a:p>
          <a:p>
            <a:pPr algn="l">
              <a:lnSpc>
                <a:spcPct val="92000"/>
              </a:lnSpc>
            </a:pPr>
            <a:r>
              <a:rPr sz="1000" b="0" i="0">
                <a:solidFill>
                  <a:srgbClr val="63637E"/>
                </a:solidFill>
                <a:latin typeface="Calibri"/>
              </a:rPr>
              <a:t>a second, on-topic sentence can miss the question</a:t>
            </a:r>
          </a:p>
        </p:txBody>
      </p:sp>
      <p:sp>
        <p:nvSpPr>
          <p:cNvPr id="185" name="Oval 184"/>
          <p:cNvSpPr/>
          <p:nvPr/>
        </p:nvSpPr>
        <p:spPr>
          <a:xfrm>
            <a:off x="7013448" y="4416552"/>
            <a:ext cx="91440" cy="91440"/>
          </a:xfrm>
          <a:prstGeom prst="ellipse">
            <a:avLst/>
          </a:prstGeom>
          <a:solidFill>
            <a:srgbClr val="B45309"/>
          </a:solidFill>
          <a:ln>
            <a:noFill/>
          </a:ln>
        </p:spPr>
        <p:txBody>
          <a:bodyPr rtlCol="0" anchor="ctr"/>
          <a:lstStyle/>
          <a:p>
            <a:pPr algn="ctr"/>
          </a:p>
        </p:txBody>
      </p:sp>
      <p:sp>
        <p:nvSpPr>
          <p:cNvPr id="186" name="TextBox 185"/>
          <p:cNvSpPr txBox="1"/>
          <p:nvPr/>
        </p:nvSpPr>
        <p:spPr>
          <a:xfrm>
            <a:off x="7223759" y="4325112"/>
            <a:ext cx="3950208" cy="512064"/>
          </a:xfrm>
          <a:prstGeom prst="rect">
            <a:avLst/>
          </a:prstGeom>
          <a:noFill/>
        </p:spPr>
        <p:txBody>
          <a:bodyPr wrap="square" lIns="0" rIns="0" tIns="0" bIns="0" anchor="t">
            <a:noAutofit/>
          </a:bodyPr>
          <a:lstStyle/>
          <a:p>
            <a:pPr algn="l">
              <a:lnSpc>
                <a:spcPct val="92000"/>
              </a:lnSpc>
            </a:pPr>
            <a:r>
              <a:rPr sz="1200" b="1" i="0">
                <a:solidFill>
                  <a:srgbClr val="14142B"/>
                </a:solidFill>
                <a:latin typeface="Calibri"/>
              </a:rPr>
              <a:t>Extractive, simulated</a:t>
            </a:r>
          </a:p>
          <a:p>
            <a:pPr algn="l">
              <a:lnSpc>
                <a:spcPct val="92000"/>
              </a:lnSpc>
            </a:pPr>
            <a:r>
              <a:rPr sz="1000" b="0" i="0">
                <a:solidFill>
                  <a:srgbClr val="63637E"/>
                </a:solidFill>
                <a:latin typeface="Calibri"/>
              </a:rPr>
              <a:t>grounded but not fluent answers; speech simulated from transcripts</a:t>
            </a:r>
          </a:p>
        </p:txBody>
      </p:sp>
      <p:sp>
        <p:nvSpPr>
          <p:cNvPr id="187" name="Oval 186"/>
          <p:cNvSpPr/>
          <p:nvPr/>
        </p:nvSpPr>
        <p:spPr>
          <a:xfrm>
            <a:off x="7013448" y="4937759"/>
            <a:ext cx="91440" cy="91440"/>
          </a:xfrm>
          <a:prstGeom prst="ellipse">
            <a:avLst/>
          </a:prstGeom>
          <a:solidFill>
            <a:srgbClr val="B45309"/>
          </a:solidFill>
          <a:ln>
            <a:noFill/>
          </a:ln>
        </p:spPr>
        <p:txBody>
          <a:bodyPr rtlCol="0" anchor="ctr"/>
          <a:lstStyle/>
          <a:p>
            <a:pPr algn="ctr"/>
          </a:p>
        </p:txBody>
      </p:sp>
      <p:sp>
        <p:nvSpPr>
          <p:cNvPr id="188" name="TextBox 187"/>
          <p:cNvSpPr txBox="1"/>
          <p:nvPr/>
        </p:nvSpPr>
        <p:spPr>
          <a:xfrm>
            <a:off x="7223759" y="4846320"/>
            <a:ext cx="3950208" cy="512064"/>
          </a:xfrm>
          <a:prstGeom prst="rect">
            <a:avLst/>
          </a:prstGeom>
          <a:noFill/>
        </p:spPr>
        <p:txBody>
          <a:bodyPr wrap="square" lIns="0" rIns="0" tIns="0" bIns="0" anchor="t">
            <a:noAutofit/>
          </a:bodyPr>
          <a:lstStyle/>
          <a:p>
            <a:pPr algn="l">
              <a:lnSpc>
                <a:spcPct val="92000"/>
              </a:lnSpc>
            </a:pPr>
            <a:r>
              <a:rPr sz="1200" b="1" i="0">
                <a:solidFill>
                  <a:srgbClr val="14142B"/>
                </a:solidFill>
                <a:latin typeface="Calibri"/>
              </a:rPr>
              <a:t>Surface-cue decomposition</a:t>
            </a:r>
          </a:p>
          <a:p>
            <a:pPr algn="l">
              <a:lnSpc>
                <a:spcPct val="92000"/>
              </a:lnSpc>
            </a:pPr>
            <a:r>
              <a:rPr sz="1000" b="0" i="0">
                <a:solidFill>
                  <a:srgbClr val="63637E"/>
                </a:solidFill>
                <a:latin typeface="Calibri"/>
              </a:rPr>
              <a:t>implicit multi-intent without a connective stays one query</a:t>
            </a:r>
          </a:p>
        </p:txBody>
      </p:sp>
      <p:sp>
        <p:nvSpPr>
          <p:cNvPr id="189" name="Oval 188"/>
          <p:cNvSpPr/>
          <p:nvPr/>
        </p:nvSpPr>
        <p:spPr>
          <a:xfrm>
            <a:off x="7013448" y="5458968"/>
            <a:ext cx="91440" cy="91440"/>
          </a:xfrm>
          <a:prstGeom prst="ellipse">
            <a:avLst/>
          </a:prstGeom>
          <a:solidFill>
            <a:srgbClr val="B45309"/>
          </a:solidFill>
          <a:ln>
            <a:noFill/>
          </a:ln>
        </p:spPr>
        <p:txBody>
          <a:bodyPr rtlCol="0" anchor="ctr"/>
          <a:lstStyle/>
          <a:p>
            <a:pPr algn="ctr"/>
          </a:p>
        </p:txBody>
      </p:sp>
      <p:sp>
        <p:nvSpPr>
          <p:cNvPr id="190" name="TextBox 189"/>
          <p:cNvSpPr txBox="1"/>
          <p:nvPr/>
        </p:nvSpPr>
        <p:spPr>
          <a:xfrm>
            <a:off x="7223759" y="5367528"/>
            <a:ext cx="3950208" cy="512064"/>
          </a:xfrm>
          <a:prstGeom prst="rect">
            <a:avLst/>
          </a:prstGeom>
          <a:noFill/>
        </p:spPr>
        <p:txBody>
          <a:bodyPr wrap="square" lIns="0" rIns="0" tIns="0" bIns="0" anchor="t">
            <a:noAutofit/>
          </a:bodyPr>
          <a:lstStyle/>
          <a:p>
            <a:pPr algn="l">
              <a:lnSpc>
                <a:spcPct val="92000"/>
              </a:lnSpc>
            </a:pPr>
            <a:r>
              <a:rPr sz="1200" b="1" i="0">
                <a:solidFill>
                  <a:srgbClr val="14142B"/>
                </a:solidFill>
                <a:latin typeface="Calibri"/>
              </a:rPr>
              <a:t>Docker on one machine</a:t>
            </a:r>
          </a:p>
          <a:p>
            <a:pPr algn="l">
              <a:lnSpc>
                <a:spcPct val="92000"/>
              </a:lnSpc>
            </a:pPr>
            <a:r>
              <a:rPr sz="1000" b="0" i="0">
                <a:solidFill>
                  <a:srgbClr val="63637E"/>
                </a:solidFill>
                <a:latin typeface="Calibri"/>
              </a:rPr>
              <a:t>verified on the development machine only</a:t>
            </a:r>
          </a:p>
        </p:txBody>
      </p:sp>
      <p:sp>
        <p:nvSpPr>
          <p:cNvPr id="191" name="TextBox 190"/>
          <p:cNvSpPr txBox="1"/>
          <p:nvPr/>
        </p:nvSpPr>
        <p:spPr>
          <a:xfrm>
            <a:off x="841248" y="6089904"/>
            <a:ext cx="10515600" cy="237744"/>
          </a:xfrm>
          <a:prstGeom prst="rect">
            <a:avLst/>
          </a:prstGeom>
          <a:noFill/>
        </p:spPr>
        <p:txBody>
          <a:bodyPr wrap="square" lIns="0" rIns="0" tIns="0" bIns="0" anchor="t">
            <a:noAutofit/>
          </a:bodyPr>
          <a:lstStyle/>
          <a:p>
            <a:pPr algn="l"/>
            <a:r>
              <a:rPr sz="950" b="0" i="1">
                <a:solidFill>
                  <a:srgbClr val="63637E"/>
                </a:solidFill>
                <a:latin typeface="Calibri"/>
              </a:rPr>
              <a:t>Development benchmark · 16-document synthetic corpus · full list: docs/limitations.md</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What's Next</a:t>
            </a:r>
            <a:endParaRPr b="1" sz="4400">
              <a:solidFill>
                <a:srgbClr val="704EA6"/>
              </a:solidFill>
            </a:endParaRPr>
          </a:p>
        </p:txBody>
      </p:sp>
      <p:sp>
        <p:nvSpPr>
          <p:cNvPr id="144" name="TextBox 143"/>
          <p:cNvSpPr txBox="1"/>
          <p:nvPr/>
        </p:nvSpPr>
        <p:spPr>
          <a:xfrm>
            <a:off x="841248" y="1691640"/>
            <a:ext cx="10515600" cy="274320"/>
          </a:xfrm>
          <a:prstGeom prst="rect">
            <a:avLst/>
          </a:prstGeom>
          <a:noFill/>
        </p:spPr>
        <p:txBody>
          <a:bodyPr wrap="square" lIns="0" rIns="0" tIns="0" bIns="0" anchor="t">
            <a:noAutofit/>
          </a:bodyPr>
          <a:lstStyle/>
          <a:p>
            <a:pPr algn="l"/>
            <a:r>
              <a:rPr sz="1200" b="0" i="1">
                <a:solidFill>
                  <a:srgbClr val="63637E"/>
                </a:solidFill>
                <a:latin typeface="Calibri"/>
              </a:rPr>
              <a:t>Planned work, not implemented yet.</a:t>
            </a:r>
          </a:p>
        </p:txBody>
      </p:sp>
      <p:sp>
        <p:nvSpPr>
          <p:cNvPr id="145" name="Rounded Rectangle 144"/>
          <p:cNvSpPr/>
          <p:nvPr/>
        </p:nvSpPr>
        <p:spPr>
          <a:xfrm>
            <a:off x="841248" y="2103120"/>
            <a:ext cx="3322320" cy="3611880"/>
          </a:xfrm>
          <a:prstGeom prst="roundRect">
            <a:avLst>
              <a:gd name="adj" fmla="val 3302"/>
            </a:avLst>
          </a:prstGeom>
          <a:solidFill>
            <a:srgbClr val="F4F1FC"/>
          </a:solidFill>
          <a:ln>
            <a:noFill/>
          </a:ln>
        </p:spPr>
        <p:txBody>
          <a:bodyPr rtlCol="0" anchor="ctr"/>
          <a:lstStyle/>
          <a:p>
            <a:pPr algn="ctr"/>
          </a:p>
        </p:txBody>
      </p:sp>
      <p:sp>
        <p:nvSpPr>
          <p:cNvPr id="146" name="Rounded Rectangle 145"/>
          <p:cNvSpPr/>
          <p:nvPr/>
        </p:nvSpPr>
        <p:spPr>
          <a:xfrm>
            <a:off x="1042416" y="2267712"/>
            <a:ext cx="731520" cy="274320"/>
          </a:xfrm>
          <a:prstGeom prst="roundRect">
            <a:avLst>
              <a:gd name="adj" fmla="val 50000"/>
            </a:avLst>
          </a:prstGeom>
          <a:solidFill>
            <a:srgbClr val="6D28D9"/>
          </a:solidFill>
          <a:ln>
            <a:noFill/>
          </a:ln>
        </p:spPr>
        <p:txBody>
          <a:bodyPr rtlCol="0" anchor="ctr" wrap="square" lIns="36576" rIns="36576" tIns="36576" bIns="36576">
            <a:noAutofit/>
          </a:bodyPr>
          <a:lstStyle/>
          <a:p>
            <a:pPr algn="ctr"/>
            <a:r>
              <a:rPr sz="1000" b="1" i="0">
                <a:solidFill>
                  <a:srgbClr val="FFFFFF"/>
                </a:solidFill>
                <a:latin typeface="Calibri"/>
              </a:rPr>
              <a:t>Now</a:t>
            </a:r>
          </a:p>
        </p:txBody>
      </p:sp>
      <p:sp>
        <p:nvSpPr>
          <p:cNvPr id="147" name="TextBox 146"/>
          <p:cNvSpPr txBox="1"/>
          <p:nvPr/>
        </p:nvSpPr>
        <p:spPr>
          <a:xfrm>
            <a:off x="1892807" y="2231136"/>
            <a:ext cx="2133599" cy="365760"/>
          </a:xfrm>
          <a:prstGeom prst="rect">
            <a:avLst/>
          </a:prstGeom>
          <a:noFill/>
        </p:spPr>
        <p:txBody>
          <a:bodyPr wrap="square" lIns="0" rIns="0" tIns="0" bIns="0" anchor="t">
            <a:noAutofit/>
          </a:bodyPr>
          <a:lstStyle/>
          <a:p>
            <a:pPr algn="l"/>
            <a:r>
              <a:rPr sz="1800" b="1" i="0">
                <a:solidFill>
                  <a:srgbClr val="14142B"/>
                </a:solidFill>
                <a:latin typeface="Arial"/>
              </a:rPr>
              <a:t>Validate</a:t>
            </a:r>
          </a:p>
        </p:txBody>
      </p:sp>
      <p:sp>
        <p:nvSpPr>
          <p:cNvPr id="148" name="TextBox 147"/>
          <p:cNvSpPr txBox="1"/>
          <p:nvPr/>
        </p:nvSpPr>
        <p:spPr>
          <a:xfrm>
            <a:off x="1042416" y="2788920"/>
            <a:ext cx="2919984" cy="960120"/>
          </a:xfrm>
          <a:prstGeom prst="rect">
            <a:avLst/>
          </a:prstGeom>
          <a:noFill/>
        </p:spPr>
        <p:txBody>
          <a:bodyPr wrap="square" lIns="0" rIns="0" tIns="0" bIns="0" anchor="t">
            <a:noAutofit/>
          </a:bodyPr>
          <a:lstStyle/>
          <a:p>
            <a:pPr algn="l">
              <a:lnSpc>
                <a:spcPct val="95000"/>
              </a:lnSpc>
            </a:pPr>
            <a:r>
              <a:rPr sz="1300" b="1" i="0">
                <a:solidFill>
                  <a:srgbClr val="14142B"/>
                </a:solidFill>
                <a:latin typeface="Calibri"/>
              </a:rPr>
              <a:t>Official corpus</a:t>
            </a:r>
          </a:p>
          <a:p>
            <a:pPr algn="l">
              <a:lnSpc>
                <a:spcPct val="95000"/>
              </a:lnSpc>
            </a:pPr>
            <a:r>
              <a:rPr sz="1100" b="0" i="0">
                <a:solidFill>
                  <a:srgbClr val="63637E"/>
                </a:solidFill>
                <a:latin typeface="Calibri"/>
              </a:rPr>
              <a:t>run on the official Theme 4 corpus and held-out replay; re-author gold labels and demos</a:t>
            </a:r>
          </a:p>
        </p:txBody>
      </p:sp>
      <p:sp>
        <p:nvSpPr>
          <p:cNvPr id="149" name="TextBox 148"/>
          <p:cNvSpPr txBox="1"/>
          <p:nvPr/>
        </p:nvSpPr>
        <p:spPr>
          <a:xfrm>
            <a:off x="1042416" y="3721608"/>
            <a:ext cx="2919984" cy="960120"/>
          </a:xfrm>
          <a:prstGeom prst="rect">
            <a:avLst/>
          </a:prstGeom>
          <a:noFill/>
        </p:spPr>
        <p:txBody>
          <a:bodyPr wrap="square" lIns="0" rIns="0" tIns="0" bIns="0" anchor="t">
            <a:noAutofit/>
          </a:bodyPr>
          <a:lstStyle/>
          <a:p>
            <a:pPr algn="l">
              <a:lnSpc>
                <a:spcPct val="95000"/>
              </a:lnSpc>
            </a:pPr>
            <a:r>
              <a:rPr sz="1300" b="1" i="0">
                <a:solidFill>
                  <a:srgbClr val="14142B"/>
                </a:solidFill>
                <a:latin typeface="Calibri"/>
              </a:rPr>
              <a:t>Independent evaluation</a:t>
            </a:r>
          </a:p>
          <a:p>
            <a:pPr algn="l">
              <a:lnSpc>
                <a:spcPct val="95000"/>
              </a:lnSpc>
            </a:pPr>
            <a:r>
              <a:rPr sz="1100" b="0" i="0">
                <a:solidFill>
                  <a:srgbClr val="63637E"/>
                </a:solidFill>
                <a:latin typeface="Calibri"/>
              </a:rPr>
              <a:t>evaluation sets not written by the system's author; wider coverage</a:t>
            </a:r>
          </a:p>
        </p:txBody>
      </p:sp>
      <p:cxnSp>
        <p:nvCxnSpPr>
          <p:cNvPr id="150" name="Connector 149"/>
          <p:cNvCxnSpPr/>
          <p:nvPr/>
        </p:nvCxnSpPr>
        <p:spPr>
          <a:xfrm>
            <a:off x="4200144" y="2404872"/>
            <a:ext cx="201168" cy="0"/>
          </a:xfrm>
          <a:prstGeom prst="line">
            <a:avLst/>
          </a:prstGeom>
          <a:ln w="19050">
            <a:solidFill>
              <a:srgbClr val="6D28D9"/>
            </a:solidFill>
            <a:tailEnd type="triangle" w="med" len="med"/>
          </a:ln>
        </p:spPr>
      </p:cxnSp>
      <p:sp>
        <p:nvSpPr>
          <p:cNvPr id="151" name="Rounded Rectangle 150"/>
          <p:cNvSpPr/>
          <p:nvPr/>
        </p:nvSpPr>
        <p:spPr>
          <a:xfrm>
            <a:off x="4437888" y="2103120"/>
            <a:ext cx="3322320" cy="3611880"/>
          </a:xfrm>
          <a:prstGeom prst="roundRect">
            <a:avLst>
              <a:gd name="adj" fmla="val 3302"/>
            </a:avLst>
          </a:prstGeom>
          <a:solidFill>
            <a:srgbClr val="F3F3F7"/>
          </a:solidFill>
          <a:ln>
            <a:noFill/>
          </a:ln>
        </p:spPr>
        <p:txBody>
          <a:bodyPr rtlCol="0" anchor="ctr"/>
          <a:lstStyle/>
          <a:p>
            <a:pPr algn="ctr"/>
          </a:p>
        </p:txBody>
      </p:sp>
      <p:sp>
        <p:nvSpPr>
          <p:cNvPr id="152" name="Rounded Rectangle 151"/>
          <p:cNvSpPr/>
          <p:nvPr/>
        </p:nvSpPr>
        <p:spPr>
          <a:xfrm>
            <a:off x="4639056" y="2267712"/>
            <a:ext cx="731520" cy="274320"/>
          </a:xfrm>
          <a:prstGeom prst="roundRect">
            <a:avLst>
              <a:gd name="adj" fmla="val 50000"/>
            </a:avLst>
          </a:prstGeom>
          <a:solidFill>
            <a:srgbClr val="6D28D9"/>
          </a:solidFill>
          <a:ln>
            <a:noFill/>
          </a:ln>
        </p:spPr>
        <p:txBody>
          <a:bodyPr rtlCol="0" anchor="ctr" wrap="square" lIns="36576" rIns="36576" tIns="36576" bIns="36576">
            <a:noAutofit/>
          </a:bodyPr>
          <a:lstStyle/>
          <a:p>
            <a:pPr algn="ctr"/>
            <a:r>
              <a:rPr sz="1000" b="1" i="0">
                <a:solidFill>
                  <a:srgbClr val="FFFFFF"/>
                </a:solidFill>
                <a:latin typeface="Calibri"/>
              </a:rPr>
              <a:t>Next</a:t>
            </a:r>
          </a:p>
        </p:txBody>
      </p:sp>
      <p:sp>
        <p:nvSpPr>
          <p:cNvPr id="153" name="TextBox 152"/>
          <p:cNvSpPr txBox="1"/>
          <p:nvPr/>
        </p:nvSpPr>
        <p:spPr>
          <a:xfrm>
            <a:off x="5489448" y="2231136"/>
            <a:ext cx="2133599" cy="365760"/>
          </a:xfrm>
          <a:prstGeom prst="rect">
            <a:avLst/>
          </a:prstGeom>
          <a:noFill/>
        </p:spPr>
        <p:txBody>
          <a:bodyPr wrap="square" lIns="0" rIns="0" tIns="0" bIns="0" anchor="t">
            <a:noAutofit/>
          </a:bodyPr>
          <a:lstStyle/>
          <a:p>
            <a:pPr algn="l"/>
            <a:r>
              <a:rPr sz="1800" b="1" i="0">
                <a:solidFill>
                  <a:srgbClr val="14142B"/>
                </a:solidFill>
                <a:latin typeface="Arial"/>
              </a:rPr>
              <a:t>Improve</a:t>
            </a:r>
          </a:p>
        </p:txBody>
      </p:sp>
      <p:sp>
        <p:nvSpPr>
          <p:cNvPr id="154" name="TextBox 153"/>
          <p:cNvSpPr txBox="1"/>
          <p:nvPr/>
        </p:nvSpPr>
        <p:spPr>
          <a:xfrm>
            <a:off x="4639056" y="2788920"/>
            <a:ext cx="2919984" cy="960120"/>
          </a:xfrm>
          <a:prstGeom prst="rect">
            <a:avLst/>
          </a:prstGeom>
          <a:noFill/>
        </p:spPr>
        <p:txBody>
          <a:bodyPr wrap="square" lIns="0" rIns="0" tIns="0" bIns="0" anchor="t">
            <a:noAutofit/>
          </a:bodyPr>
          <a:lstStyle/>
          <a:p>
            <a:pPr algn="l">
              <a:lnSpc>
                <a:spcPct val="95000"/>
              </a:lnSpc>
            </a:pPr>
            <a:r>
              <a:rPr sz="1300" b="1" i="0">
                <a:solidFill>
                  <a:srgbClr val="14142B"/>
                </a:solidFill>
                <a:latin typeface="Calibri"/>
              </a:rPr>
              <a:t>Semantic abstention</a:t>
            </a:r>
          </a:p>
          <a:p>
            <a:pPr algn="l">
              <a:lnSpc>
                <a:spcPct val="95000"/>
              </a:lnSpc>
            </a:pPr>
            <a:r>
              <a:rPr sz="1100" b="0" i="0">
                <a:solidFill>
                  <a:srgbClr val="63637E"/>
                </a:solidFill>
                <a:latin typeface="Calibri"/>
              </a:rPr>
              <a:t>larger independent calibration set or a small NLI answerability model</a:t>
            </a:r>
          </a:p>
        </p:txBody>
      </p:sp>
      <p:sp>
        <p:nvSpPr>
          <p:cNvPr id="155" name="TextBox 154"/>
          <p:cNvSpPr txBox="1"/>
          <p:nvPr/>
        </p:nvSpPr>
        <p:spPr>
          <a:xfrm>
            <a:off x="4639056" y="3721608"/>
            <a:ext cx="2919984" cy="960120"/>
          </a:xfrm>
          <a:prstGeom prst="rect">
            <a:avLst/>
          </a:prstGeom>
          <a:noFill/>
        </p:spPr>
        <p:txBody>
          <a:bodyPr wrap="square" lIns="0" rIns="0" tIns="0" bIns="0" anchor="t">
            <a:noAutofit/>
          </a:bodyPr>
          <a:lstStyle/>
          <a:p>
            <a:pPr algn="l">
              <a:lnSpc>
                <a:spcPct val="95000"/>
              </a:lnSpc>
            </a:pPr>
            <a:r>
              <a:rPr sz="1300" b="1" i="0">
                <a:solidFill>
                  <a:srgbClr val="14142B"/>
                </a:solidFill>
                <a:latin typeface="Calibri"/>
              </a:rPr>
              <a:t>Evidence aggregation</a:t>
            </a:r>
          </a:p>
          <a:p>
            <a:pPr algn="l">
              <a:lnSpc>
                <a:spcPct val="95000"/>
              </a:lnSpc>
            </a:pPr>
            <a:r>
              <a:rPr sz="1100" b="0" i="0">
                <a:solidFill>
                  <a:srgbClr val="63637E"/>
                </a:solidFill>
                <a:latin typeface="Calibri"/>
              </a:rPr>
              <a:t>better answer-sentence selection; optional LLM synthesis behind the validator + entailment check</a:t>
            </a:r>
          </a:p>
        </p:txBody>
      </p:sp>
      <p:sp>
        <p:nvSpPr>
          <p:cNvPr id="156" name="TextBox 155"/>
          <p:cNvSpPr txBox="1"/>
          <p:nvPr/>
        </p:nvSpPr>
        <p:spPr>
          <a:xfrm>
            <a:off x="4639056" y="4654296"/>
            <a:ext cx="2919984" cy="960120"/>
          </a:xfrm>
          <a:prstGeom prst="rect">
            <a:avLst/>
          </a:prstGeom>
          <a:noFill/>
        </p:spPr>
        <p:txBody>
          <a:bodyPr wrap="square" lIns="0" rIns="0" tIns="0" bIns="0" anchor="t">
            <a:noAutofit/>
          </a:bodyPr>
          <a:lstStyle/>
          <a:p>
            <a:pPr algn="l">
              <a:lnSpc>
                <a:spcPct val="95000"/>
              </a:lnSpc>
            </a:pPr>
            <a:r>
              <a:rPr sz="1300" b="1" i="0">
                <a:solidFill>
                  <a:srgbClr val="14142B"/>
                </a:solidFill>
                <a:latin typeface="Calibri"/>
              </a:rPr>
              <a:t>Learned retrieval control</a:t>
            </a:r>
          </a:p>
          <a:p>
            <a:pPr algn="l">
              <a:lnSpc>
                <a:spcPct val="95000"/>
              </a:lnSpc>
            </a:pPr>
            <a:r>
              <a:rPr sz="1100" b="0" i="0">
                <a:solidFill>
                  <a:srgbClr val="63637E"/>
                </a:solidFill>
                <a:latin typeface="Calibri"/>
              </a:rPr>
              <a:t>learned segmenter for implicit multi-intent; more controller training data</a:t>
            </a:r>
          </a:p>
        </p:txBody>
      </p:sp>
      <p:cxnSp>
        <p:nvCxnSpPr>
          <p:cNvPr id="157" name="Connector 156"/>
          <p:cNvCxnSpPr/>
          <p:nvPr/>
        </p:nvCxnSpPr>
        <p:spPr>
          <a:xfrm>
            <a:off x="7796783" y="2404872"/>
            <a:ext cx="201169" cy="0"/>
          </a:xfrm>
          <a:prstGeom prst="line">
            <a:avLst/>
          </a:prstGeom>
          <a:ln w="19050">
            <a:solidFill>
              <a:srgbClr val="6D28D9"/>
            </a:solidFill>
            <a:tailEnd type="triangle" w="med" len="med"/>
          </a:ln>
        </p:spPr>
      </p:cxnSp>
      <p:sp>
        <p:nvSpPr>
          <p:cNvPr id="158" name="Rounded Rectangle 157"/>
          <p:cNvSpPr/>
          <p:nvPr/>
        </p:nvSpPr>
        <p:spPr>
          <a:xfrm>
            <a:off x="8034528" y="2103120"/>
            <a:ext cx="3322320" cy="3611880"/>
          </a:xfrm>
          <a:prstGeom prst="roundRect">
            <a:avLst>
              <a:gd name="adj" fmla="val 3302"/>
            </a:avLst>
          </a:prstGeom>
          <a:solidFill>
            <a:srgbClr val="F4F1FC"/>
          </a:solidFill>
          <a:ln>
            <a:noFill/>
          </a:ln>
        </p:spPr>
        <p:txBody>
          <a:bodyPr rtlCol="0" anchor="ctr"/>
          <a:lstStyle/>
          <a:p>
            <a:pPr algn="ctr"/>
          </a:p>
        </p:txBody>
      </p:sp>
      <p:sp>
        <p:nvSpPr>
          <p:cNvPr id="159" name="Rounded Rectangle 158"/>
          <p:cNvSpPr/>
          <p:nvPr/>
        </p:nvSpPr>
        <p:spPr>
          <a:xfrm>
            <a:off x="8235696" y="2267712"/>
            <a:ext cx="731520" cy="274320"/>
          </a:xfrm>
          <a:prstGeom prst="roundRect">
            <a:avLst>
              <a:gd name="adj" fmla="val 50000"/>
            </a:avLst>
          </a:prstGeom>
          <a:solidFill>
            <a:srgbClr val="6D28D9"/>
          </a:solidFill>
          <a:ln>
            <a:noFill/>
          </a:ln>
        </p:spPr>
        <p:txBody>
          <a:bodyPr rtlCol="0" anchor="ctr" wrap="square" lIns="36576" rIns="36576" tIns="36576" bIns="36576">
            <a:noAutofit/>
          </a:bodyPr>
          <a:lstStyle/>
          <a:p>
            <a:pPr algn="ctr"/>
            <a:r>
              <a:rPr sz="1000" b="1" i="0">
                <a:solidFill>
                  <a:srgbClr val="FFFFFF"/>
                </a:solidFill>
                <a:latin typeface="Calibri"/>
              </a:rPr>
              <a:t>Later</a:t>
            </a:r>
          </a:p>
        </p:txBody>
      </p:sp>
      <p:sp>
        <p:nvSpPr>
          <p:cNvPr id="160" name="TextBox 159"/>
          <p:cNvSpPr txBox="1"/>
          <p:nvPr/>
        </p:nvSpPr>
        <p:spPr>
          <a:xfrm>
            <a:off x="9086088" y="2231136"/>
            <a:ext cx="2133599" cy="365760"/>
          </a:xfrm>
          <a:prstGeom prst="rect">
            <a:avLst/>
          </a:prstGeom>
          <a:noFill/>
        </p:spPr>
        <p:txBody>
          <a:bodyPr wrap="square" lIns="0" rIns="0" tIns="0" bIns="0" anchor="t">
            <a:noAutofit/>
          </a:bodyPr>
          <a:lstStyle/>
          <a:p>
            <a:pPr algn="l"/>
            <a:r>
              <a:rPr sz="1800" b="1" i="0">
                <a:solidFill>
                  <a:srgbClr val="14142B"/>
                </a:solidFill>
                <a:latin typeface="Arial"/>
              </a:rPr>
              <a:t>Scale</a:t>
            </a:r>
          </a:p>
        </p:txBody>
      </p:sp>
      <p:sp>
        <p:nvSpPr>
          <p:cNvPr id="161" name="TextBox 160"/>
          <p:cNvSpPr txBox="1"/>
          <p:nvPr/>
        </p:nvSpPr>
        <p:spPr>
          <a:xfrm>
            <a:off x="8235696" y="2788920"/>
            <a:ext cx="2919984" cy="960120"/>
          </a:xfrm>
          <a:prstGeom prst="rect">
            <a:avLst/>
          </a:prstGeom>
          <a:noFill/>
        </p:spPr>
        <p:txBody>
          <a:bodyPr wrap="square" lIns="0" rIns="0" tIns="0" bIns="0" anchor="t">
            <a:noAutofit/>
          </a:bodyPr>
          <a:lstStyle/>
          <a:p>
            <a:pPr algn="l">
              <a:lnSpc>
                <a:spcPct val="95000"/>
              </a:lnSpc>
            </a:pPr>
            <a:r>
              <a:rPr sz="1300" b="1" i="0">
                <a:solidFill>
                  <a:srgbClr val="14142B"/>
                </a:solidFill>
                <a:latin typeface="Calibri"/>
              </a:rPr>
              <a:t>True speech streaming</a:t>
            </a:r>
          </a:p>
          <a:p>
            <a:pPr algn="l">
              <a:lnSpc>
                <a:spcPct val="95000"/>
              </a:lnSpc>
            </a:pPr>
            <a:r>
              <a:rPr sz="1100" b="0" i="0">
                <a:solidFill>
                  <a:srgbClr val="63637E"/>
                </a:solidFill>
                <a:latin typeface="Calibri"/>
              </a:rPr>
              <a:t>ASR with revisable partial hypotheses; cancel stale provisional retrievals</a:t>
            </a:r>
          </a:p>
        </p:txBody>
      </p:sp>
      <p:sp>
        <p:nvSpPr>
          <p:cNvPr id="162" name="TextBox 161"/>
          <p:cNvSpPr txBox="1"/>
          <p:nvPr/>
        </p:nvSpPr>
        <p:spPr>
          <a:xfrm>
            <a:off x="8235696" y="3721608"/>
            <a:ext cx="2919984" cy="960120"/>
          </a:xfrm>
          <a:prstGeom prst="rect">
            <a:avLst/>
          </a:prstGeom>
          <a:noFill/>
        </p:spPr>
        <p:txBody>
          <a:bodyPr wrap="square" lIns="0" rIns="0" tIns="0" bIns="0" anchor="t">
            <a:noAutofit/>
          </a:bodyPr>
          <a:lstStyle/>
          <a:p>
            <a:pPr algn="l">
              <a:lnSpc>
                <a:spcPct val="95000"/>
              </a:lnSpc>
            </a:pPr>
            <a:r>
              <a:rPr sz="1300" b="1" i="0">
                <a:solidFill>
                  <a:srgbClr val="14142B"/>
                </a:solidFill>
                <a:latin typeface="Calibri"/>
              </a:rPr>
              <a:t>Latency</a:t>
            </a:r>
          </a:p>
          <a:p>
            <a:pPr algn="l">
              <a:lnSpc>
                <a:spcPct val="95000"/>
              </a:lnSpc>
            </a:pPr>
            <a:r>
              <a:rPr sz="1100" b="0" i="0">
                <a:solidFill>
                  <a:srgbClr val="63637E"/>
                </a:solidFill>
                <a:latin typeface="Calibri"/>
              </a:rPr>
              <a:t>cut reranking cost on the critical path</a:t>
            </a:r>
          </a:p>
        </p:txBody>
      </p:sp>
      <p:sp>
        <p:nvSpPr>
          <p:cNvPr id="163" name="TextBox 162"/>
          <p:cNvSpPr txBox="1"/>
          <p:nvPr/>
        </p:nvSpPr>
        <p:spPr>
          <a:xfrm>
            <a:off x="8235696" y="4654296"/>
            <a:ext cx="2919984" cy="960120"/>
          </a:xfrm>
          <a:prstGeom prst="rect">
            <a:avLst/>
          </a:prstGeom>
          <a:noFill/>
        </p:spPr>
        <p:txBody>
          <a:bodyPr wrap="square" lIns="0" rIns="0" tIns="0" bIns="0" anchor="t">
            <a:noAutofit/>
          </a:bodyPr>
          <a:lstStyle/>
          <a:p>
            <a:pPr algn="l">
              <a:lnSpc>
                <a:spcPct val="95000"/>
              </a:lnSpc>
            </a:pPr>
            <a:r>
              <a:rPr sz="1300" b="1" i="0">
                <a:solidFill>
                  <a:srgbClr val="14142B"/>
                </a:solidFill>
                <a:latin typeface="Calibri"/>
              </a:rPr>
              <a:t>Large corpora</a:t>
            </a:r>
          </a:p>
          <a:p>
            <a:pPr algn="l">
              <a:lnSpc>
                <a:spcPct val="95000"/>
              </a:lnSpc>
            </a:pPr>
            <a:r>
              <a:rPr sz="1100" b="0" i="0">
                <a:solidFill>
                  <a:srgbClr val="63637E"/>
                </a:solidFill>
                <a:latin typeface="Calibri"/>
              </a:rPr>
              <a:t>FAISS / HNSW index above ~100k chunks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Why Streaming Live RAG?</a:t>
            </a:r>
            <a:endParaRPr b="1" sz="4400">
              <a:solidFill>
                <a:srgbClr val="704EA6"/>
              </a:solidFill>
            </a:endParaRPr>
          </a:p>
        </p:txBody>
      </p:sp>
      <p:sp>
        <p:nvSpPr>
          <p:cNvPr id="150" name="Rounded Rectangle 149"/>
          <p:cNvSpPr/>
          <p:nvPr/>
        </p:nvSpPr>
        <p:spPr>
          <a:xfrm>
            <a:off x="2743200" y="1783080"/>
            <a:ext cx="4846320" cy="2606040"/>
          </a:xfrm>
          <a:prstGeom prst="roundRect">
            <a:avLst>
              <a:gd name="adj" fmla="val 2807"/>
            </a:avLst>
          </a:prstGeom>
          <a:solidFill>
            <a:srgbClr val="F4F1FC"/>
          </a:solidFill>
          <a:ln>
            <a:noFill/>
          </a:ln>
        </p:spPr>
        <p:txBody>
          <a:bodyPr rtlCol="0" anchor="ctr"/>
          <a:lstStyle/>
          <a:p>
            <a:pPr algn="ctr"/>
          </a:p>
        </p:txBody>
      </p:sp>
      <p:sp>
        <p:nvSpPr>
          <p:cNvPr id="151" name="TextBox 150"/>
          <p:cNvSpPr txBox="1"/>
          <p:nvPr/>
        </p:nvSpPr>
        <p:spPr>
          <a:xfrm>
            <a:off x="2743200" y="1828800"/>
            <a:ext cx="4846320" cy="274320"/>
          </a:xfrm>
          <a:prstGeom prst="rect">
            <a:avLst/>
          </a:prstGeom>
          <a:noFill/>
        </p:spPr>
        <p:txBody>
          <a:bodyPr wrap="square" lIns="0" rIns="0" tIns="0" bIns="0" anchor="t">
            <a:noAutofit/>
          </a:bodyPr>
          <a:lstStyle/>
          <a:p>
            <a:pPr algn="ctr"/>
            <a:r>
              <a:rPr sz="1000" b="1" i="0" spc="150">
                <a:solidFill>
                  <a:srgbClr val="6D28D9"/>
                </a:solidFill>
                <a:latin typeface="Calibri"/>
              </a:rPr>
              <a:t>USER IS SPEAKING</a:t>
            </a:r>
          </a:p>
        </p:txBody>
      </p:sp>
      <p:sp>
        <p:nvSpPr>
          <p:cNvPr id="152" name="TextBox 151"/>
          <p:cNvSpPr txBox="1"/>
          <p:nvPr/>
        </p:nvSpPr>
        <p:spPr>
          <a:xfrm>
            <a:off x="7680960" y="1828800"/>
            <a:ext cx="3566160" cy="274320"/>
          </a:xfrm>
          <a:prstGeom prst="rect">
            <a:avLst/>
          </a:prstGeom>
          <a:noFill/>
        </p:spPr>
        <p:txBody>
          <a:bodyPr wrap="square" lIns="0" rIns="0" tIns="0" bIns="0" anchor="t">
            <a:noAutofit/>
          </a:bodyPr>
          <a:lstStyle/>
          <a:p>
            <a:pPr algn="ctr"/>
            <a:r>
              <a:rPr sz="1000" b="1" i="0" spc="150">
                <a:solidFill>
                  <a:srgbClr val="63637E"/>
                </a:solidFill>
                <a:latin typeface="Calibri"/>
              </a:rPr>
              <a:t>AFTER THE USER STOPS</a:t>
            </a:r>
          </a:p>
        </p:txBody>
      </p:sp>
      <p:cxnSp>
        <p:nvCxnSpPr>
          <p:cNvPr id="153" name="Connector 152"/>
          <p:cNvCxnSpPr/>
          <p:nvPr/>
        </p:nvCxnSpPr>
        <p:spPr>
          <a:xfrm>
            <a:off x="7589520" y="1783080"/>
            <a:ext cx="0" cy="2606040"/>
          </a:xfrm>
          <a:prstGeom prst="line">
            <a:avLst/>
          </a:prstGeom>
          <a:ln w="15875">
            <a:solidFill>
              <a:srgbClr val="3B5BDB"/>
            </a:solidFill>
            <a:prstDash val="dash"/>
          </a:ln>
        </p:spPr>
      </p:cxnSp>
      <p:sp>
        <p:nvSpPr>
          <p:cNvPr id="154" name="Rounded Rectangle 153"/>
          <p:cNvSpPr/>
          <p:nvPr/>
        </p:nvSpPr>
        <p:spPr>
          <a:xfrm>
            <a:off x="841248" y="2286000"/>
            <a:ext cx="1737360" cy="566928"/>
          </a:xfrm>
          <a:prstGeom prst="roundRect">
            <a:avLst>
              <a:gd name="adj" fmla="val 16129"/>
            </a:avLst>
          </a:prstGeom>
          <a:solidFill>
            <a:srgbClr val="F3F3F7"/>
          </a:solidFill>
          <a:ln w="12700">
            <a:solidFill>
              <a:srgbClr val="E3E1EE"/>
            </a:solidFill>
          </a:ln>
        </p:spPr>
        <p:txBody>
          <a:bodyPr rtlCol="0" anchor="ctr" wrap="square" lIns="36576" rIns="36576" tIns="36576" bIns="36576">
            <a:noAutofit/>
          </a:bodyPr>
          <a:lstStyle/>
          <a:p>
            <a:pPr algn="ctr"/>
            <a:r>
              <a:rPr sz="1200" b="1" i="0">
                <a:solidFill>
                  <a:srgbClr val="63637E"/>
                </a:solidFill>
                <a:latin typeface="Calibri"/>
              </a:rPr>
              <a:t>TRADITIONAL</a:t>
            </a:r>
          </a:p>
        </p:txBody>
      </p:sp>
      <p:sp>
        <p:nvSpPr>
          <p:cNvPr id="155" name="Rounded Rectangle 154"/>
          <p:cNvSpPr/>
          <p:nvPr/>
        </p:nvSpPr>
        <p:spPr>
          <a:xfrm>
            <a:off x="2880360" y="2313432"/>
            <a:ext cx="2185416" cy="512064"/>
          </a:xfrm>
          <a:prstGeom prst="roundRect">
            <a:avLst>
              <a:gd name="adj" fmla="val 44642"/>
            </a:avLst>
          </a:prstGeom>
          <a:solidFill>
            <a:srgbClr val="FFFFFF"/>
          </a:solidFill>
          <a:ln w="12700">
            <a:solidFill>
              <a:srgbClr val="E3E1EE"/>
            </a:solidFill>
          </a:ln>
        </p:spPr>
        <p:txBody>
          <a:bodyPr rtlCol="0" anchor="ctr" wrap="square" lIns="36576" rIns="36576" tIns="36576" bIns="36576">
            <a:noAutofit/>
          </a:bodyPr>
          <a:lstStyle/>
          <a:p>
            <a:pPr algn="ctr"/>
            <a:r>
              <a:rPr sz="1150" b="1" i="0">
                <a:solidFill>
                  <a:srgbClr val="14142B"/>
                </a:solidFill>
                <a:latin typeface="Calibri"/>
              </a:rPr>
              <a:t>Speak</a:t>
            </a:r>
          </a:p>
        </p:txBody>
      </p:sp>
      <p:cxnSp>
        <p:nvCxnSpPr>
          <p:cNvPr id="156" name="Connector 155"/>
          <p:cNvCxnSpPr/>
          <p:nvPr/>
        </p:nvCxnSpPr>
        <p:spPr>
          <a:xfrm>
            <a:off x="5093208" y="2569464"/>
            <a:ext cx="146304" cy="0"/>
          </a:xfrm>
          <a:prstGeom prst="line">
            <a:avLst/>
          </a:prstGeom>
          <a:ln w="15875">
            <a:solidFill>
              <a:srgbClr val="9C9CB0"/>
            </a:solidFill>
            <a:tailEnd type="triangle" w="med" len="med"/>
          </a:ln>
        </p:spPr>
      </p:cxnSp>
      <p:sp>
        <p:nvSpPr>
          <p:cNvPr id="157" name="Rounded Rectangle 156"/>
          <p:cNvSpPr/>
          <p:nvPr/>
        </p:nvSpPr>
        <p:spPr>
          <a:xfrm>
            <a:off x="5266944" y="2313432"/>
            <a:ext cx="2185416" cy="512064"/>
          </a:xfrm>
          <a:prstGeom prst="roundRect">
            <a:avLst>
              <a:gd name="adj" fmla="val 44642"/>
            </a:avLst>
          </a:prstGeom>
          <a:solidFill>
            <a:srgbClr val="FFFFFF"/>
          </a:solidFill>
          <a:ln w="12700">
            <a:solidFill>
              <a:srgbClr val="9C9CB0"/>
            </a:solidFill>
            <a:prstDash val="dash"/>
          </a:ln>
        </p:spPr>
        <p:txBody>
          <a:bodyPr rtlCol="0" anchor="ctr" wrap="square" lIns="36576" rIns="36576" tIns="36576" bIns="36576">
            <a:noAutofit/>
          </a:bodyPr>
          <a:lstStyle/>
          <a:p>
            <a:pPr algn="ctr"/>
            <a:r>
              <a:rPr sz="1150" b="1" i="0">
                <a:solidFill>
                  <a:srgbClr val="63637E"/>
                </a:solidFill>
                <a:latin typeface="Calibri"/>
              </a:rPr>
              <a:t>Wait</a:t>
            </a:r>
          </a:p>
        </p:txBody>
      </p:sp>
      <p:cxnSp>
        <p:nvCxnSpPr>
          <p:cNvPr id="158" name="Connector 157"/>
          <p:cNvCxnSpPr/>
          <p:nvPr/>
        </p:nvCxnSpPr>
        <p:spPr>
          <a:xfrm>
            <a:off x="7479792" y="2569464"/>
            <a:ext cx="219456" cy="0"/>
          </a:xfrm>
          <a:prstGeom prst="line">
            <a:avLst/>
          </a:prstGeom>
          <a:ln w="15875">
            <a:solidFill>
              <a:srgbClr val="9C9CB0"/>
            </a:solidFill>
            <a:tailEnd type="triangle" w="med" len="med"/>
          </a:ln>
        </p:spPr>
      </p:cxnSp>
      <p:sp>
        <p:nvSpPr>
          <p:cNvPr id="159" name="Rounded Rectangle 158"/>
          <p:cNvSpPr/>
          <p:nvPr/>
        </p:nvSpPr>
        <p:spPr>
          <a:xfrm>
            <a:off x="7726680" y="2313432"/>
            <a:ext cx="1645919" cy="512064"/>
          </a:xfrm>
          <a:prstGeom prst="roundRect">
            <a:avLst>
              <a:gd name="adj" fmla="val 44642"/>
            </a:avLst>
          </a:prstGeom>
          <a:solidFill>
            <a:srgbClr val="F3F3F7"/>
          </a:solidFill>
          <a:ln w="12700">
            <a:solidFill>
              <a:srgbClr val="E3E1EE"/>
            </a:solidFill>
          </a:ln>
        </p:spPr>
        <p:txBody>
          <a:bodyPr rtlCol="0" anchor="ctr" wrap="square" lIns="36576" rIns="36576" tIns="36576" bIns="36576">
            <a:noAutofit/>
          </a:bodyPr>
          <a:lstStyle/>
          <a:p>
            <a:pPr algn="ctr"/>
            <a:r>
              <a:rPr sz="1150" b="1" i="0">
                <a:solidFill>
                  <a:srgbClr val="14142B"/>
                </a:solidFill>
                <a:latin typeface="Calibri"/>
              </a:rPr>
              <a:t>Search</a:t>
            </a:r>
          </a:p>
        </p:txBody>
      </p:sp>
      <p:cxnSp>
        <p:nvCxnSpPr>
          <p:cNvPr id="160" name="Connector 159"/>
          <p:cNvCxnSpPr/>
          <p:nvPr/>
        </p:nvCxnSpPr>
        <p:spPr>
          <a:xfrm>
            <a:off x="9400032" y="2569464"/>
            <a:ext cx="146304" cy="0"/>
          </a:xfrm>
          <a:prstGeom prst="line">
            <a:avLst/>
          </a:prstGeom>
          <a:ln w="15875">
            <a:solidFill>
              <a:srgbClr val="9C9CB0"/>
            </a:solidFill>
            <a:tailEnd type="triangle" w="med" len="med"/>
          </a:ln>
        </p:spPr>
      </p:cxnSp>
      <p:sp>
        <p:nvSpPr>
          <p:cNvPr id="161" name="Rounded Rectangle 160"/>
          <p:cNvSpPr/>
          <p:nvPr/>
        </p:nvSpPr>
        <p:spPr>
          <a:xfrm>
            <a:off x="9573768" y="2313432"/>
            <a:ext cx="1645919" cy="512064"/>
          </a:xfrm>
          <a:prstGeom prst="roundRect">
            <a:avLst>
              <a:gd name="adj" fmla="val 44642"/>
            </a:avLst>
          </a:prstGeom>
          <a:solidFill>
            <a:srgbClr val="F3F3F7"/>
          </a:solidFill>
          <a:ln w="12700">
            <a:solidFill>
              <a:srgbClr val="E3E1EE"/>
            </a:solidFill>
          </a:ln>
        </p:spPr>
        <p:txBody>
          <a:bodyPr rtlCol="0" anchor="ctr" wrap="square" lIns="36576" rIns="36576" tIns="36576" bIns="36576">
            <a:noAutofit/>
          </a:bodyPr>
          <a:lstStyle/>
          <a:p>
            <a:pPr algn="ctr"/>
            <a:r>
              <a:rPr sz="1150" b="1" i="0">
                <a:solidFill>
                  <a:srgbClr val="14142B"/>
                </a:solidFill>
                <a:latin typeface="Calibri"/>
              </a:rPr>
              <a:t>Answer</a:t>
            </a:r>
          </a:p>
        </p:txBody>
      </p:sp>
      <p:sp>
        <p:nvSpPr>
          <p:cNvPr id="162" name="Rounded Rectangle 161"/>
          <p:cNvSpPr/>
          <p:nvPr/>
        </p:nvSpPr>
        <p:spPr>
          <a:xfrm>
            <a:off x="841248" y="3429000"/>
            <a:ext cx="1737360" cy="566928"/>
          </a:xfrm>
          <a:prstGeom prst="roundRect">
            <a:avLst>
              <a:gd name="adj" fmla="val 16129"/>
            </a:avLst>
          </a:prstGeom>
          <a:solidFill>
            <a:srgbClr val="6D28D9"/>
          </a:solidFill>
          <a:ln>
            <a:noFill/>
          </a:ln>
        </p:spPr>
        <p:txBody>
          <a:bodyPr rtlCol="0" anchor="ctr" wrap="square" lIns="36576" rIns="36576" tIns="36576" bIns="36576">
            <a:noAutofit/>
          </a:bodyPr>
          <a:lstStyle/>
          <a:p>
            <a:pPr algn="ctr"/>
            <a:r>
              <a:rPr sz="1200" b="1" i="0">
                <a:solidFill>
                  <a:srgbClr val="FFFFFF"/>
                </a:solidFill>
                <a:latin typeface="Calibri"/>
              </a:rPr>
              <a:t>OUR SYSTEM</a:t>
            </a:r>
          </a:p>
        </p:txBody>
      </p:sp>
      <p:sp>
        <p:nvSpPr>
          <p:cNvPr id="163" name="Rounded Rectangle 162"/>
          <p:cNvSpPr/>
          <p:nvPr/>
        </p:nvSpPr>
        <p:spPr>
          <a:xfrm>
            <a:off x="2880360" y="3456432"/>
            <a:ext cx="992124" cy="512064"/>
          </a:xfrm>
          <a:prstGeom prst="roundRect">
            <a:avLst>
              <a:gd name="adj" fmla="val 44642"/>
            </a:avLst>
          </a:prstGeom>
          <a:solidFill>
            <a:srgbClr val="FFFFFF"/>
          </a:solidFill>
          <a:ln w="12700">
            <a:solidFill>
              <a:srgbClr val="E3E1EE"/>
            </a:solidFill>
          </a:ln>
        </p:spPr>
        <p:txBody>
          <a:bodyPr rtlCol="0" anchor="ctr" wrap="square" lIns="36576" rIns="36576" tIns="36576" bIns="36576">
            <a:noAutofit/>
          </a:bodyPr>
          <a:lstStyle/>
          <a:p>
            <a:pPr algn="ctr"/>
            <a:r>
              <a:rPr sz="1050" b="1" i="0">
                <a:solidFill>
                  <a:srgbClr val="14142B"/>
                </a:solidFill>
                <a:latin typeface="Calibri"/>
              </a:rPr>
              <a:t>Understand partial intent</a:t>
            </a:r>
          </a:p>
        </p:txBody>
      </p:sp>
      <p:cxnSp>
        <p:nvCxnSpPr>
          <p:cNvPr id="164" name="Connector 163"/>
          <p:cNvCxnSpPr/>
          <p:nvPr/>
        </p:nvCxnSpPr>
        <p:spPr>
          <a:xfrm>
            <a:off x="3899916" y="3712463"/>
            <a:ext cx="146304" cy="0"/>
          </a:xfrm>
          <a:prstGeom prst="line">
            <a:avLst/>
          </a:prstGeom>
          <a:ln w="15875">
            <a:solidFill>
              <a:srgbClr val="9C9CB0"/>
            </a:solidFill>
            <a:tailEnd type="triangle" w="med" len="med"/>
          </a:ln>
        </p:spPr>
      </p:cxnSp>
      <p:sp>
        <p:nvSpPr>
          <p:cNvPr id="165" name="Rounded Rectangle 164"/>
          <p:cNvSpPr/>
          <p:nvPr/>
        </p:nvSpPr>
        <p:spPr>
          <a:xfrm>
            <a:off x="4073652" y="3456432"/>
            <a:ext cx="992124" cy="512064"/>
          </a:xfrm>
          <a:prstGeom prst="roundRect">
            <a:avLst>
              <a:gd name="adj" fmla="val 44642"/>
            </a:avLst>
          </a:prstGeom>
          <a:solidFill>
            <a:srgbClr val="E6F4EC"/>
          </a:solidFill>
          <a:ln>
            <a:noFill/>
          </a:ln>
        </p:spPr>
        <p:txBody>
          <a:bodyPr rtlCol="0" anchor="ctr" wrap="square" lIns="36576" rIns="36576" tIns="36576" bIns="36576">
            <a:noAutofit/>
          </a:bodyPr>
          <a:lstStyle/>
          <a:p>
            <a:pPr algn="ctr"/>
            <a:r>
              <a:rPr sz="1150" b="1" i="0">
                <a:solidFill>
                  <a:srgbClr val="15803D"/>
                </a:solidFill>
                <a:latin typeface="Calibri"/>
              </a:rPr>
              <a:t>Retrieve early</a:t>
            </a:r>
          </a:p>
        </p:txBody>
      </p:sp>
      <p:cxnSp>
        <p:nvCxnSpPr>
          <p:cNvPr id="166" name="Connector 165"/>
          <p:cNvCxnSpPr/>
          <p:nvPr/>
        </p:nvCxnSpPr>
        <p:spPr>
          <a:xfrm>
            <a:off x="5093208" y="3712463"/>
            <a:ext cx="146304" cy="0"/>
          </a:xfrm>
          <a:prstGeom prst="line">
            <a:avLst/>
          </a:prstGeom>
          <a:ln w="15875">
            <a:solidFill>
              <a:srgbClr val="9C9CB0"/>
            </a:solidFill>
            <a:tailEnd type="triangle" w="med" len="med"/>
          </a:ln>
        </p:spPr>
      </p:cxnSp>
      <p:sp>
        <p:nvSpPr>
          <p:cNvPr id="167" name="Rounded Rectangle 166"/>
          <p:cNvSpPr/>
          <p:nvPr/>
        </p:nvSpPr>
        <p:spPr>
          <a:xfrm>
            <a:off x="5266944" y="3456432"/>
            <a:ext cx="992124" cy="512064"/>
          </a:xfrm>
          <a:prstGeom prst="roundRect">
            <a:avLst>
              <a:gd name="adj" fmla="val 44642"/>
            </a:avLst>
          </a:prstGeom>
          <a:solidFill>
            <a:srgbClr val="FFFFFF"/>
          </a:solidFill>
          <a:ln w="12700">
            <a:solidFill>
              <a:srgbClr val="E3E1EE"/>
            </a:solidFill>
          </a:ln>
        </p:spPr>
        <p:txBody>
          <a:bodyPr rtlCol="0" anchor="ctr" wrap="square" lIns="36576" rIns="36576" tIns="36576" bIns="36576">
            <a:noAutofit/>
          </a:bodyPr>
          <a:lstStyle/>
          <a:p>
            <a:pPr algn="ctr"/>
            <a:r>
              <a:rPr sz="1050" b="1" i="0">
                <a:solidFill>
                  <a:srgbClr val="14142B"/>
                </a:solidFill>
                <a:latin typeface="Calibri"/>
              </a:rPr>
              <a:t>Continue listening</a:t>
            </a:r>
          </a:p>
        </p:txBody>
      </p:sp>
      <p:cxnSp>
        <p:nvCxnSpPr>
          <p:cNvPr id="168" name="Connector 167"/>
          <p:cNvCxnSpPr/>
          <p:nvPr/>
        </p:nvCxnSpPr>
        <p:spPr>
          <a:xfrm>
            <a:off x="6286500" y="3712463"/>
            <a:ext cx="146304" cy="0"/>
          </a:xfrm>
          <a:prstGeom prst="line">
            <a:avLst/>
          </a:prstGeom>
          <a:ln w="15875">
            <a:solidFill>
              <a:srgbClr val="9C9CB0"/>
            </a:solidFill>
            <a:tailEnd type="triangle" w="med" len="med"/>
          </a:ln>
        </p:spPr>
      </p:cxnSp>
      <p:sp>
        <p:nvSpPr>
          <p:cNvPr id="169" name="Rounded Rectangle 168"/>
          <p:cNvSpPr/>
          <p:nvPr/>
        </p:nvSpPr>
        <p:spPr>
          <a:xfrm>
            <a:off x="6460236" y="3456432"/>
            <a:ext cx="992124" cy="512064"/>
          </a:xfrm>
          <a:prstGeom prst="roundRect">
            <a:avLst>
              <a:gd name="adj" fmla="val 44642"/>
            </a:avLst>
          </a:prstGeom>
          <a:solidFill>
            <a:srgbClr val="FFFFFF"/>
          </a:solidFill>
          <a:ln w="12700">
            <a:solidFill>
              <a:srgbClr val="E3E1EE"/>
            </a:solidFill>
          </a:ln>
        </p:spPr>
        <p:txBody>
          <a:bodyPr rtlCol="0" anchor="ctr" wrap="square" lIns="36576" rIns="36576" tIns="36576" bIns="36576">
            <a:noAutofit/>
          </a:bodyPr>
          <a:lstStyle/>
          <a:p>
            <a:pPr algn="ctr"/>
            <a:r>
              <a:rPr sz="1150" b="1" i="0">
                <a:solidFill>
                  <a:srgbClr val="14142B"/>
                </a:solidFill>
                <a:latin typeface="Calibri"/>
              </a:rPr>
              <a:t>Decompose</a:t>
            </a:r>
          </a:p>
        </p:txBody>
      </p:sp>
      <p:cxnSp>
        <p:nvCxnSpPr>
          <p:cNvPr id="170" name="Connector 169"/>
          <p:cNvCxnSpPr/>
          <p:nvPr/>
        </p:nvCxnSpPr>
        <p:spPr>
          <a:xfrm>
            <a:off x="7479792" y="3712463"/>
            <a:ext cx="219456" cy="0"/>
          </a:xfrm>
          <a:prstGeom prst="line">
            <a:avLst/>
          </a:prstGeom>
          <a:ln w="15875">
            <a:solidFill>
              <a:srgbClr val="9C9CB0"/>
            </a:solidFill>
            <a:tailEnd type="triangle" w="med" len="med"/>
          </a:ln>
        </p:spPr>
      </p:cxnSp>
      <p:sp>
        <p:nvSpPr>
          <p:cNvPr id="171" name="Rounded Rectangle 170"/>
          <p:cNvSpPr/>
          <p:nvPr/>
        </p:nvSpPr>
        <p:spPr>
          <a:xfrm>
            <a:off x="7726680" y="3456432"/>
            <a:ext cx="1030223" cy="512064"/>
          </a:xfrm>
          <a:prstGeom prst="roundRect">
            <a:avLst>
              <a:gd name="adj" fmla="val 44642"/>
            </a:avLst>
          </a:prstGeom>
          <a:solidFill>
            <a:srgbClr val="EAF0FF"/>
          </a:solidFill>
          <a:ln>
            <a:noFill/>
          </a:ln>
        </p:spPr>
        <p:txBody>
          <a:bodyPr rtlCol="0" anchor="ctr" wrap="square" lIns="36576" rIns="36576" tIns="36576" bIns="36576">
            <a:noAutofit/>
          </a:bodyPr>
          <a:lstStyle/>
          <a:p>
            <a:pPr algn="ctr"/>
            <a:r>
              <a:rPr sz="1150" b="1" i="0">
                <a:solidFill>
                  <a:srgbClr val="3B5BDB"/>
                </a:solidFill>
                <a:latin typeface="Calibri"/>
              </a:rPr>
              <a:t>Fuse</a:t>
            </a:r>
          </a:p>
        </p:txBody>
      </p:sp>
      <p:cxnSp>
        <p:nvCxnSpPr>
          <p:cNvPr id="172" name="Connector 171"/>
          <p:cNvCxnSpPr/>
          <p:nvPr/>
        </p:nvCxnSpPr>
        <p:spPr>
          <a:xfrm>
            <a:off x="8784336" y="3712463"/>
            <a:ext cx="146304" cy="0"/>
          </a:xfrm>
          <a:prstGeom prst="line">
            <a:avLst/>
          </a:prstGeom>
          <a:ln w="15875">
            <a:solidFill>
              <a:srgbClr val="9C9CB0"/>
            </a:solidFill>
            <a:tailEnd type="triangle" w="med" len="med"/>
          </a:ln>
        </p:spPr>
      </p:cxnSp>
      <p:sp>
        <p:nvSpPr>
          <p:cNvPr id="173" name="Rounded Rectangle 172"/>
          <p:cNvSpPr/>
          <p:nvPr/>
        </p:nvSpPr>
        <p:spPr>
          <a:xfrm>
            <a:off x="8958072" y="3456432"/>
            <a:ext cx="1030223" cy="512064"/>
          </a:xfrm>
          <a:prstGeom prst="roundRect">
            <a:avLst>
              <a:gd name="adj" fmla="val 44642"/>
            </a:avLst>
          </a:prstGeom>
          <a:solidFill>
            <a:srgbClr val="EAF0FF"/>
          </a:solidFill>
          <a:ln>
            <a:noFill/>
          </a:ln>
        </p:spPr>
        <p:txBody>
          <a:bodyPr rtlCol="0" anchor="ctr" wrap="square" lIns="36576" rIns="36576" tIns="36576" bIns="36576">
            <a:noAutofit/>
          </a:bodyPr>
          <a:lstStyle/>
          <a:p>
            <a:pPr algn="ctr"/>
            <a:r>
              <a:rPr sz="1150" b="1" i="0">
                <a:solidFill>
                  <a:srgbClr val="3B5BDB"/>
                </a:solidFill>
                <a:latin typeface="Calibri"/>
              </a:rPr>
              <a:t>Refine</a:t>
            </a:r>
          </a:p>
        </p:txBody>
      </p:sp>
      <p:cxnSp>
        <p:nvCxnSpPr>
          <p:cNvPr id="174" name="Connector 173"/>
          <p:cNvCxnSpPr/>
          <p:nvPr/>
        </p:nvCxnSpPr>
        <p:spPr>
          <a:xfrm>
            <a:off x="10015728" y="3712463"/>
            <a:ext cx="146304" cy="0"/>
          </a:xfrm>
          <a:prstGeom prst="line">
            <a:avLst/>
          </a:prstGeom>
          <a:ln w="15875">
            <a:solidFill>
              <a:srgbClr val="9C9CB0"/>
            </a:solidFill>
            <a:tailEnd type="triangle" w="med" len="med"/>
          </a:ln>
        </p:spPr>
      </p:cxnSp>
      <p:sp>
        <p:nvSpPr>
          <p:cNvPr id="175" name="Rounded Rectangle 174"/>
          <p:cNvSpPr/>
          <p:nvPr/>
        </p:nvSpPr>
        <p:spPr>
          <a:xfrm>
            <a:off x="10189464" y="3456432"/>
            <a:ext cx="1030223" cy="512064"/>
          </a:xfrm>
          <a:prstGeom prst="roundRect">
            <a:avLst>
              <a:gd name="adj" fmla="val 44642"/>
            </a:avLst>
          </a:prstGeom>
          <a:solidFill>
            <a:srgbClr val="6D28D9"/>
          </a:solidFill>
          <a:ln>
            <a:noFill/>
          </a:ln>
        </p:spPr>
        <p:txBody>
          <a:bodyPr rtlCol="0" anchor="ctr" wrap="square" lIns="36576" rIns="36576" tIns="36576" bIns="36576">
            <a:noAutofit/>
          </a:bodyPr>
          <a:lstStyle/>
          <a:p>
            <a:pPr algn="ctr"/>
            <a:r>
              <a:rPr sz="1150" b="1" i="0">
                <a:solidFill>
                  <a:srgbClr val="FFFFFF"/>
                </a:solidFill>
                <a:latin typeface="Calibri"/>
              </a:rPr>
              <a:t>Answer</a:t>
            </a:r>
          </a:p>
        </p:txBody>
      </p:sp>
      <p:sp>
        <p:nvSpPr>
          <p:cNvPr id="176" name="TextBox 175"/>
          <p:cNvSpPr txBox="1"/>
          <p:nvPr/>
        </p:nvSpPr>
        <p:spPr>
          <a:xfrm>
            <a:off x="841248" y="4617720"/>
            <a:ext cx="10515600" cy="640080"/>
          </a:xfrm>
          <a:prstGeom prst="rect">
            <a:avLst/>
          </a:prstGeom>
          <a:noFill/>
        </p:spPr>
        <p:txBody>
          <a:bodyPr wrap="square" lIns="0" rIns="0" tIns="0" bIns="0" anchor="t">
            <a:noAutofit/>
          </a:bodyPr>
          <a:lstStyle/>
          <a:p>
            <a:pPr algn="ctr"/>
            <a:r>
              <a:rPr sz="2600" b="1" i="0">
                <a:solidFill>
                  <a:srgbClr val="14142B"/>
                </a:solidFill>
                <a:latin typeface="Arial"/>
              </a:rPr>
              <a:t>RAG that starts working before the user finishes speaking.</a:t>
            </a:r>
          </a:p>
        </p:txBody>
      </p:sp>
      <p:sp>
        <p:nvSpPr>
          <p:cNvPr id="177" name="Rounded Rectangle 176"/>
          <p:cNvSpPr/>
          <p:nvPr/>
        </p:nvSpPr>
        <p:spPr>
          <a:xfrm>
            <a:off x="1367028" y="5394960"/>
            <a:ext cx="2194560" cy="502920"/>
          </a:xfrm>
          <a:prstGeom prst="roundRect">
            <a:avLst>
              <a:gd name="adj" fmla="val 18181"/>
            </a:avLst>
          </a:prstGeom>
          <a:solidFill>
            <a:srgbClr val="F3F3F7"/>
          </a:solidFill>
          <a:ln>
            <a:noFill/>
          </a:ln>
        </p:spPr>
        <p:txBody>
          <a:bodyPr rtlCol="0" anchor="ctr" wrap="square" tIns="36576" bIns="36576">
            <a:noAutofit/>
          </a:bodyPr>
          <a:lstStyle/>
          <a:p>
            <a:pPr algn="ctr"/>
            <a:r>
              <a:rPr sz="1500" b="1" i="0">
                <a:solidFill>
                  <a:srgbClr val="6D28D9"/>
                </a:solidFill>
                <a:latin typeface="Arial"/>
              </a:rPr>
              <a:t>90%  </a:t>
            </a:r>
            <a:r>
              <a:rPr sz="1100" b="0" i="0">
                <a:solidFill>
                  <a:srgbClr val="63637E"/>
                </a:solidFill>
                <a:latin typeface="Calibri"/>
              </a:rPr>
              <a:t>early retrieval</a:t>
            </a:r>
          </a:p>
        </p:txBody>
      </p:sp>
      <p:sp>
        <p:nvSpPr>
          <p:cNvPr id="178" name="Rounded Rectangle 177"/>
          <p:cNvSpPr/>
          <p:nvPr/>
        </p:nvSpPr>
        <p:spPr>
          <a:xfrm>
            <a:off x="3790187" y="5394960"/>
            <a:ext cx="2194560" cy="502920"/>
          </a:xfrm>
          <a:prstGeom prst="roundRect">
            <a:avLst>
              <a:gd name="adj" fmla="val 18181"/>
            </a:avLst>
          </a:prstGeom>
          <a:solidFill>
            <a:srgbClr val="F3F3F7"/>
          </a:solidFill>
          <a:ln>
            <a:noFill/>
          </a:ln>
        </p:spPr>
        <p:txBody>
          <a:bodyPr rtlCol="0" anchor="ctr" wrap="square" tIns="36576" bIns="36576">
            <a:noAutofit/>
          </a:bodyPr>
          <a:lstStyle/>
          <a:p>
            <a:pPr algn="ctr"/>
            <a:r>
              <a:rPr sz="1500" b="1" i="0">
                <a:solidFill>
                  <a:srgbClr val="6D28D9"/>
                </a:solidFill>
                <a:latin typeface="Arial"/>
              </a:rPr>
              <a:t>78%  </a:t>
            </a:r>
            <a:r>
              <a:rPr sz="1100" b="0" i="0">
                <a:solidFill>
                  <a:srgbClr val="63637E"/>
                </a:solidFill>
                <a:latin typeface="Calibri"/>
              </a:rPr>
              <a:t>multi-intent identified</a:t>
            </a:r>
          </a:p>
        </p:txBody>
      </p:sp>
      <p:sp>
        <p:nvSpPr>
          <p:cNvPr id="179" name="Rounded Rectangle 178"/>
          <p:cNvSpPr/>
          <p:nvPr/>
        </p:nvSpPr>
        <p:spPr>
          <a:xfrm>
            <a:off x="6213348" y="5394960"/>
            <a:ext cx="2194560" cy="502920"/>
          </a:xfrm>
          <a:prstGeom prst="roundRect">
            <a:avLst>
              <a:gd name="adj" fmla="val 18181"/>
            </a:avLst>
          </a:prstGeom>
          <a:solidFill>
            <a:srgbClr val="F3F3F7"/>
          </a:solidFill>
          <a:ln>
            <a:noFill/>
          </a:ln>
        </p:spPr>
        <p:txBody>
          <a:bodyPr rtlCol="0" anchor="ctr" wrap="square" tIns="36576" bIns="36576">
            <a:noAutofit/>
          </a:bodyPr>
          <a:lstStyle/>
          <a:p>
            <a:pPr algn="ctr"/>
            <a:r>
              <a:rPr sz="1500" b="1" i="0">
                <a:solidFill>
                  <a:srgbClr val="6D28D9"/>
                </a:solidFill>
                <a:latin typeface="Arial"/>
              </a:rPr>
              <a:t>100%  </a:t>
            </a:r>
            <a:r>
              <a:rPr sz="1100" b="0" i="0">
                <a:solidFill>
                  <a:srgbClr val="63637E"/>
                </a:solidFill>
                <a:latin typeface="Calibri"/>
              </a:rPr>
              <a:t>refinement continuity</a:t>
            </a:r>
          </a:p>
        </p:txBody>
      </p:sp>
      <p:sp>
        <p:nvSpPr>
          <p:cNvPr id="180" name="Rounded Rectangle 179"/>
          <p:cNvSpPr/>
          <p:nvPr/>
        </p:nvSpPr>
        <p:spPr>
          <a:xfrm>
            <a:off x="8636508" y="5394960"/>
            <a:ext cx="2194560" cy="502920"/>
          </a:xfrm>
          <a:prstGeom prst="roundRect">
            <a:avLst>
              <a:gd name="adj" fmla="val 18181"/>
            </a:avLst>
          </a:prstGeom>
          <a:solidFill>
            <a:srgbClr val="F3F3F7"/>
          </a:solidFill>
          <a:ln>
            <a:noFill/>
          </a:ln>
        </p:spPr>
        <p:txBody>
          <a:bodyPr rtlCol="0" anchor="ctr" wrap="square" tIns="36576" bIns="36576">
            <a:noAutofit/>
          </a:bodyPr>
          <a:lstStyle/>
          <a:p>
            <a:pPr algn="ctr"/>
            <a:r>
              <a:rPr sz="1500" b="1" i="0">
                <a:solidFill>
                  <a:srgbClr val="6D28D9"/>
                </a:solidFill>
                <a:latin typeface="Arial"/>
              </a:rPr>
              <a:t>100%  </a:t>
            </a:r>
            <a:r>
              <a:rPr sz="1100" b="0" i="0">
                <a:solidFill>
                  <a:srgbClr val="63637E"/>
                </a:solidFill>
                <a:latin typeface="Calibri"/>
              </a:rPr>
              <a:t>claims supported</a:t>
            </a:r>
          </a:p>
        </p:txBody>
      </p:sp>
      <p:sp>
        <p:nvSpPr>
          <p:cNvPr id="181" name="TextBox 180"/>
          <p:cNvSpPr txBox="1"/>
          <p:nvPr/>
        </p:nvSpPr>
        <p:spPr>
          <a:xfrm>
            <a:off x="841248" y="6089904"/>
            <a:ext cx="10515600" cy="237744"/>
          </a:xfrm>
          <a:prstGeom prst="rect">
            <a:avLst/>
          </a:prstGeom>
          <a:noFill/>
        </p:spPr>
        <p:txBody>
          <a:bodyPr wrap="square" lIns="0" rIns="0" tIns="0" bIns="0" anchor="t">
            <a:noAutofit/>
          </a:bodyPr>
          <a:lstStyle/>
          <a:p>
            <a:pPr algn="l"/>
            <a:r>
              <a:rPr sz="950" b="0" i="1">
                <a:solidFill>
                  <a:srgbClr val="63637E"/>
                </a:solidFill>
                <a:latin typeface="Calibri"/>
              </a:rPr>
              <a:t>Development benchmark · 16-document synthetic corpus</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Checklist — Updated on Public GitHub</a:t>
            </a:r>
            <a:endParaRPr/>
          </a:p>
        </p:txBody>
      </p:sp>
      <p:sp>
        <p:nvSpPr>
          <p:cNvPr id="156" name="Rounded Rectangle 155"/>
          <p:cNvSpPr/>
          <p:nvPr/>
        </p:nvSpPr>
        <p:spPr>
          <a:xfrm>
            <a:off x="841248" y="1828800"/>
            <a:ext cx="10515600" cy="676656"/>
          </a:xfrm>
          <a:prstGeom prst="roundRect">
            <a:avLst>
              <a:gd name="adj" fmla="val 13513"/>
            </a:avLst>
          </a:prstGeom>
          <a:solidFill>
            <a:srgbClr val="FFFFFF"/>
          </a:solidFill>
          <a:ln w="12700">
            <a:solidFill>
              <a:srgbClr val="E3E1EE"/>
            </a:solidFill>
          </a:ln>
        </p:spPr>
        <p:txBody>
          <a:bodyPr rtlCol="0" anchor="ctr"/>
          <a:lstStyle/>
          <a:p>
            <a:pPr algn="ctr"/>
          </a:p>
        </p:txBody>
      </p:sp>
      <p:sp>
        <p:nvSpPr>
          <p:cNvPr id="157" name="Rounded Rectangle 156"/>
          <p:cNvSpPr/>
          <p:nvPr/>
        </p:nvSpPr>
        <p:spPr>
          <a:xfrm>
            <a:off x="1024128" y="2002536"/>
            <a:ext cx="1051560" cy="329184"/>
          </a:xfrm>
          <a:prstGeom prst="roundRect">
            <a:avLst>
              <a:gd name="adj" fmla="val 50000"/>
            </a:avLst>
          </a:prstGeom>
          <a:solidFill>
            <a:srgbClr val="E6F4EC"/>
          </a:solidFill>
          <a:ln>
            <a:noFill/>
          </a:ln>
        </p:spPr>
        <p:txBody>
          <a:bodyPr rtlCol="0" anchor="ctr" wrap="square" lIns="36576" rIns="36576" tIns="36576" bIns="36576">
            <a:noAutofit/>
          </a:bodyPr>
          <a:lstStyle/>
          <a:p>
            <a:pPr algn="ctr"/>
            <a:r>
              <a:rPr sz="1100" b="1" i="0">
                <a:solidFill>
                  <a:srgbClr val="15803D"/>
                </a:solidFill>
                <a:latin typeface="Calibri"/>
              </a:rPr>
              <a:t>Y</a:t>
            </a:r>
          </a:p>
        </p:txBody>
      </p:sp>
      <p:sp>
        <p:nvSpPr>
          <p:cNvPr id="158" name="TextBox 157"/>
          <p:cNvSpPr txBox="1"/>
          <p:nvPr/>
        </p:nvSpPr>
        <p:spPr>
          <a:xfrm>
            <a:off x="2304288" y="1892807"/>
            <a:ext cx="8869680" cy="566928"/>
          </a:xfrm>
          <a:prstGeom prst="rect">
            <a:avLst/>
          </a:prstGeom>
          <a:noFill/>
        </p:spPr>
        <p:txBody>
          <a:bodyPr wrap="square" lIns="0" rIns="0" tIns="0" bIns="0" anchor="t">
            <a:noAutofit/>
          </a:bodyPr>
          <a:lstStyle/>
          <a:p>
            <a:pPr algn="l">
              <a:lnSpc>
                <a:spcPct val="95000"/>
              </a:lnSpc>
            </a:pPr>
            <a:r>
              <a:rPr sz="1500" b="1" i="0">
                <a:solidFill>
                  <a:srgbClr val="14142B"/>
                </a:solidFill>
                <a:latin typeface="Calibri"/>
              </a:rPr>
              <a:t>Working prototype code — public GitHub repo</a:t>
            </a:r>
          </a:p>
          <a:p>
            <a:pPr algn="l">
              <a:lnSpc>
                <a:spcPct val="95000"/>
              </a:lnSpc>
            </a:pPr>
            <a:r>
              <a:rPr sz="1150" b="1" i="0">
                <a:solidFill>
                  <a:srgbClr val="6D28D9"/>
                </a:solidFill>
                <a:latin typeface="Calibri"/>
                <a:hlinkClick r:id="rId3"/>
              </a:rPr>
              <a:t>github.com/spsneh07/Prism-Streaming-Live-rag</a:t>
            </a:r>
          </a:p>
        </p:txBody>
      </p:sp>
      <p:sp>
        <p:nvSpPr>
          <p:cNvPr id="159" name="Rounded Rectangle 158"/>
          <p:cNvSpPr/>
          <p:nvPr/>
        </p:nvSpPr>
        <p:spPr>
          <a:xfrm>
            <a:off x="841248" y="2633472"/>
            <a:ext cx="10515600" cy="676656"/>
          </a:xfrm>
          <a:prstGeom prst="roundRect">
            <a:avLst>
              <a:gd name="adj" fmla="val 13513"/>
            </a:avLst>
          </a:prstGeom>
          <a:solidFill>
            <a:srgbClr val="FFFFFF"/>
          </a:solidFill>
          <a:ln w="12700">
            <a:solidFill>
              <a:srgbClr val="E3E1EE"/>
            </a:solidFill>
          </a:ln>
        </p:spPr>
        <p:txBody>
          <a:bodyPr rtlCol="0" anchor="ctr"/>
          <a:lstStyle/>
          <a:p>
            <a:pPr algn="ctr"/>
          </a:p>
        </p:txBody>
      </p:sp>
      <p:sp>
        <p:nvSpPr>
          <p:cNvPr id="160" name="Rounded Rectangle 159"/>
          <p:cNvSpPr/>
          <p:nvPr/>
        </p:nvSpPr>
        <p:spPr>
          <a:xfrm>
            <a:off x="1024128" y="2807208"/>
            <a:ext cx="1051560" cy="329184"/>
          </a:xfrm>
          <a:prstGeom prst="roundRect">
            <a:avLst>
              <a:gd name="adj" fmla="val 50000"/>
            </a:avLst>
          </a:prstGeom>
          <a:solidFill>
            <a:srgbClr val="E6F4EC"/>
          </a:solidFill>
          <a:ln>
            <a:noFill/>
          </a:ln>
        </p:spPr>
        <p:txBody>
          <a:bodyPr rtlCol="0" anchor="ctr" wrap="square" lIns="36576" rIns="36576" tIns="36576" bIns="36576">
            <a:noAutofit/>
          </a:bodyPr>
          <a:lstStyle/>
          <a:p>
            <a:pPr algn="ctr"/>
            <a:r>
              <a:rPr sz="1100" b="1" i="0">
                <a:solidFill>
                  <a:srgbClr val="15803D"/>
                </a:solidFill>
                <a:latin typeface="Calibri"/>
              </a:rPr>
              <a:t>Y</a:t>
            </a:r>
          </a:p>
        </p:txBody>
      </p:sp>
      <p:sp>
        <p:nvSpPr>
          <p:cNvPr id="161" name="TextBox 160"/>
          <p:cNvSpPr txBox="1"/>
          <p:nvPr/>
        </p:nvSpPr>
        <p:spPr>
          <a:xfrm>
            <a:off x="2304288" y="2697479"/>
            <a:ext cx="8869680" cy="566928"/>
          </a:xfrm>
          <a:prstGeom prst="rect">
            <a:avLst/>
          </a:prstGeom>
          <a:noFill/>
        </p:spPr>
        <p:txBody>
          <a:bodyPr wrap="square" lIns="0" rIns="0" tIns="0" bIns="0" anchor="t">
            <a:noAutofit/>
          </a:bodyPr>
          <a:lstStyle/>
          <a:p>
            <a:pPr algn="l">
              <a:lnSpc>
                <a:spcPct val="95000"/>
              </a:lnSpc>
            </a:pPr>
            <a:r>
              <a:rPr sz="1500" b="1" i="0">
                <a:solidFill>
                  <a:srgbClr val="14142B"/>
                </a:solidFill>
                <a:latin typeface="Calibri"/>
              </a:rPr>
              <a:t>README with reproducible setup instructions</a:t>
            </a:r>
          </a:p>
          <a:p>
            <a:pPr algn="l">
              <a:lnSpc>
                <a:spcPct val="95000"/>
              </a:lnSpc>
            </a:pPr>
            <a:r>
              <a:rPr sz="1150" b="0" i="0">
                <a:solidFill>
                  <a:srgbClr val="63637E"/>
                </a:solidFill>
                <a:latin typeface="Calibri"/>
              </a:rPr>
              <a:t>README §3: exact commands from a clean clone (Windows 11, Python 3.13, CPU)</a:t>
            </a:r>
          </a:p>
        </p:txBody>
      </p:sp>
      <p:sp>
        <p:nvSpPr>
          <p:cNvPr id="162" name="Rounded Rectangle 161"/>
          <p:cNvSpPr/>
          <p:nvPr/>
        </p:nvSpPr>
        <p:spPr>
          <a:xfrm>
            <a:off x="841248" y="3438144"/>
            <a:ext cx="10515600" cy="676656"/>
          </a:xfrm>
          <a:prstGeom prst="roundRect">
            <a:avLst>
              <a:gd name="adj" fmla="val 13513"/>
            </a:avLst>
          </a:prstGeom>
          <a:solidFill>
            <a:srgbClr val="FFFFFF"/>
          </a:solidFill>
          <a:ln w="12700">
            <a:solidFill>
              <a:srgbClr val="E3E1EE"/>
            </a:solidFill>
          </a:ln>
        </p:spPr>
        <p:txBody>
          <a:bodyPr rtlCol="0" anchor="ctr"/>
          <a:lstStyle/>
          <a:p>
            <a:pPr algn="ctr"/>
          </a:p>
        </p:txBody>
      </p:sp>
      <p:sp>
        <p:nvSpPr>
          <p:cNvPr id="163" name="Rounded Rectangle 162"/>
          <p:cNvSpPr/>
          <p:nvPr/>
        </p:nvSpPr>
        <p:spPr>
          <a:xfrm>
            <a:off x="1024128" y="3611879"/>
            <a:ext cx="1051560" cy="329184"/>
          </a:xfrm>
          <a:prstGeom prst="roundRect">
            <a:avLst>
              <a:gd name="adj" fmla="val 50000"/>
            </a:avLst>
          </a:prstGeom>
          <a:solidFill>
            <a:srgbClr val="E6F4EC"/>
          </a:solidFill>
          <a:ln>
            <a:noFill/>
          </a:ln>
        </p:spPr>
        <p:txBody>
          <a:bodyPr rtlCol="0" anchor="ctr" wrap="square" lIns="36576" rIns="36576" tIns="36576" bIns="36576">
            <a:noAutofit/>
          </a:bodyPr>
          <a:lstStyle/>
          <a:p>
            <a:pPr algn="ctr"/>
            <a:r>
              <a:rPr sz="1100" b="1" i="0">
                <a:solidFill>
                  <a:srgbClr val="15803D"/>
                </a:solidFill>
                <a:latin typeface="Calibri"/>
              </a:rPr>
              <a:t>Y</a:t>
            </a:r>
          </a:p>
        </p:txBody>
      </p:sp>
      <p:sp>
        <p:nvSpPr>
          <p:cNvPr id="164" name="TextBox 163"/>
          <p:cNvSpPr txBox="1"/>
          <p:nvPr/>
        </p:nvSpPr>
        <p:spPr>
          <a:xfrm>
            <a:off x="2304288" y="3502151"/>
            <a:ext cx="8869680" cy="566928"/>
          </a:xfrm>
          <a:prstGeom prst="rect">
            <a:avLst/>
          </a:prstGeom>
          <a:noFill/>
        </p:spPr>
        <p:txBody>
          <a:bodyPr wrap="square" lIns="0" rIns="0" tIns="0" bIns="0" anchor="t">
            <a:noAutofit/>
          </a:bodyPr>
          <a:lstStyle/>
          <a:p>
            <a:pPr algn="l">
              <a:lnSpc>
                <a:spcPct val="95000"/>
              </a:lnSpc>
            </a:pPr>
            <a:r>
              <a:rPr sz="1500" b="1" i="0">
                <a:solidFill>
                  <a:srgbClr val="14142B"/>
                </a:solidFill>
                <a:latin typeface="Calibri"/>
              </a:rPr>
              <a:t>Docker</a:t>
            </a:r>
          </a:p>
          <a:p>
            <a:pPr algn="l">
              <a:lnSpc>
                <a:spcPct val="95000"/>
              </a:lnSpc>
            </a:pPr>
            <a:r>
              <a:rPr sz="1150" b="0" i="0">
                <a:solidFill>
                  <a:srgbClr val="63637E"/>
                </a:solidFill>
                <a:latin typeface="Calibri"/>
              </a:rPr>
              <a:t>image built and run, health check and tests inside the container; verified on the development machine only</a:t>
            </a:r>
          </a:p>
        </p:txBody>
      </p:sp>
      <p:sp>
        <p:nvSpPr>
          <p:cNvPr id="165" name="Rounded Rectangle 164"/>
          <p:cNvSpPr/>
          <p:nvPr/>
        </p:nvSpPr>
        <p:spPr>
          <a:xfrm>
            <a:off x="841248" y="4242816"/>
            <a:ext cx="10515600" cy="676656"/>
          </a:xfrm>
          <a:prstGeom prst="roundRect">
            <a:avLst>
              <a:gd name="adj" fmla="val 13513"/>
            </a:avLst>
          </a:prstGeom>
          <a:solidFill>
            <a:srgbClr val="FFFFFF"/>
          </a:solidFill>
          <a:ln w="12700">
            <a:solidFill>
              <a:srgbClr val="E3E1EE"/>
            </a:solidFill>
          </a:ln>
        </p:spPr>
        <p:txBody>
          <a:bodyPr rtlCol="0" anchor="ctr"/>
          <a:lstStyle/>
          <a:p>
            <a:pPr algn="ctr"/>
          </a:p>
        </p:txBody>
      </p:sp>
      <p:sp>
        <p:nvSpPr>
          <p:cNvPr id="166" name="Rounded Rectangle 165"/>
          <p:cNvSpPr/>
          <p:nvPr/>
        </p:nvSpPr>
        <p:spPr>
          <a:xfrm>
            <a:off x="1024128" y="4416552"/>
            <a:ext cx="1051560" cy="329184"/>
          </a:xfrm>
          <a:prstGeom prst="roundRect">
            <a:avLst>
              <a:gd name="adj" fmla="val 50000"/>
            </a:avLst>
          </a:prstGeom>
          <a:solidFill>
            <a:srgbClr val="FDF1DC"/>
          </a:solidFill>
          <a:ln>
            <a:noFill/>
          </a:ln>
        </p:spPr>
        <p:txBody>
          <a:bodyPr rtlCol="0" anchor="ctr" wrap="square" lIns="36576" rIns="36576" tIns="36576" bIns="36576">
            <a:noAutofit/>
          </a:bodyPr>
          <a:lstStyle/>
          <a:p>
            <a:pPr algn="ctr"/>
            <a:r>
              <a:rPr sz="1100" b="1" i="0">
                <a:solidFill>
                  <a:srgbClr val="B45309"/>
                </a:solidFill>
                <a:latin typeface="Calibri"/>
              </a:rPr>
              <a:t>PENDING</a:t>
            </a:r>
          </a:p>
        </p:txBody>
      </p:sp>
      <p:sp>
        <p:nvSpPr>
          <p:cNvPr id="167" name="TextBox 166"/>
          <p:cNvSpPr txBox="1"/>
          <p:nvPr/>
        </p:nvSpPr>
        <p:spPr>
          <a:xfrm>
            <a:off x="2304288" y="4306824"/>
            <a:ext cx="8869680" cy="566928"/>
          </a:xfrm>
          <a:prstGeom prst="rect">
            <a:avLst/>
          </a:prstGeom>
          <a:noFill/>
        </p:spPr>
        <p:txBody>
          <a:bodyPr wrap="square" lIns="0" rIns="0" tIns="0" bIns="0" anchor="t">
            <a:noAutofit/>
          </a:bodyPr>
          <a:lstStyle/>
          <a:p>
            <a:pPr algn="l">
              <a:lnSpc>
                <a:spcPct val="95000"/>
              </a:lnSpc>
            </a:pPr>
            <a:r>
              <a:rPr sz="1500" b="1" i="0">
                <a:solidFill>
                  <a:srgbClr val="14142B"/>
                </a:solidFill>
                <a:latin typeface="Calibri"/>
              </a:rPr>
              <a:t>Demo video, max 5 minutes (YouTube or Drive link)</a:t>
            </a:r>
          </a:p>
          <a:p>
            <a:pPr algn="l">
              <a:lnSpc>
                <a:spcPct val="95000"/>
              </a:lnSpc>
            </a:pPr>
            <a:r>
              <a:rPr sz="1150" b="1" i="0">
                <a:solidFill>
                  <a:srgbClr val="B45309"/>
                </a:solidFill>
                <a:latin typeface="Calibri"/>
              </a:rPr>
              <a:t>[ DEMO VIDEO LINK — TO BE ADDED BY THE TEAM ]</a:t>
            </a:r>
          </a:p>
        </p:txBody>
      </p:sp>
      <p:sp>
        <p:nvSpPr>
          <p:cNvPr id="168" name="Rounded Rectangle 167"/>
          <p:cNvSpPr/>
          <p:nvPr/>
        </p:nvSpPr>
        <p:spPr>
          <a:xfrm>
            <a:off x="841248" y="5047488"/>
            <a:ext cx="10515600" cy="676656"/>
          </a:xfrm>
          <a:prstGeom prst="roundRect">
            <a:avLst>
              <a:gd name="adj" fmla="val 13513"/>
            </a:avLst>
          </a:prstGeom>
          <a:solidFill>
            <a:srgbClr val="FFFFFF"/>
          </a:solidFill>
          <a:ln w="12700">
            <a:solidFill>
              <a:srgbClr val="E3E1EE"/>
            </a:solidFill>
          </a:ln>
        </p:spPr>
        <p:txBody>
          <a:bodyPr rtlCol="0" anchor="ctr"/>
          <a:lstStyle/>
          <a:p>
            <a:pPr algn="ctr"/>
          </a:p>
        </p:txBody>
      </p:sp>
      <p:sp>
        <p:nvSpPr>
          <p:cNvPr id="169" name="Rounded Rectangle 168"/>
          <p:cNvSpPr/>
          <p:nvPr/>
        </p:nvSpPr>
        <p:spPr>
          <a:xfrm>
            <a:off x="1024128" y="5221224"/>
            <a:ext cx="1051560" cy="329184"/>
          </a:xfrm>
          <a:prstGeom prst="roundRect">
            <a:avLst>
              <a:gd name="adj" fmla="val 50000"/>
            </a:avLst>
          </a:prstGeom>
          <a:solidFill>
            <a:srgbClr val="E6F4EC"/>
          </a:solidFill>
          <a:ln>
            <a:noFill/>
          </a:ln>
        </p:spPr>
        <p:txBody>
          <a:bodyPr rtlCol="0" anchor="ctr" wrap="square" lIns="36576" rIns="36576" tIns="36576" bIns="36576">
            <a:noAutofit/>
          </a:bodyPr>
          <a:lstStyle/>
          <a:p>
            <a:pPr algn="ctr"/>
            <a:r>
              <a:rPr sz="1100" b="1" i="0">
                <a:solidFill>
                  <a:srgbClr val="15803D"/>
                </a:solidFill>
                <a:latin typeface="Calibri"/>
              </a:rPr>
              <a:t>Y</a:t>
            </a:r>
          </a:p>
        </p:txBody>
      </p:sp>
      <p:sp>
        <p:nvSpPr>
          <p:cNvPr id="170" name="TextBox 169"/>
          <p:cNvSpPr txBox="1"/>
          <p:nvPr/>
        </p:nvSpPr>
        <p:spPr>
          <a:xfrm>
            <a:off x="2304288" y="5111496"/>
            <a:ext cx="8869680" cy="566928"/>
          </a:xfrm>
          <a:prstGeom prst="rect">
            <a:avLst/>
          </a:prstGeom>
          <a:noFill/>
        </p:spPr>
        <p:txBody>
          <a:bodyPr wrap="square" lIns="0" rIns="0" tIns="0" bIns="0" anchor="t">
            <a:noAutofit/>
          </a:bodyPr>
          <a:lstStyle/>
          <a:p>
            <a:pPr algn="l">
              <a:lnSpc>
                <a:spcPct val="95000"/>
              </a:lnSpc>
            </a:pPr>
            <a:r>
              <a:rPr sz="1500" b="1" i="0">
                <a:solidFill>
                  <a:srgbClr val="14142B"/>
                </a:solidFill>
                <a:latin typeface="Calibri"/>
              </a:rPr>
              <a:t>Presentation file (PPT or PDF)</a:t>
            </a:r>
          </a:p>
          <a:p>
            <a:pPr algn="l">
              <a:lnSpc>
                <a:spcPct val="95000"/>
              </a:lnSpc>
            </a:pPr>
            <a:r>
              <a:rPr sz="1150" b="0" i="0">
                <a:solidFill>
                  <a:srgbClr val="63637E"/>
                </a:solidFill>
                <a:latin typeface="Calibri"/>
              </a:rPr>
              <a:t>SRM_Univ_Fantastic_4_Submission.pptx</a:t>
            </a:r>
          </a:p>
        </p:txBody>
      </p:sp>
      <p:sp>
        <p:nvSpPr>
          <p:cNvPr id="171" name="TextBox 170"/>
          <p:cNvSpPr txBox="1"/>
          <p:nvPr/>
        </p:nvSpPr>
        <p:spPr>
          <a:xfrm>
            <a:off x="841248" y="5897880"/>
            <a:ext cx="10515600" cy="274320"/>
          </a:xfrm>
          <a:prstGeom prst="rect">
            <a:avLst/>
          </a:prstGeom>
          <a:noFill/>
        </p:spPr>
        <p:txBody>
          <a:bodyPr wrap="square" lIns="0" rIns="0" tIns="0" bIns="0" anchor="t">
            <a:noAutofit/>
          </a:bodyPr>
          <a:lstStyle/>
          <a:p>
            <a:pPr algn="l"/>
            <a:r>
              <a:rPr sz="1000" b="0" i="1">
                <a:solidFill>
                  <a:srgbClr val="63637E"/>
                </a:solidFill>
                <a:latin typeface="Calibri"/>
              </a:rPr>
              <a:t>Status as of the final build of this deck.</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2"/>
          <p:cNvSpPr txBox="1"/>
          <p:nvPr/>
        </p:nvSpPr>
        <p:spPr>
          <a:xfrm>
            <a:off x="1046181" y="2788920"/>
            <a:ext cx="67665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42B"/>
              </a:buClr>
              <a:buSzPts val="4600"/>
              <a:buFont typeface="Arial"/>
              <a:buNone/>
            </a:pPr>
            <a:r>
              <a:rPr b="1" i="0" lang="en-US" sz="4600" u="none" cap="none" strike="noStrike">
                <a:solidFill>
                  <a:srgbClr val="14142B"/>
                </a:solidFill>
                <a:latin typeface="Arial"/>
                <a:ea typeface="Arial"/>
                <a:cs typeface="Arial"/>
                <a:sym typeface="Arial"/>
              </a:rPr>
              <a:t>Thank you</a:t>
            </a:r>
            <a:endParaRPr b="0" i="0" sz="4600" u="none" cap="none" strike="noStrike">
              <a:solidFill>
                <a:schemeClr val="dk1"/>
              </a:solidFill>
              <a:latin typeface="Calibri"/>
              <a:ea typeface="Calibri"/>
              <a:cs typeface="Calibri"/>
              <a:sym typeface="Calibri"/>
            </a:endParaRPr>
          </a:p>
        </p:txBody>
      </p:sp>
      <p:sp>
        <p:nvSpPr>
          <p:cNvPr id="163" name="Google Shape;163;p12"/>
          <p:cNvSpPr txBox="1"/>
          <p:nvPr/>
        </p:nvSpPr>
        <p:spPr>
          <a:xfrm>
            <a:off x="777240" y="5897880"/>
            <a:ext cx="10607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3637E"/>
              </a:buClr>
              <a:buSzPts val="1100"/>
              <a:buFont typeface="Calibri"/>
              <a:buNone/>
            </a:pPr>
            <a:r>
              <a:rPr b="0" i="0" lang="en-US" sz="1100" u="none" cap="none" strike="noStrike">
                <a:solidFill>
                  <a:srgbClr val="63637E"/>
                </a:solidFill>
                <a:latin typeface="Calibri"/>
                <a:ea typeface="Calibri"/>
                <a:cs typeface="Calibri"/>
                <a:sym typeface="Calibri"/>
              </a:rPr>
              <a:t>Organised by the Language AI Team and the PRISM Team, Samsung R&amp;D Institute India</a:t>
            </a:r>
            <a:endParaRPr b="0" i="0" sz="1100" u="none" cap="none" strike="noStrike">
              <a:solidFill>
                <a:schemeClr val="dk1"/>
              </a:solidFill>
              <a:latin typeface="Calibri"/>
              <a:ea typeface="Calibri"/>
              <a:cs typeface="Calibri"/>
              <a:sym typeface="Calibri"/>
            </a:endParaRPr>
          </a:p>
        </p:txBody>
      </p:sp>
      <p:pic>
        <p:nvPicPr>
          <p:cNvPr id="164" name="Picture 163" descr="image.png"/>
          <p:cNvPicPr>
            <a:picLocks noChangeAspect="1"/>
          </p:cNvPicPr>
          <p:nvPr/>
        </p:nvPicPr>
        <p:blipFill>
          <a:blip r:embed="rId3"/>
          <a:stretch>
            <a:fillRect/>
          </a:stretch>
        </p:blipFill>
        <p:spPr>
          <a:xfrm>
            <a:off x="7498079" y="1280160"/>
            <a:ext cx="3931920" cy="3931920"/>
          </a:xfrm>
          <a:prstGeom prst="rect">
            <a:avLst/>
          </a:prstGeom>
        </p:spPr>
      </p:pic>
      <p:sp>
        <p:nvSpPr>
          <p:cNvPr id="165" name="Rounded Rectangle 164"/>
          <p:cNvSpPr/>
          <p:nvPr/>
        </p:nvSpPr>
        <p:spPr>
          <a:xfrm>
            <a:off x="1042415" y="2240280"/>
            <a:ext cx="2423160" cy="347472"/>
          </a:xfrm>
          <a:prstGeom prst="roundRect">
            <a:avLst>
              <a:gd name="adj" fmla="val 50000"/>
            </a:avLst>
          </a:prstGeom>
          <a:solidFill>
            <a:srgbClr val="FFFFFF"/>
          </a:solidFill>
          <a:ln w="12700">
            <a:solidFill>
              <a:srgbClr val="D9D3F0"/>
            </a:solidFill>
          </a:ln>
        </p:spPr>
        <p:txBody>
          <a:bodyPr rtlCol="0" anchor="ctr" wrap="square" lIns="18288" rIns="18288" tIns="18288" bIns="18288">
            <a:noAutofit/>
          </a:bodyPr>
          <a:lstStyle/>
          <a:p>
            <a:pPr algn="ctr"/>
            <a:r>
              <a:rPr sz="1100" b="1" i="0" spc="60">
                <a:solidFill>
                  <a:srgbClr val="6D28D9"/>
                </a:solidFill>
                <a:latin typeface="Calibri"/>
              </a:rPr>
              <a:t>STREAMING LIVE RAG</a:t>
            </a:r>
          </a:p>
        </p:txBody>
      </p:sp>
      <p:sp>
        <p:nvSpPr>
          <p:cNvPr id="166" name="TextBox 165"/>
          <p:cNvSpPr txBox="1"/>
          <p:nvPr/>
        </p:nvSpPr>
        <p:spPr>
          <a:xfrm>
            <a:off x="1042415" y="3749039"/>
            <a:ext cx="6400800" cy="365760"/>
          </a:xfrm>
          <a:prstGeom prst="rect">
            <a:avLst/>
          </a:prstGeom>
          <a:noFill/>
        </p:spPr>
        <p:txBody>
          <a:bodyPr wrap="square" lIns="0" rIns="0" tIns="0" bIns="0" anchor="t">
            <a:noAutofit/>
          </a:bodyPr>
          <a:lstStyle/>
          <a:p>
            <a:pPr algn="l"/>
            <a:r>
              <a:rPr sz="2000" b="1" i="0">
                <a:solidFill>
                  <a:srgbClr val="14142B"/>
                </a:solidFill>
                <a:latin typeface="Calibri"/>
              </a:rPr>
              <a:t>Team Fantastic 4</a:t>
            </a:r>
            <a:r>
              <a:rPr sz="2000" b="0" i="0">
                <a:solidFill>
                  <a:srgbClr val="63637E"/>
                </a:solidFill>
                <a:latin typeface="Calibri"/>
              </a:rPr>
              <a:t>  ·  SRM Univ</a:t>
            </a:r>
          </a:p>
        </p:txBody>
      </p:sp>
      <p:sp>
        <p:nvSpPr>
          <p:cNvPr id="167" name="TextBox 166"/>
          <p:cNvSpPr txBox="1"/>
          <p:nvPr/>
        </p:nvSpPr>
        <p:spPr>
          <a:xfrm>
            <a:off x="1042415" y="4206240"/>
            <a:ext cx="6400800" cy="320040"/>
          </a:xfrm>
          <a:prstGeom prst="rect">
            <a:avLst/>
          </a:prstGeom>
          <a:noFill/>
        </p:spPr>
        <p:txBody>
          <a:bodyPr wrap="square" lIns="0" rIns="0" tIns="0" bIns="0" anchor="t">
            <a:noAutofit/>
          </a:bodyPr>
          <a:lstStyle/>
          <a:p>
            <a:pPr algn="l"/>
            <a:r>
              <a:rPr sz="1400" b="1" i="0">
                <a:solidFill>
                  <a:srgbClr val="6D28D9"/>
                </a:solidFill>
                <a:latin typeface="Calibri"/>
                <a:hlinkClick r:id="rId4"/>
              </a:rPr>
              <a:t>https://github.com/spsneh07/Prism-Streaming-Live-rag</a:t>
            </a:r>
          </a:p>
        </p:txBody>
      </p:sp>
      <p:sp>
        <p:nvSpPr>
          <p:cNvPr id="168" name="TextBox 167"/>
          <p:cNvSpPr txBox="1"/>
          <p:nvPr/>
        </p:nvSpPr>
        <p:spPr>
          <a:xfrm>
            <a:off x="1042415" y="4617720"/>
            <a:ext cx="6400800" cy="320040"/>
          </a:xfrm>
          <a:prstGeom prst="rect">
            <a:avLst/>
          </a:prstGeom>
          <a:noFill/>
        </p:spPr>
        <p:txBody>
          <a:bodyPr wrap="square" lIns="0" rIns="0" tIns="0" bIns="0" anchor="t">
            <a:noAutofit/>
          </a:bodyPr>
          <a:lstStyle/>
          <a:p>
            <a:pPr algn="l"/>
            <a:r>
              <a:rPr sz="1400" b="1" i="0">
                <a:solidFill>
                  <a:srgbClr val="14142B"/>
                </a:solidFill>
                <a:latin typeface="Calibri"/>
              </a:rPr>
              <a:t>Contact  </a:t>
            </a:r>
            <a:r>
              <a:rPr sz="1400" b="0" i="0">
                <a:solidFill>
                  <a:srgbClr val="63637E"/>
                </a:solidFill>
                <a:latin typeface="Calibri"/>
              </a:rPr>
              <a:t>Sneh Prasad  ·  sp0701@srmist.edu.in</a:t>
            </a:r>
          </a:p>
        </p:txBody>
      </p:sp>
      <p:sp>
        <p:nvSpPr>
          <p:cNvPr id="169" name="TextBox 168"/>
          <p:cNvSpPr txBox="1"/>
          <p:nvPr/>
        </p:nvSpPr>
        <p:spPr>
          <a:xfrm>
            <a:off x="1042415" y="4983480"/>
            <a:ext cx="6400800" cy="320040"/>
          </a:xfrm>
          <a:prstGeom prst="rect">
            <a:avLst/>
          </a:prstGeom>
          <a:noFill/>
        </p:spPr>
        <p:txBody>
          <a:bodyPr wrap="square" lIns="0" rIns="0" tIns="0" bIns="0" anchor="t">
            <a:noAutofit/>
          </a:bodyPr>
          <a:lstStyle/>
          <a:p>
            <a:pPr algn="l"/>
            <a:r>
              <a:rPr sz="1200" b="0" i="0">
                <a:solidFill>
                  <a:srgbClr val="8A8AA3"/>
                </a:solidFill>
                <a:latin typeface="Calibri"/>
              </a:rPr>
              <a:t>Sneh Prasad  ·  Purva Jain  ·  Agadh Khanolkar  ·  Srushti More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3" name="Google Shape;113;p4"/>
          <p:cNvSpPr txBox="1"/>
          <p:nvPr>
            <p:ph type="title"/>
          </p:nvPr>
        </p:nvSpPr>
        <p:spPr>
          <a:xfrm>
            <a:off x="909917" y="266513"/>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System Architecture</a:t>
            </a:r>
            <a:endParaRPr/>
          </a:p>
        </p:txBody>
      </p:sp>
      <p:sp>
        <p:nvSpPr>
          <p:cNvPr id="114" name="Rounded Rectangle 113"/>
          <p:cNvSpPr/>
          <p:nvPr/>
        </p:nvSpPr>
        <p:spPr>
          <a:xfrm>
            <a:off x="841248" y="2148840"/>
            <a:ext cx="1097280" cy="1188720"/>
          </a:xfrm>
          <a:prstGeom prst="roundRect">
            <a:avLst>
              <a:gd name="adj" fmla="val 8333"/>
            </a:avLst>
          </a:prstGeom>
          <a:solidFill>
            <a:srgbClr val="F4F1FC"/>
          </a:solidFill>
          <a:ln>
            <a:noFill/>
          </a:ln>
        </p:spPr>
        <p:txBody>
          <a:bodyPr rtlCol="0" anchor="ctr"/>
          <a:lstStyle/>
          <a:p>
            <a:pPr algn="ctr"/>
          </a:p>
        </p:txBody>
      </p:sp>
      <p:sp>
        <p:nvSpPr>
          <p:cNvPr id="115" name="TextBox 114"/>
          <p:cNvSpPr txBox="1"/>
          <p:nvPr/>
        </p:nvSpPr>
        <p:spPr>
          <a:xfrm>
            <a:off x="932688" y="2240280"/>
            <a:ext cx="914400" cy="182880"/>
          </a:xfrm>
          <a:prstGeom prst="rect">
            <a:avLst/>
          </a:prstGeom>
          <a:noFill/>
        </p:spPr>
        <p:txBody>
          <a:bodyPr wrap="square" lIns="0" rIns="0" tIns="0" bIns="0" anchor="t">
            <a:noAutofit/>
          </a:bodyPr>
          <a:lstStyle/>
          <a:p>
            <a:pPr algn="l"/>
            <a:r>
              <a:rPr sz="900" b="1" i="0">
                <a:solidFill>
                  <a:srgbClr val="6D28D9"/>
                </a:solidFill>
                <a:latin typeface="Calibri"/>
              </a:rPr>
              <a:t>01</a:t>
            </a:r>
          </a:p>
        </p:txBody>
      </p:sp>
      <p:sp>
        <p:nvSpPr>
          <p:cNvPr id="116" name="TextBox 115"/>
          <p:cNvSpPr txBox="1"/>
          <p:nvPr/>
        </p:nvSpPr>
        <p:spPr>
          <a:xfrm>
            <a:off x="932688" y="2423160"/>
            <a:ext cx="914400" cy="502920"/>
          </a:xfrm>
          <a:prstGeom prst="rect">
            <a:avLst/>
          </a:prstGeom>
          <a:noFill/>
        </p:spPr>
        <p:txBody>
          <a:bodyPr wrap="square" lIns="0" rIns="0" tIns="0" bIns="0" anchor="t">
            <a:noAutofit/>
          </a:bodyPr>
          <a:lstStyle/>
          <a:p>
            <a:pPr algn="l">
              <a:lnSpc>
                <a:spcPct val="92000"/>
              </a:lnSpc>
            </a:pPr>
            <a:r>
              <a:rPr sz="1200" b="1" i="0">
                <a:solidFill>
                  <a:srgbClr val="14142B"/>
                </a:solidFill>
                <a:latin typeface="Calibri"/>
              </a:rPr>
              <a:t>Streaming transcript input</a:t>
            </a:r>
          </a:p>
        </p:txBody>
      </p:sp>
      <p:sp>
        <p:nvSpPr>
          <p:cNvPr id="117" name="TextBox 116"/>
          <p:cNvSpPr txBox="1"/>
          <p:nvPr/>
        </p:nvSpPr>
        <p:spPr>
          <a:xfrm>
            <a:off x="932688" y="2916936"/>
            <a:ext cx="914400" cy="402336"/>
          </a:xfrm>
          <a:prstGeom prst="rect">
            <a:avLst/>
          </a:prstGeom>
          <a:noFill/>
        </p:spPr>
        <p:txBody>
          <a:bodyPr wrap="square" lIns="0" rIns="0" tIns="0" bIns="0" anchor="t">
            <a:noAutofit/>
          </a:bodyPr>
          <a:lstStyle/>
          <a:p>
            <a:pPr algn="l">
              <a:lnSpc>
                <a:spcPct val="95000"/>
              </a:lnSpc>
            </a:pPr>
            <a:r>
              <a:rPr sz="950" b="0" i="0">
                <a:solidFill>
                  <a:srgbClr val="63637E"/>
                </a:solidFill>
                <a:latin typeface="Calibri"/>
              </a:rPr>
              <a:t>chunks on one clock</a:t>
            </a:r>
          </a:p>
        </p:txBody>
      </p:sp>
      <p:sp>
        <p:nvSpPr>
          <p:cNvPr id="118" name="Rounded Rectangle 117"/>
          <p:cNvSpPr/>
          <p:nvPr/>
        </p:nvSpPr>
        <p:spPr>
          <a:xfrm>
            <a:off x="2194560" y="2148840"/>
            <a:ext cx="1463040" cy="1188720"/>
          </a:xfrm>
          <a:prstGeom prst="roundRect">
            <a:avLst>
              <a:gd name="adj" fmla="val 7692"/>
            </a:avLst>
          </a:prstGeom>
          <a:solidFill>
            <a:srgbClr val="F4F1FC"/>
          </a:solidFill>
          <a:ln>
            <a:noFill/>
          </a:ln>
        </p:spPr>
        <p:txBody>
          <a:bodyPr rtlCol="0" anchor="ctr"/>
          <a:lstStyle/>
          <a:p>
            <a:pPr algn="ctr"/>
          </a:p>
        </p:txBody>
      </p:sp>
      <p:sp>
        <p:nvSpPr>
          <p:cNvPr id="119" name="TextBox 118"/>
          <p:cNvSpPr txBox="1"/>
          <p:nvPr/>
        </p:nvSpPr>
        <p:spPr>
          <a:xfrm>
            <a:off x="2286000" y="2240280"/>
            <a:ext cx="1280160" cy="182880"/>
          </a:xfrm>
          <a:prstGeom prst="rect">
            <a:avLst/>
          </a:prstGeom>
          <a:noFill/>
        </p:spPr>
        <p:txBody>
          <a:bodyPr wrap="square" lIns="0" rIns="0" tIns="0" bIns="0" anchor="t">
            <a:noAutofit/>
          </a:bodyPr>
          <a:lstStyle/>
          <a:p>
            <a:pPr algn="l"/>
            <a:r>
              <a:rPr sz="900" b="1" i="0">
                <a:solidFill>
                  <a:srgbClr val="6D28D9"/>
                </a:solidFill>
                <a:latin typeface="Calibri"/>
              </a:rPr>
              <a:t>02</a:t>
            </a:r>
          </a:p>
        </p:txBody>
      </p:sp>
      <p:sp>
        <p:nvSpPr>
          <p:cNvPr id="120" name="TextBox 119"/>
          <p:cNvSpPr txBox="1"/>
          <p:nvPr/>
        </p:nvSpPr>
        <p:spPr>
          <a:xfrm>
            <a:off x="2286000" y="2404872"/>
            <a:ext cx="1280160" cy="228600"/>
          </a:xfrm>
          <a:prstGeom prst="rect">
            <a:avLst/>
          </a:prstGeom>
          <a:noFill/>
        </p:spPr>
        <p:txBody>
          <a:bodyPr wrap="square" lIns="0" rIns="0" tIns="0" bIns="0" anchor="t">
            <a:noAutofit/>
          </a:bodyPr>
          <a:lstStyle/>
          <a:p>
            <a:pPr algn="l"/>
            <a:r>
              <a:rPr sz="1200" b="1" i="0">
                <a:solidFill>
                  <a:srgbClr val="14142B"/>
                </a:solidFill>
                <a:latin typeface="Calibri"/>
              </a:rPr>
              <a:t>Retrieval controller</a:t>
            </a:r>
          </a:p>
        </p:txBody>
      </p:sp>
      <p:sp>
        <p:nvSpPr>
          <p:cNvPr id="121" name="Rounded Rectangle 120"/>
          <p:cNvSpPr/>
          <p:nvPr/>
        </p:nvSpPr>
        <p:spPr>
          <a:xfrm>
            <a:off x="2304288" y="2679192"/>
            <a:ext cx="868680" cy="173736"/>
          </a:xfrm>
          <a:prstGeom prst="roundRect">
            <a:avLst>
              <a:gd name="adj" fmla="val 50000"/>
            </a:avLst>
          </a:prstGeom>
          <a:solidFill>
            <a:srgbClr val="B45309"/>
          </a:solidFill>
          <a:ln>
            <a:noFill/>
          </a:ln>
        </p:spPr>
        <p:txBody>
          <a:bodyPr rtlCol="0" anchor="ctr" wrap="square" lIns="36576" rIns="36576" tIns="36576" bIns="36576">
            <a:noAutofit/>
          </a:bodyPr>
          <a:lstStyle/>
          <a:p>
            <a:pPr algn="ctr"/>
            <a:r>
              <a:rPr sz="800" b="1" i="0">
                <a:solidFill>
                  <a:srgbClr val="FFFFFF"/>
                </a:solidFill>
                <a:latin typeface="Calibri"/>
              </a:rPr>
              <a:t>WAIT</a:t>
            </a:r>
          </a:p>
        </p:txBody>
      </p:sp>
      <p:sp>
        <p:nvSpPr>
          <p:cNvPr id="122" name="Rounded Rectangle 121"/>
          <p:cNvSpPr/>
          <p:nvPr/>
        </p:nvSpPr>
        <p:spPr>
          <a:xfrm>
            <a:off x="2304288" y="2889504"/>
            <a:ext cx="868680" cy="173736"/>
          </a:xfrm>
          <a:prstGeom prst="roundRect">
            <a:avLst>
              <a:gd name="adj" fmla="val 50000"/>
            </a:avLst>
          </a:prstGeom>
          <a:solidFill>
            <a:srgbClr val="15803D"/>
          </a:solidFill>
          <a:ln>
            <a:noFill/>
          </a:ln>
        </p:spPr>
        <p:txBody>
          <a:bodyPr rtlCol="0" anchor="ctr" wrap="square" lIns="36576" rIns="36576" tIns="36576" bIns="36576">
            <a:noAutofit/>
          </a:bodyPr>
          <a:lstStyle/>
          <a:p>
            <a:pPr algn="ctr"/>
            <a:r>
              <a:rPr sz="800" b="1" i="0">
                <a:solidFill>
                  <a:srgbClr val="FFFFFF"/>
                </a:solidFill>
                <a:latin typeface="Calibri"/>
              </a:rPr>
              <a:t>RETRIEVE</a:t>
            </a:r>
          </a:p>
        </p:txBody>
      </p:sp>
      <p:sp>
        <p:nvSpPr>
          <p:cNvPr id="123" name="Rounded Rectangle 122"/>
          <p:cNvSpPr/>
          <p:nvPr/>
        </p:nvSpPr>
        <p:spPr>
          <a:xfrm>
            <a:off x="2304288" y="3099816"/>
            <a:ext cx="868680" cy="173736"/>
          </a:xfrm>
          <a:prstGeom prst="roundRect">
            <a:avLst>
              <a:gd name="adj" fmla="val 50000"/>
            </a:avLst>
          </a:prstGeom>
          <a:solidFill>
            <a:srgbClr val="7C3AED"/>
          </a:solidFill>
          <a:ln>
            <a:noFill/>
          </a:ln>
        </p:spPr>
        <p:txBody>
          <a:bodyPr rtlCol="0" anchor="ctr" wrap="square" lIns="36576" rIns="36576" tIns="36576" bIns="36576">
            <a:noAutofit/>
          </a:bodyPr>
          <a:lstStyle/>
          <a:p>
            <a:pPr algn="ctr"/>
            <a:r>
              <a:rPr sz="800" b="1" i="0">
                <a:solidFill>
                  <a:srgbClr val="FFFFFF"/>
                </a:solidFill>
                <a:latin typeface="Calibri"/>
              </a:rPr>
              <a:t>SUPPRESS</a:t>
            </a:r>
          </a:p>
        </p:txBody>
      </p:sp>
      <p:sp>
        <p:nvSpPr>
          <p:cNvPr id="124" name="Rounded Rectangle 123"/>
          <p:cNvSpPr/>
          <p:nvPr/>
        </p:nvSpPr>
        <p:spPr>
          <a:xfrm>
            <a:off x="3913632" y="2148840"/>
            <a:ext cx="1234440" cy="1188720"/>
          </a:xfrm>
          <a:prstGeom prst="roundRect">
            <a:avLst>
              <a:gd name="adj" fmla="val 7692"/>
            </a:avLst>
          </a:prstGeom>
          <a:solidFill>
            <a:srgbClr val="F4F1FC"/>
          </a:solidFill>
          <a:ln>
            <a:noFill/>
          </a:ln>
        </p:spPr>
        <p:txBody>
          <a:bodyPr rtlCol="0" anchor="ctr"/>
          <a:lstStyle/>
          <a:p>
            <a:pPr algn="ctr"/>
          </a:p>
        </p:txBody>
      </p:sp>
      <p:sp>
        <p:nvSpPr>
          <p:cNvPr id="125" name="TextBox 124"/>
          <p:cNvSpPr txBox="1"/>
          <p:nvPr/>
        </p:nvSpPr>
        <p:spPr>
          <a:xfrm>
            <a:off x="4005072" y="2240280"/>
            <a:ext cx="1051560" cy="182880"/>
          </a:xfrm>
          <a:prstGeom prst="rect">
            <a:avLst/>
          </a:prstGeom>
          <a:noFill/>
        </p:spPr>
        <p:txBody>
          <a:bodyPr wrap="square" lIns="0" rIns="0" tIns="0" bIns="0" anchor="t">
            <a:noAutofit/>
          </a:bodyPr>
          <a:lstStyle/>
          <a:p>
            <a:pPr algn="l"/>
            <a:r>
              <a:rPr sz="900" b="1" i="0">
                <a:solidFill>
                  <a:srgbClr val="6D28D9"/>
                </a:solidFill>
                <a:latin typeface="Calibri"/>
              </a:rPr>
              <a:t>03</a:t>
            </a:r>
          </a:p>
        </p:txBody>
      </p:sp>
      <p:sp>
        <p:nvSpPr>
          <p:cNvPr id="126" name="TextBox 125"/>
          <p:cNvSpPr txBox="1"/>
          <p:nvPr/>
        </p:nvSpPr>
        <p:spPr>
          <a:xfrm>
            <a:off x="4005072" y="2423160"/>
            <a:ext cx="1051560" cy="502920"/>
          </a:xfrm>
          <a:prstGeom prst="rect">
            <a:avLst/>
          </a:prstGeom>
          <a:noFill/>
        </p:spPr>
        <p:txBody>
          <a:bodyPr wrap="square" lIns="0" rIns="0" tIns="0" bIns="0" anchor="t">
            <a:noAutofit/>
          </a:bodyPr>
          <a:lstStyle/>
          <a:p>
            <a:pPr algn="l">
              <a:lnSpc>
                <a:spcPct val="92000"/>
              </a:lnSpc>
            </a:pPr>
            <a:r>
              <a:rPr sz="1200" b="1" i="0">
                <a:solidFill>
                  <a:srgbClr val="14142B"/>
                </a:solidFill>
                <a:latin typeface="Calibri"/>
              </a:rPr>
              <a:t>Multi-intent decomposer</a:t>
            </a:r>
          </a:p>
        </p:txBody>
      </p:sp>
      <p:sp>
        <p:nvSpPr>
          <p:cNvPr id="127" name="TextBox 126"/>
          <p:cNvSpPr txBox="1"/>
          <p:nvPr/>
        </p:nvSpPr>
        <p:spPr>
          <a:xfrm>
            <a:off x="4005072" y="2916936"/>
            <a:ext cx="1051560" cy="402336"/>
          </a:xfrm>
          <a:prstGeom prst="rect">
            <a:avLst/>
          </a:prstGeom>
          <a:noFill/>
        </p:spPr>
        <p:txBody>
          <a:bodyPr wrap="square" lIns="0" rIns="0" tIns="0" bIns="0" anchor="t">
            <a:noAutofit/>
          </a:bodyPr>
          <a:lstStyle/>
          <a:p>
            <a:pPr algn="l">
              <a:lnSpc>
                <a:spcPct val="95000"/>
              </a:lnSpc>
            </a:pPr>
            <a:r>
              <a:rPr sz="950" b="0" i="0">
                <a:solidFill>
                  <a:srgbClr val="63637E"/>
                </a:solidFill>
                <a:latin typeface="Calibri"/>
              </a:rPr>
              <a:t>segment · re-attach · carry entities</a:t>
            </a:r>
          </a:p>
        </p:txBody>
      </p:sp>
      <p:sp>
        <p:nvSpPr>
          <p:cNvPr id="128" name="Rounded Rectangle 127"/>
          <p:cNvSpPr/>
          <p:nvPr/>
        </p:nvSpPr>
        <p:spPr>
          <a:xfrm>
            <a:off x="5513832" y="2039112"/>
            <a:ext cx="1920240" cy="1188720"/>
          </a:xfrm>
          <a:prstGeom prst="roundRect">
            <a:avLst>
              <a:gd name="adj" fmla="val 7692"/>
            </a:avLst>
          </a:prstGeom>
          <a:solidFill>
            <a:srgbClr val="FFFFFF"/>
          </a:solidFill>
          <a:ln w="12700">
            <a:solidFill>
              <a:srgbClr val="BFD0FF"/>
            </a:solidFill>
          </a:ln>
        </p:spPr>
        <p:txBody>
          <a:bodyPr rtlCol="0" anchor="ctr"/>
          <a:lstStyle/>
          <a:p>
            <a:pPr algn="ctr"/>
          </a:p>
        </p:txBody>
      </p:sp>
      <p:sp>
        <p:nvSpPr>
          <p:cNvPr id="129" name="Rounded Rectangle 128"/>
          <p:cNvSpPr/>
          <p:nvPr/>
        </p:nvSpPr>
        <p:spPr>
          <a:xfrm>
            <a:off x="5458968" y="2093976"/>
            <a:ext cx="1920240" cy="1188720"/>
          </a:xfrm>
          <a:prstGeom prst="roundRect">
            <a:avLst>
              <a:gd name="adj" fmla="val 7692"/>
            </a:avLst>
          </a:prstGeom>
          <a:solidFill>
            <a:srgbClr val="FFFFFF"/>
          </a:solidFill>
          <a:ln w="12700">
            <a:solidFill>
              <a:srgbClr val="BFD0FF"/>
            </a:solidFill>
          </a:ln>
        </p:spPr>
        <p:txBody>
          <a:bodyPr rtlCol="0" anchor="ctr"/>
          <a:lstStyle/>
          <a:p>
            <a:pPr algn="ctr"/>
          </a:p>
        </p:txBody>
      </p:sp>
      <p:sp>
        <p:nvSpPr>
          <p:cNvPr id="130" name="Rounded Rectangle 129"/>
          <p:cNvSpPr/>
          <p:nvPr/>
        </p:nvSpPr>
        <p:spPr>
          <a:xfrm>
            <a:off x="5404104" y="2148840"/>
            <a:ext cx="1920240" cy="1188720"/>
          </a:xfrm>
          <a:prstGeom prst="roundRect">
            <a:avLst>
              <a:gd name="adj" fmla="val 7692"/>
            </a:avLst>
          </a:prstGeom>
          <a:solidFill>
            <a:srgbClr val="EAF0FF"/>
          </a:solidFill>
          <a:ln w="12700">
            <a:solidFill>
              <a:srgbClr val="BFD0FF"/>
            </a:solidFill>
          </a:ln>
        </p:spPr>
        <p:txBody>
          <a:bodyPr rtlCol="0" anchor="ctr"/>
          <a:lstStyle/>
          <a:p>
            <a:pPr algn="ctr"/>
          </a:p>
        </p:txBody>
      </p:sp>
      <p:sp>
        <p:nvSpPr>
          <p:cNvPr id="131" name="TextBox 130"/>
          <p:cNvSpPr txBox="1"/>
          <p:nvPr/>
        </p:nvSpPr>
        <p:spPr>
          <a:xfrm>
            <a:off x="5495544" y="2221992"/>
            <a:ext cx="1737360" cy="274320"/>
          </a:xfrm>
          <a:prstGeom prst="rect">
            <a:avLst/>
          </a:prstGeom>
          <a:noFill/>
        </p:spPr>
        <p:txBody>
          <a:bodyPr wrap="square" lIns="0" rIns="0" tIns="0" bIns="0" anchor="t">
            <a:noAutofit/>
          </a:bodyPr>
          <a:lstStyle/>
          <a:p>
            <a:pPr algn="l"/>
            <a:r>
              <a:rPr sz="1050" b="1" i="0">
                <a:solidFill>
                  <a:srgbClr val="3B5BDB"/>
                </a:solidFill>
                <a:latin typeface="Calibri"/>
              </a:rPr>
              <a:t>Parallel retrieval </a:t>
            </a:r>
            <a:r>
              <a:rPr sz="1050" b="0" i="0">
                <a:solidFill>
                  <a:srgbClr val="3B5BDB"/>
                </a:solidFill>
                <a:latin typeface="Calibri"/>
              </a:rPr>
              <a:t>× N</a:t>
            </a:r>
          </a:p>
        </p:txBody>
      </p:sp>
      <p:sp>
        <p:nvSpPr>
          <p:cNvPr id="132" name="Rounded Rectangle 131"/>
          <p:cNvSpPr/>
          <p:nvPr/>
        </p:nvSpPr>
        <p:spPr>
          <a:xfrm>
            <a:off x="5513832" y="2532888"/>
            <a:ext cx="804672" cy="694944"/>
          </a:xfrm>
          <a:prstGeom prst="roundRect">
            <a:avLst>
              <a:gd name="adj" fmla="val 10526"/>
            </a:avLst>
          </a:prstGeom>
          <a:solidFill>
            <a:srgbClr val="FFFFFF"/>
          </a:solidFill>
          <a:ln>
            <a:noFill/>
          </a:ln>
        </p:spPr>
        <p:txBody>
          <a:bodyPr rtlCol="0" anchor="ctr"/>
          <a:lstStyle/>
          <a:p>
            <a:pPr algn="ctr"/>
          </a:p>
        </p:txBody>
      </p:sp>
      <p:sp>
        <p:nvSpPr>
          <p:cNvPr id="133" name="TextBox 132"/>
          <p:cNvSpPr txBox="1"/>
          <p:nvPr/>
        </p:nvSpPr>
        <p:spPr>
          <a:xfrm>
            <a:off x="5586984" y="2569464"/>
            <a:ext cx="685800" cy="640080"/>
          </a:xfrm>
          <a:prstGeom prst="rect">
            <a:avLst/>
          </a:prstGeom>
          <a:noFill/>
        </p:spPr>
        <p:txBody>
          <a:bodyPr wrap="square" lIns="0" rIns="0" tIns="0" bIns="0" anchor="t">
            <a:noAutofit/>
          </a:bodyPr>
          <a:lstStyle/>
          <a:p>
            <a:pPr algn="l">
              <a:lnSpc>
                <a:spcPct val="95000"/>
              </a:lnSpc>
            </a:pPr>
            <a:r>
              <a:rPr sz="850" b="1" i="0">
                <a:solidFill>
                  <a:srgbClr val="6D28D9"/>
                </a:solidFill>
                <a:latin typeface="Calibri"/>
              </a:rPr>
              <a:t>04</a:t>
            </a:r>
          </a:p>
          <a:p>
            <a:pPr algn="l">
              <a:lnSpc>
                <a:spcPct val="95000"/>
              </a:lnSpc>
            </a:pPr>
            <a:r>
              <a:rPr sz="1200" b="1" i="0">
                <a:solidFill>
                  <a:srgbClr val="14142B"/>
                </a:solidFill>
                <a:latin typeface="Calibri"/>
              </a:rPr>
              <a:t>Dense</a:t>
            </a:r>
          </a:p>
          <a:p>
            <a:pPr algn="l">
              <a:lnSpc>
                <a:spcPct val="95000"/>
              </a:lnSpc>
            </a:pPr>
            <a:r>
              <a:rPr sz="950" b="0" i="0">
                <a:solidFill>
                  <a:srgbClr val="63637E"/>
                </a:solidFill>
                <a:latin typeface="Calibri"/>
              </a:rPr>
              <a:t>MiniLM</a:t>
            </a:r>
          </a:p>
        </p:txBody>
      </p:sp>
      <p:sp>
        <p:nvSpPr>
          <p:cNvPr id="134" name="Rounded Rectangle 133"/>
          <p:cNvSpPr/>
          <p:nvPr/>
        </p:nvSpPr>
        <p:spPr>
          <a:xfrm>
            <a:off x="6409944" y="2532888"/>
            <a:ext cx="804672" cy="694944"/>
          </a:xfrm>
          <a:prstGeom prst="roundRect">
            <a:avLst>
              <a:gd name="adj" fmla="val 10526"/>
            </a:avLst>
          </a:prstGeom>
          <a:solidFill>
            <a:srgbClr val="FFFFFF"/>
          </a:solidFill>
          <a:ln>
            <a:noFill/>
          </a:ln>
        </p:spPr>
        <p:txBody>
          <a:bodyPr rtlCol="0" anchor="ctr"/>
          <a:lstStyle/>
          <a:p>
            <a:pPr algn="ctr"/>
          </a:p>
        </p:txBody>
      </p:sp>
      <p:sp>
        <p:nvSpPr>
          <p:cNvPr id="135" name="TextBox 134"/>
          <p:cNvSpPr txBox="1"/>
          <p:nvPr/>
        </p:nvSpPr>
        <p:spPr>
          <a:xfrm>
            <a:off x="6483096" y="2569464"/>
            <a:ext cx="685800" cy="640080"/>
          </a:xfrm>
          <a:prstGeom prst="rect">
            <a:avLst/>
          </a:prstGeom>
          <a:noFill/>
        </p:spPr>
        <p:txBody>
          <a:bodyPr wrap="square" lIns="0" rIns="0" tIns="0" bIns="0" anchor="t">
            <a:noAutofit/>
          </a:bodyPr>
          <a:lstStyle/>
          <a:p>
            <a:pPr algn="l">
              <a:lnSpc>
                <a:spcPct val="95000"/>
              </a:lnSpc>
            </a:pPr>
            <a:r>
              <a:rPr sz="850" b="1" i="0">
                <a:solidFill>
                  <a:srgbClr val="6D28D9"/>
                </a:solidFill>
                <a:latin typeface="Calibri"/>
              </a:rPr>
              <a:t>05</a:t>
            </a:r>
          </a:p>
          <a:p>
            <a:pPr algn="l">
              <a:lnSpc>
                <a:spcPct val="95000"/>
              </a:lnSpc>
            </a:pPr>
            <a:r>
              <a:rPr sz="1200" b="1" i="0">
                <a:solidFill>
                  <a:srgbClr val="14142B"/>
                </a:solidFill>
                <a:latin typeface="Calibri"/>
              </a:rPr>
              <a:t>BM25</a:t>
            </a:r>
          </a:p>
          <a:p>
            <a:pPr algn="l">
              <a:lnSpc>
                <a:spcPct val="95000"/>
              </a:lnSpc>
            </a:pPr>
            <a:r>
              <a:rPr sz="950" b="0" i="0">
                <a:solidFill>
                  <a:srgbClr val="63637E"/>
                </a:solidFill>
                <a:latin typeface="Calibri"/>
              </a:rPr>
              <a:t>sparse</a:t>
            </a:r>
          </a:p>
        </p:txBody>
      </p:sp>
      <p:sp>
        <p:nvSpPr>
          <p:cNvPr id="136" name="Rounded Rectangle 135"/>
          <p:cNvSpPr/>
          <p:nvPr/>
        </p:nvSpPr>
        <p:spPr>
          <a:xfrm>
            <a:off x="7580375" y="2148840"/>
            <a:ext cx="1005840" cy="1188720"/>
          </a:xfrm>
          <a:prstGeom prst="roundRect">
            <a:avLst>
              <a:gd name="adj" fmla="val 9090"/>
            </a:avLst>
          </a:prstGeom>
          <a:solidFill>
            <a:srgbClr val="F4F1FC"/>
          </a:solidFill>
          <a:ln>
            <a:noFill/>
          </a:ln>
        </p:spPr>
        <p:txBody>
          <a:bodyPr rtlCol="0" anchor="ctr"/>
          <a:lstStyle/>
          <a:p>
            <a:pPr algn="ctr"/>
          </a:p>
        </p:txBody>
      </p:sp>
      <p:sp>
        <p:nvSpPr>
          <p:cNvPr id="137" name="TextBox 136"/>
          <p:cNvSpPr txBox="1"/>
          <p:nvPr/>
        </p:nvSpPr>
        <p:spPr>
          <a:xfrm>
            <a:off x="7671815" y="2240280"/>
            <a:ext cx="822960" cy="182880"/>
          </a:xfrm>
          <a:prstGeom prst="rect">
            <a:avLst/>
          </a:prstGeom>
          <a:noFill/>
        </p:spPr>
        <p:txBody>
          <a:bodyPr wrap="square" lIns="0" rIns="0" tIns="0" bIns="0" anchor="t">
            <a:noAutofit/>
          </a:bodyPr>
          <a:lstStyle/>
          <a:p>
            <a:pPr algn="l"/>
            <a:r>
              <a:rPr sz="900" b="1" i="0">
                <a:solidFill>
                  <a:srgbClr val="6D28D9"/>
                </a:solidFill>
                <a:latin typeface="Calibri"/>
              </a:rPr>
              <a:t>06</a:t>
            </a:r>
          </a:p>
        </p:txBody>
      </p:sp>
      <p:sp>
        <p:nvSpPr>
          <p:cNvPr id="138" name="TextBox 137"/>
          <p:cNvSpPr txBox="1"/>
          <p:nvPr/>
        </p:nvSpPr>
        <p:spPr>
          <a:xfrm>
            <a:off x="7671815" y="2423160"/>
            <a:ext cx="822960" cy="502920"/>
          </a:xfrm>
          <a:prstGeom prst="rect">
            <a:avLst/>
          </a:prstGeom>
          <a:noFill/>
        </p:spPr>
        <p:txBody>
          <a:bodyPr wrap="square" lIns="0" rIns="0" tIns="0" bIns="0" anchor="t">
            <a:noAutofit/>
          </a:bodyPr>
          <a:lstStyle/>
          <a:p>
            <a:pPr algn="l">
              <a:lnSpc>
                <a:spcPct val="92000"/>
              </a:lnSpc>
            </a:pPr>
            <a:r>
              <a:rPr sz="1200" b="1" i="0">
                <a:solidFill>
                  <a:srgbClr val="14142B"/>
                </a:solidFill>
                <a:latin typeface="Calibri"/>
              </a:rPr>
              <a:t>RRF fusion</a:t>
            </a:r>
          </a:p>
        </p:txBody>
      </p:sp>
      <p:sp>
        <p:nvSpPr>
          <p:cNvPr id="139" name="TextBox 138"/>
          <p:cNvSpPr txBox="1"/>
          <p:nvPr/>
        </p:nvSpPr>
        <p:spPr>
          <a:xfrm>
            <a:off x="7671815" y="2916936"/>
            <a:ext cx="822960" cy="402336"/>
          </a:xfrm>
          <a:prstGeom prst="rect">
            <a:avLst/>
          </a:prstGeom>
          <a:noFill/>
        </p:spPr>
        <p:txBody>
          <a:bodyPr wrap="square" lIns="0" rIns="0" tIns="0" bIns="0" anchor="t">
            <a:noAutofit/>
          </a:bodyPr>
          <a:lstStyle/>
          <a:p>
            <a:pPr algn="l">
              <a:lnSpc>
                <a:spcPct val="95000"/>
              </a:lnSpc>
            </a:pPr>
            <a:r>
              <a:rPr sz="950" b="0" i="0">
                <a:solidFill>
                  <a:srgbClr val="63637E"/>
                </a:solidFill>
                <a:latin typeface="Calibri"/>
              </a:rPr>
              <a:t>quota · dedup · versions</a:t>
            </a:r>
          </a:p>
        </p:txBody>
      </p:sp>
      <p:sp>
        <p:nvSpPr>
          <p:cNvPr id="140" name="Rounded Rectangle 139"/>
          <p:cNvSpPr/>
          <p:nvPr/>
        </p:nvSpPr>
        <p:spPr>
          <a:xfrm>
            <a:off x="8842248" y="2148840"/>
            <a:ext cx="1005840" cy="1188720"/>
          </a:xfrm>
          <a:prstGeom prst="roundRect">
            <a:avLst>
              <a:gd name="adj" fmla="val 9090"/>
            </a:avLst>
          </a:prstGeom>
          <a:solidFill>
            <a:srgbClr val="F4F1FC"/>
          </a:solidFill>
          <a:ln>
            <a:noFill/>
          </a:ln>
        </p:spPr>
        <p:txBody>
          <a:bodyPr rtlCol="0" anchor="ctr"/>
          <a:lstStyle/>
          <a:p>
            <a:pPr algn="ctr"/>
          </a:p>
        </p:txBody>
      </p:sp>
      <p:sp>
        <p:nvSpPr>
          <p:cNvPr id="141" name="TextBox 140"/>
          <p:cNvSpPr txBox="1"/>
          <p:nvPr/>
        </p:nvSpPr>
        <p:spPr>
          <a:xfrm>
            <a:off x="8933688" y="2240280"/>
            <a:ext cx="822960" cy="182880"/>
          </a:xfrm>
          <a:prstGeom prst="rect">
            <a:avLst/>
          </a:prstGeom>
          <a:noFill/>
        </p:spPr>
        <p:txBody>
          <a:bodyPr wrap="square" lIns="0" rIns="0" tIns="0" bIns="0" anchor="t">
            <a:noAutofit/>
          </a:bodyPr>
          <a:lstStyle/>
          <a:p>
            <a:pPr algn="l"/>
            <a:r>
              <a:rPr sz="900" b="1" i="0">
                <a:solidFill>
                  <a:srgbClr val="6D28D9"/>
                </a:solidFill>
                <a:latin typeface="Calibri"/>
              </a:rPr>
              <a:t>07</a:t>
            </a:r>
          </a:p>
        </p:txBody>
      </p:sp>
      <p:sp>
        <p:nvSpPr>
          <p:cNvPr id="142" name="TextBox 141"/>
          <p:cNvSpPr txBox="1"/>
          <p:nvPr/>
        </p:nvSpPr>
        <p:spPr>
          <a:xfrm>
            <a:off x="8933688" y="2423160"/>
            <a:ext cx="822960" cy="502920"/>
          </a:xfrm>
          <a:prstGeom prst="rect">
            <a:avLst/>
          </a:prstGeom>
          <a:noFill/>
        </p:spPr>
        <p:txBody>
          <a:bodyPr wrap="square" lIns="0" rIns="0" tIns="0" bIns="0" anchor="t">
            <a:noAutofit/>
          </a:bodyPr>
          <a:lstStyle/>
          <a:p>
            <a:pPr algn="l">
              <a:lnSpc>
                <a:spcPct val="92000"/>
              </a:lnSpc>
            </a:pPr>
            <a:r>
              <a:rPr sz="1200" b="1" i="0">
                <a:solidFill>
                  <a:srgbClr val="14142B"/>
                </a:solidFill>
                <a:latin typeface="Calibri"/>
              </a:rPr>
              <a:t>Reranker</a:t>
            </a:r>
          </a:p>
        </p:txBody>
      </p:sp>
      <p:sp>
        <p:nvSpPr>
          <p:cNvPr id="143" name="TextBox 142"/>
          <p:cNvSpPr txBox="1"/>
          <p:nvPr/>
        </p:nvSpPr>
        <p:spPr>
          <a:xfrm>
            <a:off x="8933688" y="2916936"/>
            <a:ext cx="822960" cy="402336"/>
          </a:xfrm>
          <a:prstGeom prst="rect">
            <a:avLst/>
          </a:prstGeom>
          <a:noFill/>
        </p:spPr>
        <p:txBody>
          <a:bodyPr wrap="square" lIns="0" rIns="0" tIns="0" bIns="0" anchor="t">
            <a:noAutofit/>
          </a:bodyPr>
          <a:lstStyle/>
          <a:p>
            <a:pPr algn="l">
              <a:lnSpc>
                <a:spcPct val="95000"/>
              </a:lnSpc>
            </a:pPr>
            <a:r>
              <a:rPr sz="950" b="0" i="0">
                <a:solidFill>
                  <a:srgbClr val="63637E"/>
                </a:solidFill>
                <a:latin typeface="Calibri"/>
              </a:rPr>
              <a:t>cross-encoder</a:t>
            </a:r>
          </a:p>
        </p:txBody>
      </p:sp>
      <p:sp>
        <p:nvSpPr>
          <p:cNvPr id="144" name="Rounded Rectangle 143"/>
          <p:cNvSpPr/>
          <p:nvPr/>
        </p:nvSpPr>
        <p:spPr>
          <a:xfrm>
            <a:off x="10104120" y="2148840"/>
            <a:ext cx="1252728" cy="1188720"/>
          </a:xfrm>
          <a:prstGeom prst="roundRect">
            <a:avLst>
              <a:gd name="adj" fmla="val 7692"/>
            </a:avLst>
          </a:prstGeom>
          <a:solidFill>
            <a:srgbClr val="F4F1FC"/>
          </a:solidFill>
          <a:ln>
            <a:noFill/>
          </a:ln>
        </p:spPr>
        <p:txBody>
          <a:bodyPr rtlCol="0" anchor="ctr"/>
          <a:lstStyle/>
          <a:p>
            <a:pPr algn="ctr"/>
          </a:p>
        </p:txBody>
      </p:sp>
      <p:sp>
        <p:nvSpPr>
          <p:cNvPr id="145" name="TextBox 144"/>
          <p:cNvSpPr txBox="1"/>
          <p:nvPr/>
        </p:nvSpPr>
        <p:spPr>
          <a:xfrm>
            <a:off x="10195560" y="2240280"/>
            <a:ext cx="1069848" cy="182880"/>
          </a:xfrm>
          <a:prstGeom prst="rect">
            <a:avLst/>
          </a:prstGeom>
          <a:noFill/>
        </p:spPr>
        <p:txBody>
          <a:bodyPr wrap="square" lIns="0" rIns="0" tIns="0" bIns="0" anchor="t">
            <a:noAutofit/>
          </a:bodyPr>
          <a:lstStyle/>
          <a:p>
            <a:pPr algn="l"/>
            <a:r>
              <a:rPr sz="900" b="1" i="0">
                <a:solidFill>
                  <a:srgbClr val="6D28D9"/>
                </a:solidFill>
                <a:latin typeface="Calibri"/>
              </a:rPr>
              <a:t>09</a:t>
            </a:r>
          </a:p>
        </p:txBody>
      </p:sp>
      <p:sp>
        <p:nvSpPr>
          <p:cNvPr id="146" name="TextBox 145"/>
          <p:cNvSpPr txBox="1"/>
          <p:nvPr/>
        </p:nvSpPr>
        <p:spPr>
          <a:xfrm>
            <a:off x="10195560" y="2423160"/>
            <a:ext cx="1069848" cy="502920"/>
          </a:xfrm>
          <a:prstGeom prst="rect">
            <a:avLst/>
          </a:prstGeom>
          <a:noFill/>
        </p:spPr>
        <p:txBody>
          <a:bodyPr wrap="square" lIns="0" rIns="0" tIns="0" bIns="0" anchor="t">
            <a:noAutofit/>
          </a:bodyPr>
          <a:lstStyle/>
          <a:p>
            <a:pPr algn="l">
              <a:lnSpc>
                <a:spcPct val="92000"/>
              </a:lnSpc>
            </a:pPr>
            <a:r>
              <a:rPr sz="1200" b="1" i="0">
                <a:solidFill>
                  <a:srgbClr val="14142B"/>
                </a:solidFill>
                <a:latin typeface="Calibri"/>
              </a:rPr>
              <a:t>Grounding / citation validator</a:t>
            </a:r>
          </a:p>
        </p:txBody>
      </p:sp>
      <p:sp>
        <p:nvSpPr>
          <p:cNvPr id="147" name="TextBox 146"/>
          <p:cNvSpPr txBox="1"/>
          <p:nvPr/>
        </p:nvSpPr>
        <p:spPr>
          <a:xfrm>
            <a:off x="10195560" y="2916936"/>
            <a:ext cx="1069848" cy="402336"/>
          </a:xfrm>
          <a:prstGeom prst="rect">
            <a:avLst/>
          </a:prstGeom>
          <a:noFill/>
        </p:spPr>
        <p:txBody>
          <a:bodyPr wrap="square" lIns="0" rIns="0" tIns="0" bIns="0" anchor="t">
            <a:noAutofit/>
          </a:bodyPr>
          <a:lstStyle/>
          <a:p>
            <a:pPr algn="l">
              <a:lnSpc>
                <a:spcPct val="95000"/>
              </a:lnSpc>
            </a:pPr>
            <a:r>
              <a:rPr sz="950" b="0" i="0">
                <a:solidFill>
                  <a:srgbClr val="63637E"/>
                </a:solidFill>
                <a:latin typeface="Calibri"/>
              </a:rPr>
              <a:t>id · evidence · text · numbers</a:t>
            </a:r>
          </a:p>
        </p:txBody>
      </p:sp>
      <p:cxnSp>
        <p:nvCxnSpPr>
          <p:cNvPr id="148" name="Connector 147"/>
          <p:cNvCxnSpPr/>
          <p:nvPr/>
        </p:nvCxnSpPr>
        <p:spPr>
          <a:xfrm>
            <a:off x="1965960" y="2743200"/>
            <a:ext cx="201168" cy="0"/>
          </a:xfrm>
          <a:prstGeom prst="line">
            <a:avLst/>
          </a:prstGeom>
          <a:ln w="19050">
            <a:solidFill>
              <a:srgbClr val="14142B"/>
            </a:solidFill>
            <a:tailEnd type="triangle" w="med" len="med"/>
          </a:ln>
        </p:spPr>
      </p:cxnSp>
      <p:cxnSp>
        <p:nvCxnSpPr>
          <p:cNvPr id="149" name="Connector 148"/>
          <p:cNvCxnSpPr/>
          <p:nvPr/>
        </p:nvCxnSpPr>
        <p:spPr>
          <a:xfrm>
            <a:off x="3685032" y="2743200"/>
            <a:ext cx="201168" cy="0"/>
          </a:xfrm>
          <a:prstGeom prst="line">
            <a:avLst/>
          </a:prstGeom>
          <a:ln w="19050">
            <a:solidFill>
              <a:srgbClr val="14142B"/>
            </a:solidFill>
            <a:tailEnd type="triangle" w="med" len="med"/>
          </a:ln>
        </p:spPr>
      </p:cxnSp>
      <p:cxnSp>
        <p:nvCxnSpPr>
          <p:cNvPr id="150" name="Connector 149"/>
          <p:cNvCxnSpPr/>
          <p:nvPr/>
        </p:nvCxnSpPr>
        <p:spPr>
          <a:xfrm>
            <a:off x="5175504" y="2743200"/>
            <a:ext cx="201168" cy="0"/>
          </a:xfrm>
          <a:prstGeom prst="line">
            <a:avLst/>
          </a:prstGeom>
          <a:ln w="19050">
            <a:solidFill>
              <a:srgbClr val="14142B"/>
            </a:solidFill>
            <a:tailEnd type="triangle" w="med" len="med"/>
          </a:ln>
        </p:spPr>
      </p:cxnSp>
      <p:cxnSp>
        <p:nvCxnSpPr>
          <p:cNvPr id="151" name="Connector 150"/>
          <p:cNvCxnSpPr/>
          <p:nvPr/>
        </p:nvCxnSpPr>
        <p:spPr>
          <a:xfrm>
            <a:off x="7351775" y="2743200"/>
            <a:ext cx="201169" cy="0"/>
          </a:xfrm>
          <a:prstGeom prst="line">
            <a:avLst/>
          </a:prstGeom>
          <a:ln w="19050">
            <a:solidFill>
              <a:srgbClr val="14142B"/>
            </a:solidFill>
            <a:tailEnd type="triangle" w="med" len="med"/>
          </a:ln>
        </p:spPr>
      </p:cxnSp>
      <p:cxnSp>
        <p:nvCxnSpPr>
          <p:cNvPr id="152" name="Connector 151"/>
          <p:cNvCxnSpPr/>
          <p:nvPr/>
        </p:nvCxnSpPr>
        <p:spPr>
          <a:xfrm>
            <a:off x="8613647" y="2743200"/>
            <a:ext cx="201169" cy="0"/>
          </a:xfrm>
          <a:prstGeom prst="line">
            <a:avLst/>
          </a:prstGeom>
          <a:ln w="19050">
            <a:solidFill>
              <a:srgbClr val="14142B"/>
            </a:solidFill>
            <a:tailEnd type="triangle" w="med" len="med"/>
          </a:ln>
        </p:spPr>
      </p:cxnSp>
      <p:cxnSp>
        <p:nvCxnSpPr>
          <p:cNvPr id="153" name="Connector 152"/>
          <p:cNvCxnSpPr/>
          <p:nvPr/>
        </p:nvCxnSpPr>
        <p:spPr>
          <a:xfrm>
            <a:off x="9875519" y="2743200"/>
            <a:ext cx="201169" cy="0"/>
          </a:xfrm>
          <a:prstGeom prst="line">
            <a:avLst/>
          </a:prstGeom>
          <a:ln w="19050">
            <a:solidFill>
              <a:srgbClr val="14142B"/>
            </a:solidFill>
            <a:tailEnd type="triangle" w="med" len="med"/>
          </a:ln>
        </p:spPr>
      </p:cxnSp>
      <p:cxnSp>
        <p:nvCxnSpPr>
          <p:cNvPr id="154" name="Connector 153"/>
          <p:cNvCxnSpPr/>
          <p:nvPr/>
        </p:nvCxnSpPr>
        <p:spPr>
          <a:xfrm flipV="1">
            <a:off x="2926080" y="1810512"/>
            <a:ext cx="0" cy="338328"/>
          </a:xfrm>
          <a:prstGeom prst="line">
            <a:avLst/>
          </a:prstGeom>
          <a:ln w="15875">
            <a:solidFill>
              <a:srgbClr val="15803D"/>
            </a:solidFill>
            <a:prstDash val="dash"/>
          </a:ln>
        </p:spPr>
      </p:cxnSp>
      <p:cxnSp>
        <p:nvCxnSpPr>
          <p:cNvPr id="155" name="Connector 154"/>
          <p:cNvCxnSpPr/>
          <p:nvPr/>
        </p:nvCxnSpPr>
        <p:spPr>
          <a:xfrm>
            <a:off x="2926080" y="1810512"/>
            <a:ext cx="3438144" cy="0"/>
          </a:xfrm>
          <a:prstGeom prst="line">
            <a:avLst/>
          </a:prstGeom>
          <a:ln w="15875">
            <a:solidFill>
              <a:srgbClr val="15803D"/>
            </a:solidFill>
            <a:prstDash val="dash"/>
          </a:ln>
        </p:spPr>
      </p:cxnSp>
      <p:cxnSp>
        <p:nvCxnSpPr>
          <p:cNvPr id="156" name="Connector 155"/>
          <p:cNvCxnSpPr/>
          <p:nvPr/>
        </p:nvCxnSpPr>
        <p:spPr>
          <a:xfrm>
            <a:off x="6364224" y="1810512"/>
            <a:ext cx="0" cy="219456"/>
          </a:xfrm>
          <a:prstGeom prst="line">
            <a:avLst/>
          </a:prstGeom>
          <a:ln w="15875">
            <a:solidFill>
              <a:srgbClr val="15803D"/>
            </a:solidFill>
            <a:prstDash val="dash"/>
            <a:tailEnd type="triangle" w="med" len="med"/>
          </a:ln>
        </p:spPr>
      </p:cxnSp>
      <p:sp>
        <p:nvSpPr>
          <p:cNvPr id="157" name="TextBox 156"/>
          <p:cNvSpPr txBox="1"/>
          <p:nvPr/>
        </p:nvSpPr>
        <p:spPr>
          <a:xfrm>
            <a:off x="3017520" y="1545336"/>
            <a:ext cx="5486400" cy="228600"/>
          </a:xfrm>
          <a:prstGeom prst="rect">
            <a:avLst/>
          </a:prstGeom>
          <a:noFill/>
        </p:spPr>
        <p:txBody>
          <a:bodyPr wrap="square" lIns="0" rIns="0" tIns="0" bIns="0" anchor="t">
            <a:noAutofit/>
          </a:bodyPr>
          <a:lstStyle/>
          <a:p>
            <a:pPr algn="l"/>
            <a:r>
              <a:rPr sz="950" b="1" i="0">
                <a:solidFill>
                  <a:srgbClr val="15803D"/>
                </a:solidFill>
                <a:latin typeface="Calibri"/>
              </a:rPr>
              <a:t>RETRIEVE during speech → provisional retrieval, reused at utterance end</a:t>
            </a:r>
          </a:p>
        </p:txBody>
      </p:sp>
      <p:sp>
        <p:nvSpPr>
          <p:cNvPr id="158" name="Rounded Rectangle 157"/>
          <p:cNvSpPr/>
          <p:nvPr/>
        </p:nvSpPr>
        <p:spPr>
          <a:xfrm>
            <a:off x="2194560" y="3931920"/>
            <a:ext cx="2953512" cy="914400"/>
          </a:xfrm>
          <a:prstGeom prst="roundRect">
            <a:avLst>
              <a:gd name="adj" fmla="val 10000"/>
            </a:avLst>
          </a:prstGeom>
          <a:solidFill>
            <a:srgbClr val="FFFFFF"/>
          </a:solidFill>
          <a:ln w="15875">
            <a:solidFill>
              <a:srgbClr val="6D28D9"/>
            </a:solidFill>
          </a:ln>
        </p:spPr>
        <p:txBody>
          <a:bodyPr rtlCol="0" anchor="ctr"/>
          <a:lstStyle/>
          <a:p>
            <a:pPr algn="ctr"/>
          </a:p>
        </p:txBody>
      </p:sp>
      <p:sp>
        <p:nvSpPr>
          <p:cNvPr id="159" name="TextBox 158"/>
          <p:cNvSpPr txBox="1"/>
          <p:nvPr/>
        </p:nvSpPr>
        <p:spPr>
          <a:xfrm>
            <a:off x="2304288" y="4023359"/>
            <a:ext cx="2734056" cy="914400"/>
          </a:xfrm>
          <a:prstGeom prst="rect">
            <a:avLst/>
          </a:prstGeom>
          <a:noFill/>
        </p:spPr>
        <p:txBody>
          <a:bodyPr wrap="square" lIns="0" rIns="0" tIns="0" bIns="0" anchor="t">
            <a:noAutofit/>
          </a:bodyPr>
          <a:lstStyle/>
          <a:p>
            <a:pPr algn="l">
              <a:lnSpc>
                <a:spcPct val="95000"/>
              </a:lnSpc>
            </a:pPr>
            <a:r>
              <a:rPr sz="900" b="1" i="0">
                <a:solidFill>
                  <a:srgbClr val="6D28D9"/>
                </a:solidFill>
                <a:latin typeface="Calibri"/>
              </a:rPr>
              <a:t>08  </a:t>
            </a:r>
            <a:r>
              <a:rPr sz="1200" b="1" i="0">
                <a:solidFill>
                  <a:srgbClr val="14142B"/>
                </a:solidFill>
                <a:latin typeface="Calibri"/>
              </a:rPr>
              <a:t>Session memory</a:t>
            </a:r>
            <a:r>
              <a:rPr sz="1000" b="0" i="0">
                <a:solidFill>
                  <a:srgbClr val="63637E"/>
                </a:solidFill>
                <a:latin typeface="Calibri"/>
              </a:rPr>
              <a:t>  (session-scoped only)</a:t>
            </a:r>
          </a:p>
          <a:p>
            <a:pPr algn="l">
              <a:lnSpc>
                <a:spcPct val="95000"/>
              </a:lnSpc>
            </a:pPr>
            <a:r>
              <a:rPr sz="1000" b="0" i="0">
                <a:solidFill>
                  <a:srgbClr val="63637E"/>
                </a:solidFill>
                <a:latin typeface="Calibri"/>
              </a:rPr>
              <a:t>answer vN · claims · citations · per-sub-query results; 30-min idle TTL, no user id</a:t>
            </a:r>
          </a:p>
        </p:txBody>
      </p:sp>
      <p:sp>
        <p:nvSpPr>
          <p:cNvPr id="160" name="Rounded Rectangle 159"/>
          <p:cNvSpPr/>
          <p:nvPr/>
        </p:nvSpPr>
        <p:spPr>
          <a:xfrm>
            <a:off x="8842248" y="3931920"/>
            <a:ext cx="2514600" cy="914400"/>
          </a:xfrm>
          <a:prstGeom prst="roundRect">
            <a:avLst>
              <a:gd name="adj" fmla="val 10000"/>
            </a:avLst>
          </a:prstGeom>
          <a:solidFill>
            <a:srgbClr val="6D28D9"/>
          </a:solidFill>
          <a:ln>
            <a:noFill/>
          </a:ln>
        </p:spPr>
        <p:txBody>
          <a:bodyPr rtlCol="0" anchor="ctr"/>
          <a:lstStyle/>
          <a:p>
            <a:pPr algn="ctr"/>
          </a:p>
        </p:txBody>
      </p:sp>
      <p:sp>
        <p:nvSpPr>
          <p:cNvPr id="161" name="TextBox 160"/>
          <p:cNvSpPr txBox="1"/>
          <p:nvPr/>
        </p:nvSpPr>
        <p:spPr>
          <a:xfrm>
            <a:off x="8951976" y="4023359"/>
            <a:ext cx="2295144" cy="914400"/>
          </a:xfrm>
          <a:prstGeom prst="rect">
            <a:avLst/>
          </a:prstGeom>
          <a:noFill/>
        </p:spPr>
        <p:txBody>
          <a:bodyPr wrap="square" lIns="0" rIns="0" tIns="0" bIns="0" anchor="t">
            <a:noAutofit/>
          </a:bodyPr>
          <a:lstStyle/>
          <a:p>
            <a:pPr algn="l">
              <a:lnSpc>
                <a:spcPct val="95000"/>
              </a:lnSpc>
            </a:pPr>
            <a:r>
              <a:rPr sz="900" b="1" i="0">
                <a:solidFill>
                  <a:srgbClr val="D9D3F0"/>
                </a:solidFill>
                <a:latin typeface="Calibri"/>
              </a:rPr>
              <a:t>10  </a:t>
            </a:r>
            <a:r>
              <a:rPr sz="1200" b="1" i="0">
                <a:solidFill>
                  <a:srgbClr val="FFFFFF"/>
                </a:solidFill>
                <a:latin typeface="Calibri"/>
              </a:rPr>
              <a:t>Streaming response</a:t>
            </a:r>
          </a:p>
          <a:p>
            <a:pPr algn="l">
              <a:lnSpc>
                <a:spcPct val="95000"/>
              </a:lnSpc>
            </a:pPr>
            <a:r>
              <a:rPr sz="1000" b="0" i="0">
                <a:solidFill>
                  <a:srgbClr val="D9D3F0"/>
                </a:solidFill>
                <a:latin typeface="Calibri"/>
              </a:rPr>
              <a:t>SSE → dashboard: answer vN + citations + uncertainty</a:t>
            </a:r>
          </a:p>
        </p:txBody>
      </p:sp>
      <p:cxnSp>
        <p:nvCxnSpPr>
          <p:cNvPr id="162" name="Connector 161"/>
          <p:cNvCxnSpPr/>
          <p:nvPr/>
        </p:nvCxnSpPr>
        <p:spPr>
          <a:xfrm>
            <a:off x="2697480" y="3364992"/>
            <a:ext cx="0" cy="539495"/>
          </a:xfrm>
          <a:prstGeom prst="line">
            <a:avLst/>
          </a:prstGeom>
          <a:ln w="19050">
            <a:solidFill>
              <a:srgbClr val="3B5BDB"/>
            </a:solidFill>
            <a:tailEnd type="triangle" w="med" len="med"/>
          </a:ln>
        </p:spPr>
      </p:cxnSp>
      <p:sp>
        <p:nvSpPr>
          <p:cNvPr id="163" name="TextBox 162"/>
          <p:cNvSpPr txBox="1"/>
          <p:nvPr/>
        </p:nvSpPr>
        <p:spPr>
          <a:xfrm>
            <a:off x="841248" y="3410712"/>
            <a:ext cx="1783080" cy="502920"/>
          </a:xfrm>
          <a:prstGeom prst="rect">
            <a:avLst/>
          </a:prstGeom>
          <a:noFill/>
        </p:spPr>
        <p:txBody>
          <a:bodyPr wrap="square" lIns="0" rIns="0" tIns="0" bIns="0" anchor="t">
            <a:noAutofit/>
          </a:bodyPr>
          <a:lstStyle/>
          <a:p>
            <a:pPr algn="r"/>
            <a:r>
              <a:rPr sz="900" b="0" i="0">
                <a:solidFill>
                  <a:srgbClr val="3B5BDB"/>
                </a:solidFill>
                <a:latin typeface="Calibri"/>
              </a:rPr>
              <a:t>late detail or presentation turn</a:t>
            </a:r>
          </a:p>
        </p:txBody>
      </p:sp>
      <p:cxnSp>
        <p:nvCxnSpPr>
          <p:cNvPr id="164" name="Connector 163"/>
          <p:cNvCxnSpPr/>
          <p:nvPr/>
        </p:nvCxnSpPr>
        <p:spPr>
          <a:xfrm flipV="1">
            <a:off x="4416552" y="3364992"/>
            <a:ext cx="0" cy="539495"/>
          </a:xfrm>
          <a:prstGeom prst="line">
            <a:avLst/>
          </a:prstGeom>
          <a:ln w="19050">
            <a:solidFill>
              <a:srgbClr val="3B5BDB"/>
            </a:solidFill>
            <a:tailEnd type="triangle" w="med" len="med"/>
          </a:ln>
        </p:spPr>
      </p:cxnSp>
      <p:sp>
        <p:nvSpPr>
          <p:cNvPr id="165" name="TextBox 164"/>
          <p:cNvSpPr txBox="1"/>
          <p:nvPr/>
        </p:nvSpPr>
        <p:spPr>
          <a:xfrm>
            <a:off x="4507992" y="3410712"/>
            <a:ext cx="1234440" cy="502920"/>
          </a:xfrm>
          <a:prstGeom prst="rect">
            <a:avLst/>
          </a:prstGeom>
          <a:noFill/>
        </p:spPr>
        <p:txBody>
          <a:bodyPr wrap="square" lIns="0" rIns="0" tIns="0" bIns="0" anchor="t">
            <a:noAutofit/>
          </a:bodyPr>
          <a:lstStyle/>
          <a:p>
            <a:pPr algn="l"/>
            <a:r>
              <a:rPr sz="900" b="0" i="0">
                <a:solidFill>
                  <a:srgbClr val="3B5BDB"/>
                </a:solidFill>
                <a:latin typeface="Calibri"/>
              </a:rPr>
              <a:t>delta sub-queries only (refinement)</a:t>
            </a:r>
          </a:p>
        </p:txBody>
      </p:sp>
      <p:cxnSp>
        <p:nvCxnSpPr>
          <p:cNvPr id="166" name="Connector 165"/>
          <p:cNvCxnSpPr/>
          <p:nvPr/>
        </p:nvCxnSpPr>
        <p:spPr>
          <a:xfrm>
            <a:off x="10913364" y="3364992"/>
            <a:ext cx="0" cy="539495"/>
          </a:xfrm>
          <a:prstGeom prst="line">
            <a:avLst/>
          </a:prstGeom>
          <a:ln w="19050">
            <a:solidFill>
              <a:srgbClr val="14142B"/>
            </a:solidFill>
            <a:tailEnd type="triangle" w="med" len="med"/>
          </a:ln>
        </p:spPr>
      </p:cxnSp>
      <p:sp>
        <p:nvSpPr>
          <p:cNvPr id="167" name="TextBox 166"/>
          <p:cNvSpPr txBox="1"/>
          <p:nvPr/>
        </p:nvSpPr>
        <p:spPr>
          <a:xfrm>
            <a:off x="9770364" y="3474720"/>
            <a:ext cx="1051560" cy="274320"/>
          </a:xfrm>
          <a:prstGeom prst="rect">
            <a:avLst/>
          </a:prstGeom>
          <a:noFill/>
        </p:spPr>
        <p:txBody>
          <a:bodyPr wrap="square" lIns="0" rIns="0" tIns="0" bIns="0" anchor="t">
            <a:noAutofit/>
          </a:bodyPr>
          <a:lstStyle/>
          <a:p>
            <a:pPr algn="r"/>
            <a:r>
              <a:rPr sz="900" b="0" i="0">
                <a:solidFill>
                  <a:srgbClr val="63637E"/>
                </a:solidFill>
                <a:latin typeface="Calibri"/>
              </a:rPr>
              <a:t>validated claims</a:t>
            </a:r>
          </a:p>
        </p:txBody>
      </p:sp>
      <p:cxnSp>
        <p:nvCxnSpPr>
          <p:cNvPr id="168" name="Connector 167"/>
          <p:cNvCxnSpPr/>
          <p:nvPr/>
        </p:nvCxnSpPr>
        <p:spPr>
          <a:xfrm>
            <a:off x="5175504" y="4389120"/>
            <a:ext cx="3639312" cy="0"/>
          </a:xfrm>
          <a:prstGeom prst="line">
            <a:avLst/>
          </a:prstGeom>
          <a:ln w="19050">
            <a:solidFill>
              <a:srgbClr val="7C3AED"/>
            </a:solidFill>
            <a:prstDash val="dash"/>
            <a:tailEnd type="triangle" w="med" len="med"/>
          </a:ln>
        </p:spPr>
      </p:cxnSp>
      <p:sp>
        <p:nvSpPr>
          <p:cNvPr id="169" name="TextBox 168"/>
          <p:cNvSpPr txBox="1"/>
          <p:nvPr/>
        </p:nvSpPr>
        <p:spPr>
          <a:xfrm>
            <a:off x="5330952" y="4023359"/>
            <a:ext cx="3328415" cy="365760"/>
          </a:xfrm>
          <a:prstGeom prst="rect">
            <a:avLst/>
          </a:prstGeom>
          <a:noFill/>
        </p:spPr>
        <p:txBody>
          <a:bodyPr wrap="square" lIns="0" rIns="0" tIns="0" bIns="0" anchor="t">
            <a:noAutofit/>
          </a:bodyPr>
          <a:lstStyle/>
          <a:p>
            <a:pPr algn="ctr"/>
            <a:r>
              <a:rPr sz="1000" b="1" i="0">
                <a:solidFill>
                  <a:srgbClr val="7C3AED"/>
                </a:solidFill>
                <a:latin typeface="Calibri"/>
              </a:rPr>
              <a:t>SUPPRESS: presentation-only request</a:t>
            </a:r>
          </a:p>
        </p:txBody>
      </p:sp>
      <p:sp>
        <p:nvSpPr>
          <p:cNvPr id="170" name="TextBox 169"/>
          <p:cNvSpPr txBox="1"/>
          <p:nvPr/>
        </p:nvSpPr>
        <p:spPr>
          <a:xfrm>
            <a:off x="5330952" y="4462272"/>
            <a:ext cx="3328415" cy="365760"/>
          </a:xfrm>
          <a:prstGeom prst="rect">
            <a:avLst/>
          </a:prstGeom>
          <a:noFill/>
        </p:spPr>
        <p:txBody>
          <a:bodyPr wrap="square" lIns="0" rIns="0" tIns="0" bIns="0" anchor="t">
            <a:noAutofit/>
          </a:bodyPr>
          <a:lstStyle/>
          <a:p>
            <a:pPr algn="ctr"/>
            <a:r>
              <a:rPr sz="950" b="0" i="0">
                <a:solidFill>
                  <a:srgbClr val="63637E"/>
                </a:solidFill>
                <a:latin typeface="Calibri"/>
              </a:rPr>
              <a:t>reshape the previous answer from session memory · no corpus search</a:t>
            </a:r>
          </a:p>
        </p:txBody>
      </p:sp>
      <p:sp>
        <p:nvSpPr>
          <p:cNvPr id="171" name="Rounded Rectangle 170"/>
          <p:cNvSpPr/>
          <p:nvPr/>
        </p:nvSpPr>
        <p:spPr>
          <a:xfrm>
            <a:off x="841248" y="5303520"/>
            <a:ext cx="10515600" cy="457200"/>
          </a:xfrm>
          <a:prstGeom prst="roundRect">
            <a:avLst>
              <a:gd name="adj" fmla="val 16000"/>
            </a:avLst>
          </a:prstGeom>
          <a:solidFill>
            <a:srgbClr val="F3F3F7"/>
          </a:solidFill>
          <a:ln>
            <a:noFill/>
          </a:ln>
        </p:spPr>
        <p:txBody>
          <a:bodyPr rtlCol="0" anchor="ctr" wrap="square" lIns="137160" rIns="137160" tIns="36576" bIns="36576">
            <a:noAutofit/>
          </a:bodyPr>
          <a:lstStyle/>
          <a:p>
            <a:pPr algn="l"/>
            <a:r>
              <a:rPr sz="900" b="1" i="0">
                <a:solidFill>
                  <a:srgbClr val="6D28D9"/>
                </a:solidFill>
                <a:latin typeface="Calibri"/>
              </a:rPr>
              <a:t>11  </a:t>
            </a:r>
            <a:r>
              <a:rPr sz="1150" b="1" i="0">
                <a:solidFill>
                  <a:srgbClr val="14142B"/>
                </a:solidFill>
                <a:latin typeface="Calibri"/>
              </a:rPr>
              <a:t>Telemetry  </a:t>
            </a:r>
            <a:r>
              <a:rPr sz="1150" b="0" i="0">
                <a:solidFill>
                  <a:srgbClr val="63637E"/>
                </a:solidFill>
                <a:latin typeface="Calibri"/>
              </a:rPr>
              <a:t>every stage emits events on one monotonic clock → live dashboard · SSE · JSONL export · benchmark</a:t>
            </a:r>
          </a:p>
        </p:txBody>
      </p:sp>
      <p:cxnSp>
        <p:nvCxnSpPr>
          <p:cNvPr id="172" name="Connector 171"/>
          <p:cNvCxnSpPr/>
          <p:nvPr/>
        </p:nvCxnSpPr>
        <p:spPr>
          <a:xfrm flipV="1">
            <a:off x="3671315" y="4864607"/>
            <a:ext cx="0" cy="420625"/>
          </a:xfrm>
          <a:prstGeom prst="line">
            <a:avLst/>
          </a:prstGeom>
          <a:ln w="12700">
            <a:solidFill>
              <a:srgbClr val="9C9CB0"/>
            </a:solidFill>
            <a:prstDash val="sysDot"/>
          </a:ln>
        </p:spPr>
      </p:cxnSp>
      <p:cxnSp>
        <p:nvCxnSpPr>
          <p:cNvPr id="173" name="Connector 172"/>
          <p:cNvCxnSpPr/>
          <p:nvPr/>
        </p:nvCxnSpPr>
        <p:spPr>
          <a:xfrm flipV="1">
            <a:off x="10099548" y="4864607"/>
            <a:ext cx="0" cy="420625"/>
          </a:xfrm>
          <a:prstGeom prst="line">
            <a:avLst/>
          </a:prstGeom>
          <a:ln w="12700">
            <a:solidFill>
              <a:srgbClr val="9C9CB0"/>
            </a:solidFill>
            <a:prstDash val="sysDot"/>
          </a:ln>
        </p:spPr>
      </p:cxnSp>
      <p:cxnSp>
        <p:nvCxnSpPr>
          <p:cNvPr id="174" name="Connector 173"/>
          <p:cNvCxnSpPr/>
          <p:nvPr/>
        </p:nvCxnSpPr>
        <p:spPr>
          <a:xfrm>
            <a:off x="841248" y="6053328"/>
            <a:ext cx="365760" cy="0"/>
          </a:xfrm>
          <a:prstGeom prst="line">
            <a:avLst/>
          </a:prstGeom>
          <a:ln w="19050">
            <a:solidFill>
              <a:srgbClr val="14142B"/>
            </a:solidFill>
            <a:tailEnd type="triangle" w="med" len="med"/>
          </a:ln>
        </p:spPr>
      </p:cxnSp>
      <p:sp>
        <p:nvSpPr>
          <p:cNvPr id="175" name="TextBox 174"/>
          <p:cNvSpPr txBox="1"/>
          <p:nvPr/>
        </p:nvSpPr>
        <p:spPr>
          <a:xfrm>
            <a:off x="1280160" y="5943600"/>
            <a:ext cx="2103120" cy="228600"/>
          </a:xfrm>
          <a:prstGeom prst="rect">
            <a:avLst/>
          </a:prstGeom>
          <a:noFill/>
        </p:spPr>
        <p:txBody>
          <a:bodyPr wrap="square" lIns="0" rIns="0" tIns="0" bIns="0" anchor="t">
            <a:noAutofit/>
          </a:bodyPr>
          <a:lstStyle/>
          <a:p>
            <a:pPr algn="l"/>
            <a:r>
              <a:rPr sz="1000" b="0" i="0">
                <a:solidFill>
                  <a:srgbClr val="63637E"/>
                </a:solidFill>
                <a:latin typeface="Calibri"/>
              </a:rPr>
              <a:t>main flow</a:t>
            </a:r>
          </a:p>
        </p:txBody>
      </p:sp>
      <p:cxnSp>
        <p:nvCxnSpPr>
          <p:cNvPr id="176" name="Connector 175"/>
          <p:cNvCxnSpPr/>
          <p:nvPr/>
        </p:nvCxnSpPr>
        <p:spPr>
          <a:xfrm>
            <a:off x="3218688" y="6053328"/>
            <a:ext cx="365760" cy="0"/>
          </a:xfrm>
          <a:prstGeom prst="line">
            <a:avLst/>
          </a:prstGeom>
          <a:ln w="19050">
            <a:solidFill>
              <a:srgbClr val="15803D"/>
            </a:solidFill>
            <a:prstDash val="dash"/>
            <a:tailEnd type="triangle" w="med" len="med"/>
          </a:ln>
        </p:spPr>
      </p:cxnSp>
      <p:sp>
        <p:nvSpPr>
          <p:cNvPr id="177" name="TextBox 176"/>
          <p:cNvSpPr txBox="1"/>
          <p:nvPr/>
        </p:nvSpPr>
        <p:spPr>
          <a:xfrm>
            <a:off x="3657600" y="5943600"/>
            <a:ext cx="2103120" cy="228600"/>
          </a:xfrm>
          <a:prstGeom prst="rect">
            <a:avLst/>
          </a:prstGeom>
          <a:noFill/>
        </p:spPr>
        <p:txBody>
          <a:bodyPr wrap="square" lIns="0" rIns="0" tIns="0" bIns="0" anchor="t">
            <a:noAutofit/>
          </a:bodyPr>
          <a:lstStyle/>
          <a:p>
            <a:pPr algn="l"/>
            <a:r>
              <a:rPr sz="1000" b="0" i="0">
                <a:solidFill>
                  <a:srgbClr val="63637E"/>
                </a:solidFill>
                <a:latin typeface="Calibri"/>
              </a:rPr>
              <a:t>provisional, during speech</a:t>
            </a:r>
          </a:p>
        </p:txBody>
      </p:sp>
      <p:cxnSp>
        <p:nvCxnSpPr>
          <p:cNvPr id="178" name="Connector 177"/>
          <p:cNvCxnSpPr/>
          <p:nvPr/>
        </p:nvCxnSpPr>
        <p:spPr>
          <a:xfrm>
            <a:off x="5596128" y="6053328"/>
            <a:ext cx="365760" cy="0"/>
          </a:xfrm>
          <a:prstGeom prst="line">
            <a:avLst/>
          </a:prstGeom>
          <a:ln w="19050">
            <a:solidFill>
              <a:srgbClr val="3B5BDB"/>
            </a:solidFill>
            <a:tailEnd type="triangle" w="med" len="med"/>
          </a:ln>
        </p:spPr>
      </p:cxnSp>
      <p:sp>
        <p:nvSpPr>
          <p:cNvPr id="179" name="TextBox 178"/>
          <p:cNvSpPr txBox="1"/>
          <p:nvPr/>
        </p:nvSpPr>
        <p:spPr>
          <a:xfrm>
            <a:off x="6035040" y="5943600"/>
            <a:ext cx="2103120" cy="228600"/>
          </a:xfrm>
          <a:prstGeom prst="rect">
            <a:avLst/>
          </a:prstGeom>
          <a:noFill/>
        </p:spPr>
        <p:txBody>
          <a:bodyPr wrap="square" lIns="0" rIns="0" tIns="0" bIns="0" anchor="t">
            <a:noAutofit/>
          </a:bodyPr>
          <a:lstStyle/>
          <a:p>
            <a:pPr algn="l"/>
            <a:r>
              <a:rPr sz="1000" b="0" i="0">
                <a:solidFill>
                  <a:srgbClr val="63637E"/>
                </a:solidFill>
                <a:latin typeface="Calibri"/>
              </a:rPr>
              <a:t>late-detail refinement</a:t>
            </a:r>
          </a:p>
        </p:txBody>
      </p:sp>
      <p:cxnSp>
        <p:nvCxnSpPr>
          <p:cNvPr id="180" name="Connector 179"/>
          <p:cNvCxnSpPr/>
          <p:nvPr/>
        </p:nvCxnSpPr>
        <p:spPr>
          <a:xfrm>
            <a:off x="7973568" y="6053328"/>
            <a:ext cx="365760" cy="0"/>
          </a:xfrm>
          <a:prstGeom prst="line">
            <a:avLst/>
          </a:prstGeom>
          <a:ln w="19050">
            <a:solidFill>
              <a:srgbClr val="7C3AED"/>
            </a:solidFill>
            <a:prstDash val="dash"/>
            <a:tailEnd type="triangle" w="med" len="med"/>
          </a:ln>
        </p:spPr>
      </p:cxnSp>
      <p:sp>
        <p:nvSpPr>
          <p:cNvPr id="181" name="TextBox 180"/>
          <p:cNvSpPr txBox="1"/>
          <p:nvPr/>
        </p:nvSpPr>
        <p:spPr>
          <a:xfrm>
            <a:off x="8412480" y="5943600"/>
            <a:ext cx="2103120" cy="228600"/>
          </a:xfrm>
          <a:prstGeom prst="rect">
            <a:avLst/>
          </a:prstGeom>
          <a:noFill/>
        </p:spPr>
        <p:txBody>
          <a:bodyPr wrap="square" lIns="0" rIns="0" tIns="0" bIns="0" anchor="t">
            <a:noAutofit/>
          </a:bodyPr>
          <a:lstStyle/>
          <a:p>
            <a:pPr algn="l"/>
            <a:r>
              <a:rPr sz="1000" b="0" i="0">
                <a:solidFill>
                  <a:srgbClr val="63637E"/>
                </a:solidFill>
                <a:latin typeface="Calibri"/>
              </a:rPr>
              <a:t>suppression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9" name="Google Shape;11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From First Answer to Refined Answer</a:t>
            </a:r>
            <a:endParaRPr/>
          </a:p>
        </p:txBody>
      </p:sp>
      <p:sp>
        <p:nvSpPr>
          <p:cNvPr id="120" name="Rounded Rectangle 119"/>
          <p:cNvSpPr/>
          <p:nvPr/>
        </p:nvSpPr>
        <p:spPr>
          <a:xfrm>
            <a:off x="841248" y="1737360"/>
            <a:ext cx="5074920" cy="4160520"/>
          </a:xfrm>
          <a:prstGeom prst="roundRect">
            <a:avLst>
              <a:gd name="adj" fmla="val 2637"/>
            </a:avLst>
          </a:prstGeom>
          <a:solidFill>
            <a:srgbClr val="FFFFFF"/>
          </a:solidFill>
          <a:ln w="12700">
            <a:solidFill>
              <a:srgbClr val="E3E1EE"/>
            </a:solidFill>
          </a:ln>
        </p:spPr>
        <p:txBody>
          <a:bodyPr rtlCol="0" anchor="ctr"/>
          <a:lstStyle/>
          <a:p>
            <a:pPr algn="ctr"/>
          </a:p>
        </p:txBody>
      </p:sp>
      <p:sp>
        <p:nvSpPr>
          <p:cNvPr id="121" name="TextBox 120"/>
          <p:cNvSpPr txBox="1"/>
          <p:nvPr/>
        </p:nvSpPr>
        <p:spPr>
          <a:xfrm>
            <a:off x="1069848" y="1901952"/>
            <a:ext cx="3657600" cy="256032"/>
          </a:xfrm>
          <a:prstGeom prst="rect">
            <a:avLst/>
          </a:prstGeom>
          <a:noFill/>
        </p:spPr>
        <p:txBody>
          <a:bodyPr wrap="square" lIns="0" rIns="0" tIns="0" bIns="0" anchor="t">
            <a:noAutofit/>
          </a:bodyPr>
          <a:lstStyle/>
          <a:p>
            <a:pPr algn="l"/>
            <a:r>
              <a:rPr sz="1100" b="1" i="0" spc="150">
                <a:solidFill>
                  <a:srgbClr val="6D28D9"/>
                </a:solidFill>
                <a:latin typeface="Calibri"/>
              </a:rPr>
              <a:t>01 · EARLY RETRIEVAL</a:t>
            </a:r>
          </a:p>
        </p:txBody>
      </p:sp>
      <p:sp>
        <p:nvSpPr>
          <p:cNvPr id="122" name="TextBox 121"/>
          <p:cNvSpPr txBox="1"/>
          <p:nvPr/>
        </p:nvSpPr>
        <p:spPr>
          <a:xfrm>
            <a:off x="1069848" y="2157984"/>
            <a:ext cx="4617720" cy="274320"/>
          </a:xfrm>
          <a:prstGeom prst="rect">
            <a:avLst/>
          </a:prstGeom>
          <a:noFill/>
        </p:spPr>
        <p:txBody>
          <a:bodyPr wrap="square" lIns="0" rIns="0" tIns="0" bIns="0" anchor="t">
            <a:noAutofit/>
          </a:bodyPr>
          <a:lstStyle/>
          <a:p>
            <a:pPr algn="l"/>
            <a:r>
              <a:rPr sz="1200" b="0" i="0">
                <a:solidFill>
                  <a:srgbClr val="63637E"/>
                </a:solidFill>
                <a:latin typeface="Calibri"/>
              </a:rPr>
              <a:t>Demo 1 · the user keeps talking while evidence arrives</a:t>
            </a:r>
          </a:p>
        </p:txBody>
      </p:sp>
      <p:sp>
        <p:nvSpPr>
          <p:cNvPr id="123" name="TextBox 122"/>
          <p:cNvSpPr txBox="1"/>
          <p:nvPr/>
        </p:nvSpPr>
        <p:spPr>
          <a:xfrm>
            <a:off x="1069848" y="2606039"/>
            <a:ext cx="502920" cy="274320"/>
          </a:xfrm>
          <a:prstGeom prst="rect">
            <a:avLst/>
          </a:prstGeom>
          <a:noFill/>
        </p:spPr>
        <p:txBody>
          <a:bodyPr wrap="square" lIns="0" rIns="0" tIns="0" bIns="0" anchor="t">
            <a:noAutofit/>
          </a:bodyPr>
          <a:lstStyle/>
          <a:p>
            <a:pPr algn="l"/>
            <a:r>
              <a:rPr sz="1050" b="1" i="0">
                <a:solidFill>
                  <a:srgbClr val="63637E"/>
                </a:solidFill>
                <a:latin typeface="Calibri"/>
              </a:rPr>
              <a:t>0.0 s</a:t>
            </a:r>
          </a:p>
        </p:txBody>
      </p:sp>
      <p:sp>
        <p:nvSpPr>
          <p:cNvPr id="124" name="TextBox 123"/>
          <p:cNvSpPr txBox="1"/>
          <p:nvPr/>
        </p:nvSpPr>
        <p:spPr>
          <a:xfrm>
            <a:off x="1591056" y="2587751"/>
            <a:ext cx="3017520" cy="411480"/>
          </a:xfrm>
          <a:prstGeom prst="rect">
            <a:avLst/>
          </a:prstGeom>
          <a:noFill/>
        </p:spPr>
        <p:txBody>
          <a:bodyPr wrap="square" lIns="0" rIns="0" tIns="0" bIns="0" anchor="t">
            <a:noAutofit/>
          </a:bodyPr>
          <a:lstStyle/>
          <a:p>
            <a:pPr algn="l"/>
            <a:r>
              <a:rPr sz="1150" b="0" i="1">
                <a:solidFill>
                  <a:srgbClr val="14142B"/>
                </a:solidFill>
                <a:latin typeface="Calibri"/>
              </a:rPr>
              <a:t>“So I'm heading to Singapore next month”</a:t>
            </a:r>
          </a:p>
        </p:txBody>
      </p:sp>
      <p:sp>
        <p:nvSpPr>
          <p:cNvPr id="125" name="Rounded Rectangle 124"/>
          <p:cNvSpPr/>
          <p:nvPr/>
        </p:nvSpPr>
        <p:spPr>
          <a:xfrm>
            <a:off x="4773168" y="2606039"/>
            <a:ext cx="914400" cy="237744"/>
          </a:xfrm>
          <a:prstGeom prst="roundRect">
            <a:avLst>
              <a:gd name="adj" fmla="val 50000"/>
            </a:avLst>
          </a:prstGeom>
          <a:solidFill>
            <a:srgbClr val="B45309"/>
          </a:solidFill>
          <a:ln>
            <a:noFill/>
          </a:ln>
        </p:spPr>
        <p:txBody>
          <a:bodyPr rtlCol="0" anchor="ctr" wrap="square" lIns="36576" rIns="36576" tIns="36576" bIns="36576">
            <a:noAutofit/>
          </a:bodyPr>
          <a:lstStyle/>
          <a:p>
            <a:pPr algn="ctr"/>
            <a:r>
              <a:rPr sz="900" b="1" i="0">
                <a:solidFill>
                  <a:srgbClr val="FFFFFF"/>
                </a:solidFill>
                <a:latin typeface="Calibri"/>
              </a:rPr>
              <a:t>WAIT</a:t>
            </a:r>
          </a:p>
        </p:txBody>
      </p:sp>
      <p:sp>
        <p:nvSpPr>
          <p:cNvPr id="126" name="TextBox 125"/>
          <p:cNvSpPr txBox="1"/>
          <p:nvPr/>
        </p:nvSpPr>
        <p:spPr>
          <a:xfrm>
            <a:off x="1069848" y="3081527"/>
            <a:ext cx="502920" cy="274320"/>
          </a:xfrm>
          <a:prstGeom prst="rect">
            <a:avLst/>
          </a:prstGeom>
          <a:noFill/>
        </p:spPr>
        <p:txBody>
          <a:bodyPr wrap="square" lIns="0" rIns="0" tIns="0" bIns="0" anchor="t">
            <a:noAutofit/>
          </a:bodyPr>
          <a:lstStyle/>
          <a:p>
            <a:pPr algn="l"/>
            <a:r>
              <a:rPr sz="1050" b="1" i="0">
                <a:solidFill>
                  <a:srgbClr val="63637E"/>
                </a:solidFill>
                <a:latin typeface="Calibri"/>
              </a:rPr>
              <a:t>2.8 s</a:t>
            </a:r>
          </a:p>
        </p:txBody>
      </p:sp>
      <p:sp>
        <p:nvSpPr>
          <p:cNvPr id="127" name="TextBox 126"/>
          <p:cNvSpPr txBox="1"/>
          <p:nvPr/>
        </p:nvSpPr>
        <p:spPr>
          <a:xfrm>
            <a:off x="1591056" y="3063239"/>
            <a:ext cx="3017520" cy="411480"/>
          </a:xfrm>
          <a:prstGeom prst="rect">
            <a:avLst/>
          </a:prstGeom>
          <a:noFill/>
        </p:spPr>
        <p:txBody>
          <a:bodyPr wrap="square" lIns="0" rIns="0" tIns="0" bIns="0" anchor="t">
            <a:noAutofit/>
          </a:bodyPr>
          <a:lstStyle/>
          <a:p>
            <a:pPr algn="l"/>
            <a:r>
              <a:rPr sz="1150" b="0" i="1">
                <a:solidFill>
                  <a:srgbClr val="14142B"/>
                </a:solidFill>
                <a:latin typeface="Calibri"/>
              </a:rPr>
              <a:t>“to visit a customer, and before I book anything”</a:t>
            </a:r>
          </a:p>
        </p:txBody>
      </p:sp>
      <p:sp>
        <p:nvSpPr>
          <p:cNvPr id="128" name="Rounded Rectangle 127"/>
          <p:cNvSpPr/>
          <p:nvPr/>
        </p:nvSpPr>
        <p:spPr>
          <a:xfrm>
            <a:off x="4773168" y="3081527"/>
            <a:ext cx="914400" cy="237744"/>
          </a:xfrm>
          <a:prstGeom prst="roundRect">
            <a:avLst>
              <a:gd name="adj" fmla="val 50000"/>
            </a:avLst>
          </a:prstGeom>
          <a:solidFill>
            <a:srgbClr val="15803D"/>
          </a:solidFill>
          <a:ln>
            <a:noFill/>
          </a:ln>
        </p:spPr>
        <p:txBody>
          <a:bodyPr rtlCol="0" anchor="ctr" wrap="square" lIns="36576" rIns="36576" tIns="36576" bIns="36576">
            <a:noAutofit/>
          </a:bodyPr>
          <a:lstStyle/>
          <a:p>
            <a:pPr algn="ctr"/>
            <a:r>
              <a:rPr sz="900" b="1" i="0">
                <a:solidFill>
                  <a:srgbClr val="FFFFFF"/>
                </a:solidFill>
                <a:latin typeface="Calibri"/>
              </a:rPr>
              <a:t>RETRIEVE</a:t>
            </a:r>
          </a:p>
        </p:txBody>
      </p:sp>
      <p:sp>
        <p:nvSpPr>
          <p:cNvPr id="129" name="TextBox 128"/>
          <p:cNvSpPr txBox="1"/>
          <p:nvPr/>
        </p:nvSpPr>
        <p:spPr>
          <a:xfrm>
            <a:off x="1069848" y="3557015"/>
            <a:ext cx="502920" cy="274320"/>
          </a:xfrm>
          <a:prstGeom prst="rect">
            <a:avLst/>
          </a:prstGeom>
          <a:noFill/>
        </p:spPr>
        <p:txBody>
          <a:bodyPr wrap="square" lIns="0" rIns="0" tIns="0" bIns="0" anchor="t">
            <a:noAutofit/>
          </a:bodyPr>
          <a:lstStyle/>
          <a:p>
            <a:pPr algn="l"/>
            <a:r>
              <a:rPr sz="1050" b="1" i="0">
                <a:solidFill>
                  <a:srgbClr val="63637E"/>
                </a:solidFill>
                <a:latin typeface="Calibri"/>
              </a:rPr>
              <a:t>6.0 s</a:t>
            </a:r>
          </a:p>
        </p:txBody>
      </p:sp>
      <p:sp>
        <p:nvSpPr>
          <p:cNvPr id="130" name="TextBox 129"/>
          <p:cNvSpPr txBox="1"/>
          <p:nvPr/>
        </p:nvSpPr>
        <p:spPr>
          <a:xfrm>
            <a:off x="1591056" y="3538727"/>
            <a:ext cx="3017520" cy="411480"/>
          </a:xfrm>
          <a:prstGeom prst="rect">
            <a:avLst/>
          </a:prstGeom>
          <a:noFill/>
        </p:spPr>
        <p:txBody>
          <a:bodyPr wrap="square" lIns="0" rIns="0" tIns="0" bIns="0" anchor="t">
            <a:noAutofit/>
          </a:bodyPr>
          <a:lstStyle/>
          <a:p>
            <a:pPr algn="l"/>
            <a:r>
              <a:rPr sz="1150" b="0" i="1">
                <a:solidFill>
                  <a:srgbClr val="14142B"/>
                </a:solidFill>
                <a:latin typeface="Calibri"/>
              </a:rPr>
              <a:t>“I'd like to know the daily meal allowance”</a:t>
            </a:r>
          </a:p>
        </p:txBody>
      </p:sp>
      <p:sp>
        <p:nvSpPr>
          <p:cNvPr id="131" name="Rounded Rectangle 130"/>
          <p:cNvSpPr/>
          <p:nvPr/>
        </p:nvSpPr>
        <p:spPr>
          <a:xfrm>
            <a:off x="4773168" y="3557015"/>
            <a:ext cx="914400" cy="237744"/>
          </a:xfrm>
          <a:prstGeom prst="roundRect">
            <a:avLst>
              <a:gd name="adj" fmla="val 50000"/>
            </a:avLst>
          </a:prstGeom>
          <a:solidFill>
            <a:srgbClr val="15803D"/>
          </a:solidFill>
          <a:ln>
            <a:noFill/>
          </a:ln>
        </p:spPr>
        <p:txBody>
          <a:bodyPr rtlCol="0" anchor="ctr" wrap="square" lIns="36576" rIns="36576" tIns="36576" bIns="36576">
            <a:noAutofit/>
          </a:bodyPr>
          <a:lstStyle/>
          <a:p>
            <a:pPr algn="ctr"/>
            <a:r>
              <a:rPr sz="900" b="1" i="0">
                <a:solidFill>
                  <a:srgbClr val="FFFFFF"/>
                </a:solidFill>
                <a:latin typeface="Calibri"/>
              </a:rPr>
              <a:t>RETRIEVE</a:t>
            </a:r>
          </a:p>
        </p:txBody>
      </p:sp>
      <p:sp>
        <p:nvSpPr>
          <p:cNvPr id="132" name="TextBox 131"/>
          <p:cNvSpPr txBox="1"/>
          <p:nvPr/>
        </p:nvSpPr>
        <p:spPr>
          <a:xfrm>
            <a:off x="1069848" y="4032503"/>
            <a:ext cx="502920" cy="274320"/>
          </a:xfrm>
          <a:prstGeom prst="rect">
            <a:avLst/>
          </a:prstGeom>
          <a:noFill/>
        </p:spPr>
        <p:txBody>
          <a:bodyPr wrap="square" lIns="0" rIns="0" tIns="0" bIns="0" anchor="t">
            <a:noAutofit/>
          </a:bodyPr>
          <a:lstStyle/>
          <a:p>
            <a:pPr algn="l"/>
            <a:r>
              <a:rPr sz="1050" b="1" i="0">
                <a:solidFill>
                  <a:srgbClr val="63637E"/>
                </a:solidFill>
                <a:latin typeface="Calibri"/>
              </a:rPr>
              <a:t>8.8 s</a:t>
            </a:r>
          </a:p>
        </p:txBody>
      </p:sp>
      <p:sp>
        <p:nvSpPr>
          <p:cNvPr id="133" name="TextBox 132"/>
          <p:cNvSpPr txBox="1"/>
          <p:nvPr/>
        </p:nvSpPr>
        <p:spPr>
          <a:xfrm>
            <a:off x="1591056" y="4014215"/>
            <a:ext cx="3017520" cy="411480"/>
          </a:xfrm>
          <a:prstGeom prst="rect">
            <a:avLst/>
          </a:prstGeom>
          <a:noFill/>
        </p:spPr>
        <p:txBody>
          <a:bodyPr wrap="square" lIns="0" rIns="0" tIns="0" bIns="0" anchor="t">
            <a:noAutofit/>
          </a:bodyPr>
          <a:lstStyle/>
          <a:p>
            <a:pPr algn="l"/>
            <a:r>
              <a:rPr sz="1150" b="0" i="1">
                <a:solidFill>
                  <a:srgbClr val="14142B"/>
                </a:solidFill>
                <a:latin typeface="Calibri"/>
              </a:rPr>
              <a:t>“for international travel.”</a:t>
            </a:r>
          </a:p>
        </p:txBody>
      </p:sp>
      <p:sp>
        <p:nvSpPr>
          <p:cNvPr id="134" name="Rounded Rectangle 133"/>
          <p:cNvSpPr/>
          <p:nvPr/>
        </p:nvSpPr>
        <p:spPr>
          <a:xfrm>
            <a:off x="4773168" y="4032503"/>
            <a:ext cx="914400" cy="237744"/>
          </a:xfrm>
          <a:prstGeom prst="roundRect">
            <a:avLst>
              <a:gd name="adj" fmla="val 50000"/>
            </a:avLst>
          </a:prstGeom>
          <a:solidFill>
            <a:srgbClr val="15803D"/>
          </a:solidFill>
          <a:ln>
            <a:noFill/>
          </a:ln>
        </p:spPr>
        <p:txBody>
          <a:bodyPr rtlCol="0" anchor="ctr" wrap="square" lIns="36576" rIns="36576" tIns="36576" bIns="36576">
            <a:noAutofit/>
          </a:bodyPr>
          <a:lstStyle/>
          <a:p>
            <a:pPr algn="ctr"/>
            <a:r>
              <a:rPr sz="900" b="1" i="0">
                <a:solidFill>
                  <a:srgbClr val="FFFFFF"/>
                </a:solidFill>
                <a:latin typeface="Calibri"/>
              </a:rPr>
              <a:t>RETRIEVE</a:t>
            </a:r>
          </a:p>
        </p:txBody>
      </p:sp>
      <p:cxnSp>
        <p:nvCxnSpPr>
          <p:cNvPr id="135" name="Connector 134"/>
          <p:cNvCxnSpPr/>
          <p:nvPr/>
        </p:nvCxnSpPr>
        <p:spPr>
          <a:xfrm>
            <a:off x="1069848" y="4480559"/>
            <a:ext cx="4617720" cy="0"/>
          </a:xfrm>
          <a:prstGeom prst="line">
            <a:avLst/>
          </a:prstGeom>
          <a:ln w="15875">
            <a:solidFill>
              <a:srgbClr val="3B5BDB"/>
            </a:solidFill>
            <a:prstDash val="dash"/>
          </a:ln>
        </p:spPr>
      </p:cxnSp>
      <p:sp>
        <p:nvSpPr>
          <p:cNvPr id="136" name="TextBox 135"/>
          <p:cNvSpPr txBox="1"/>
          <p:nvPr/>
        </p:nvSpPr>
        <p:spPr>
          <a:xfrm>
            <a:off x="1069848" y="4526279"/>
            <a:ext cx="4617720" cy="274320"/>
          </a:xfrm>
          <a:prstGeom prst="rect">
            <a:avLst/>
          </a:prstGeom>
          <a:noFill/>
        </p:spPr>
        <p:txBody>
          <a:bodyPr wrap="square" lIns="0" rIns="0" tIns="0" bIns="0" anchor="t">
            <a:noAutofit/>
          </a:bodyPr>
          <a:lstStyle/>
          <a:p>
            <a:pPr algn="l"/>
            <a:r>
              <a:rPr sz="1100" b="1" i="0">
                <a:solidFill>
                  <a:srgbClr val="63637E"/>
                </a:solidFill>
                <a:latin typeface="Calibri"/>
              </a:rPr>
              <a:t>10.3 s  </a:t>
            </a:r>
            <a:r>
              <a:rPr sz="1100" b="0" i="0">
                <a:solidFill>
                  <a:srgbClr val="14142B"/>
                </a:solidFill>
                <a:latin typeface="Calibri"/>
              </a:rPr>
              <a:t>utterance ends → evidence already retrieved, answer cites DOC_01 §3</a:t>
            </a:r>
          </a:p>
        </p:txBody>
      </p:sp>
      <p:sp>
        <p:nvSpPr>
          <p:cNvPr id="137" name="Rounded Rectangle 136"/>
          <p:cNvSpPr/>
          <p:nvPr/>
        </p:nvSpPr>
        <p:spPr>
          <a:xfrm>
            <a:off x="1069848" y="5029199"/>
            <a:ext cx="4617720" cy="685800"/>
          </a:xfrm>
          <a:prstGeom prst="roundRect">
            <a:avLst>
              <a:gd name="adj" fmla="val 10666"/>
            </a:avLst>
          </a:prstGeom>
          <a:solidFill>
            <a:srgbClr val="E6F4EC"/>
          </a:solidFill>
          <a:ln>
            <a:noFill/>
          </a:ln>
        </p:spPr>
        <p:txBody>
          <a:bodyPr rtlCol="0" anchor="ctr"/>
          <a:lstStyle/>
          <a:p>
            <a:pPr algn="ctr"/>
          </a:p>
        </p:txBody>
      </p:sp>
      <p:sp>
        <p:nvSpPr>
          <p:cNvPr id="138" name="TextBox 137"/>
          <p:cNvSpPr txBox="1"/>
          <p:nvPr/>
        </p:nvSpPr>
        <p:spPr>
          <a:xfrm>
            <a:off x="1207008" y="5074919"/>
            <a:ext cx="4343400" cy="621792"/>
          </a:xfrm>
          <a:prstGeom prst="rect">
            <a:avLst/>
          </a:prstGeom>
          <a:noFill/>
        </p:spPr>
        <p:txBody>
          <a:bodyPr wrap="square" lIns="0" rIns="0" tIns="0" bIns="0" anchor="ctr">
            <a:noAutofit/>
          </a:bodyPr>
          <a:lstStyle/>
          <a:p>
            <a:pPr algn="l"/>
            <a:r>
              <a:rPr sz="1400" b="1" i="0">
                <a:solidFill>
                  <a:srgbClr val="15803D"/>
                </a:solidFill>
                <a:latin typeface="Calibri"/>
              </a:rPr>
              <a:t>Retrieval started 7.47 s before the user finished</a:t>
            </a:r>
          </a:p>
          <a:p>
            <a:pPr algn="l"/>
            <a:r>
              <a:rPr sz="1050" b="0" i="0">
                <a:solidFill>
                  <a:srgbClr val="63637E"/>
                </a:solidFill>
                <a:latin typeface="Calibri"/>
              </a:rPr>
              <a:t>Held-out: early retrieval on 90% of eligible turns, mean lead 4.4 s</a:t>
            </a:r>
          </a:p>
        </p:txBody>
      </p:sp>
      <p:sp>
        <p:nvSpPr>
          <p:cNvPr id="139" name="Rounded Rectangle 138"/>
          <p:cNvSpPr/>
          <p:nvPr/>
        </p:nvSpPr>
        <p:spPr>
          <a:xfrm>
            <a:off x="6281928" y="1737360"/>
            <a:ext cx="5074920" cy="4160520"/>
          </a:xfrm>
          <a:prstGeom prst="roundRect">
            <a:avLst>
              <a:gd name="adj" fmla="val 2637"/>
            </a:avLst>
          </a:prstGeom>
          <a:solidFill>
            <a:srgbClr val="FFFFFF"/>
          </a:solidFill>
          <a:ln w="12700">
            <a:solidFill>
              <a:srgbClr val="E3E1EE"/>
            </a:solidFill>
          </a:ln>
        </p:spPr>
        <p:txBody>
          <a:bodyPr rtlCol="0" anchor="ctr"/>
          <a:lstStyle/>
          <a:p>
            <a:pPr algn="ctr"/>
          </a:p>
        </p:txBody>
      </p:sp>
      <p:sp>
        <p:nvSpPr>
          <p:cNvPr id="140" name="TextBox 139"/>
          <p:cNvSpPr txBox="1"/>
          <p:nvPr/>
        </p:nvSpPr>
        <p:spPr>
          <a:xfrm>
            <a:off x="6510528" y="1901952"/>
            <a:ext cx="3657600" cy="256032"/>
          </a:xfrm>
          <a:prstGeom prst="rect">
            <a:avLst/>
          </a:prstGeom>
          <a:noFill/>
        </p:spPr>
        <p:txBody>
          <a:bodyPr wrap="square" lIns="0" rIns="0" tIns="0" bIns="0" anchor="t">
            <a:noAutofit/>
          </a:bodyPr>
          <a:lstStyle/>
          <a:p>
            <a:pPr algn="l"/>
            <a:r>
              <a:rPr sz="1100" b="1" i="0" spc="150">
                <a:solidFill>
                  <a:srgbClr val="6D28D9"/>
                </a:solidFill>
                <a:latin typeface="Calibri"/>
              </a:rPr>
              <a:t>02 · LATE DETAIL</a:t>
            </a:r>
          </a:p>
        </p:txBody>
      </p:sp>
      <p:sp>
        <p:nvSpPr>
          <p:cNvPr id="141" name="TextBox 140"/>
          <p:cNvSpPr txBox="1"/>
          <p:nvPr/>
        </p:nvSpPr>
        <p:spPr>
          <a:xfrm>
            <a:off x="6510528" y="2157984"/>
            <a:ext cx="4617720" cy="274320"/>
          </a:xfrm>
          <a:prstGeom prst="rect">
            <a:avLst/>
          </a:prstGeom>
          <a:noFill/>
        </p:spPr>
        <p:txBody>
          <a:bodyPr wrap="square" lIns="0" rIns="0" tIns="0" bIns="0" anchor="t">
            <a:noAutofit/>
          </a:bodyPr>
          <a:lstStyle/>
          <a:p>
            <a:pPr algn="l"/>
            <a:r>
              <a:rPr sz="1200" b="0" i="0">
                <a:solidFill>
                  <a:srgbClr val="63637E"/>
                </a:solidFill>
                <a:latin typeface="Calibri"/>
              </a:rPr>
              <a:t>Demo 3 · a new constraint refines the answer</a:t>
            </a:r>
          </a:p>
        </p:txBody>
      </p:sp>
      <p:sp>
        <p:nvSpPr>
          <p:cNvPr id="142" name="Rounded Rectangle 141"/>
          <p:cNvSpPr/>
          <p:nvPr/>
        </p:nvSpPr>
        <p:spPr>
          <a:xfrm>
            <a:off x="6510528" y="2560320"/>
            <a:ext cx="2514600" cy="566928"/>
          </a:xfrm>
          <a:prstGeom prst="roundRect">
            <a:avLst>
              <a:gd name="adj" fmla="val 12903"/>
            </a:avLst>
          </a:prstGeom>
          <a:solidFill>
            <a:srgbClr val="F4F1FC"/>
          </a:solidFill>
          <a:ln>
            <a:noFill/>
          </a:ln>
        </p:spPr>
        <p:txBody>
          <a:bodyPr rtlCol="0" anchor="ctr" wrap="square" tIns="36576" bIns="36576">
            <a:noAutofit/>
          </a:bodyPr>
          <a:lstStyle/>
          <a:p>
            <a:pPr algn="l">
              <a:lnSpc>
                <a:spcPct val="92000"/>
              </a:lnSpc>
            </a:pPr>
            <a:r>
              <a:rPr sz="1150" b="1" i="0">
                <a:solidFill>
                  <a:srgbClr val="14142B"/>
                </a:solidFill>
                <a:latin typeface="Calibri"/>
              </a:rPr>
              <a:t>Answer v1</a:t>
            </a:r>
          </a:p>
          <a:p>
            <a:pPr algn="l">
              <a:lnSpc>
                <a:spcPct val="92000"/>
              </a:lnSpc>
            </a:pPr>
            <a:r>
              <a:rPr sz="950" b="0" i="0">
                <a:solidFill>
                  <a:srgbClr val="63637E"/>
                </a:solidFill>
                <a:latin typeface="Calibri"/>
              </a:rPr>
              <a:t>2 claims · reimbursement rule</a:t>
            </a:r>
          </a:p>
        </p:txBody>
      </p:sp>
      <p:cxnSp>
        <p:nvCxnSpPr>
          <p:cNvPr id="143" name="Connector 142"/>
          <p:cNvCxnSpPr/>
          <p:nvPr/>
        </p:nvCxnSpPr>
        <p:spPr>
          <a:xfrm>
            <a:off x="7767828" y="3145536"/>
            <a:ext cx="0" cy="146304"/>
          </a:xfrm>
          <a:prstGeom prst="line">
            <a:avLst/>
          </a:prstGeom>
          <a:ln w="15875">
            <a:solidFill>
              <a:srgbClr val="9C9CB0"/>
            </a:solidFill>
            <a:tailEnd type="triangle" w="med" len="med"/>
          </a:ln>
        </p:spPr>
      </p:cxnSp>
      <p:sp>
        <p:nvSpPr>
          <p:cNvPr id="144" name="Rounded Rectangle 143"/>
          <p:cNvSpPr/>
          <p:nvPr/>
        </p:nvSpPr>
        <p:spPr>
          <a:xfrm>
            <a:off x="6510528" y="3310128"/>
            <a:ext cx="2514600" cy="566928"/>
          </a:xfrm>
          <a:prstGeom prst="roundRect">
            <a:avLst>
              <a:gd name="adj" fmla="val 12903"/>
            </a:avLst>
          </a:prstGeom>
          <a:solidFill>
            <a:srgbClr val="FDF1DC"/>
          </a:solidFill>
          <a:ln>
            <a:noFill/>
          </a:ln>
        </p:spPr>
        <p:txBody>
          <a:bodyPr rtlCol="0" anchor="ctr" wrap="square" tIns="36576" bIns="36576">
            <a:noAutofit/>
          </a:bodyPr>
          <a:lstStyle/>
          <a:p>
            <a:pPr algn="l">
              <a:lnSpc>
                <a:spcPct val="92000"/>
              </a:lnSpc>
            </a:pPr>
            <a:r>
              <a:rPr sz="1150" b="1" i="0">
                <a:solidFill>
                  <a:srgbClr val="14142B"/>
                </a:solidFill>
                <a:latin typeface="Calibri"/>
              </a:rPr>
              <a:t>User adds</a:t>
            </a:r>
          </a:p>
          <a:p>
            <a:pPr algn="l">
              <a:lnSpc>
                <a:spcPct val="92000"/>
              </a:lnSpc>
            </a:pPr>
            <a:r>
              <a:rPr sz="950" b="0" i="0">
                <a:solidFill>
                  <a:srgbClr val="63637E"/>
                </a:solidFill>
                <a:latin typeface="Calibri"/>
              </a:rPr>
              <a:t>“The trip was international and the booking was made after travel.”</a:t>
            </a:r>
          </a:p>
        </p:txBody>
      </p:sp>
      <p:cxnSp>
        <p:nvCxnSpPr>
          <p:cNvPr id="145" name="Connector 144"/>
          <p:cNvCxnSpPr/>
          <p:nvPr/>
        </p:nvCxnSpPr>
        <p:spPr>
          <a:xfrm>
            <a:off x="7767828" y="3895344"/>
            <a:ext cx="0" cy="146304"/>
          </a:xfrm>
          <a:prstGeom prst="line">
            <a:avLst/>
          </a:prstGeom>
          <a:ln w="15875">
            <a:solidFill>
              <a:srgbClr val="9C9CB0"/>
            </a:solidFill>
            <a:tailEnd type="triangle" w="med" len="med"/>
          </a:ln>
        </p:spPr>
      </p:cxnSp>
      <p:sp>
        <p:nvSpPr>
          <p:cNvPr id="146" name="Rounded Rectangle 145"/>
          <p:cNvSpPr/>
          <p:nvPr/>
        </p:nvSpPr>
        <p:spPr>
          <a:xfrm>
            <a:off x="6510528" y="4059935"/>
            <a:ext cx="2514600" cy="566928"/>
          </a:xfrm>
          <a:prstGeom prst="roundRect">
            <a:avLst>
              <a:gd name="adj" fmla="val 12903"/>
            </a:avLst>
          </a:prstGeom>
          <a:solidFill>
            <a:srgbClr val="EAF0FF"/>
          </a:solidFill>
          <a:ln>
            <a:noFill/>
          </a:ln>
        </p:spPr>
        <p:txBody>
          <a:bodyPr rtlCol="0" anchor="ctr" wrap="square" tIns="36576" bIns="36576">
            <a:noAutofit/>
          </a:bodyPr>
          <a:lstStyle/>
          <a:p>
            <a:pPr algn="l">
              <a:lnSpc>
                <a:spcPct val="92000"/>
              </a:lnSpc>
            </a:pPr>
            <a:r>
              <a:rPr sz="1150" b="1" i="0">
                <a:solidFill>
                  <a:srgbClr val="14142B"/>
                </a:solidFill>
                <a:latin typeface="Calibri"/>
              </a:rPr>
              <a:t>Delta retrieval</a:t>
            </a:r>
          </a:p>
          <a:p>
            <a:pPr algn="l">
              <a:lnSpc>
                <a:spcPct val="92000"/>
              </a:lnSpc>
            </a:pPr>
            <a:r>
              <a:rPr sz="950" b="0" i="0">
                <a:solidFill>
                  <a:srgbClr val="63637E"/>
                </a:solidFill>
                <a:latin typeface="Calibri"/>
              </a:rPr>
              <a:t>refinement detected → 2 new sub-queries; prior sub-queries re-searched: 0</a:t>
            </a:r>
          </a:p>
        </p:txBody>
      </p:sp>
      <p:cxnSp>
        <p:nvCxnSpPr>
          <p:cNvPr id="147" name="Connector 146"/>
          <p:cNvCxnSpPr/>
          <p:nvPr/>
        </p:nvCxnSpPr>
        <p:spPr>
          <a:xfrm>
            <a:off x="7767828" y="4645151"/>
            <a:ext cx="0" cy="146305"/>
          </a:xfrm>
          <a:prstGeom prst="line">
            <a:avLst/>
          </a:prstGeom>
          <a:ln w="15875">
            <a:solidFill>
              <a:srgbClr val="9C9CB0"/>
            </a:solidFill>
            <a:tailEnd type="triangle" w="med" len="med"/>
          </a:ln>
        </p:spPr>
      </p:cxnSp>
      <p:sp>
        <p:nvSpPr>
          <p:cNvPr id="148" name="Rounded Rectangle 147"/>
          <p:cNvSpPr/>
          <p:nvPr/>
        </p:nvSpPr>
        <p:spPr>
          <a:xfrm>
            <a:off x="6510528" y="4809744"/>
            <a:ext cx="2514600" cy="566928"/>
          </a:xfrm>
          <a:prstGeom prst="roundRect">
            <a:avLst>
              <a:gd name="adj" fmla="val 12903"/>
            </a:avLst>
          </a:prstGeom>
          <a:solidFill>
            <a:srgbClr val="6D28D9"/>
          </a:solidFill>
          <a:ln>
            <a:noFill/>
          </a:ln>
        </p:spPr>
        <p:txBody>
          <a:bodyPr rtlCol="0" anchor="ctr" wrap="square" tIns="36576" bIns="36576">
            <a:noAutofit/>
          </a:bodyPr>
          <a:lstStyle/>
          <a:p>
            <a:pPr algn="l">
              <a:lnSpc>
                <a:spcPct val="92000"/>
              </a:lnSpc>
            </a:pPr>
            <a:r>
              <a:rPr sz="1150" b="1" i="0">
                <a:solidFill>
                  <a:srgbClr val="FFFFFF"/>
                </a:solidFill>
                <a:latin typeface="Calibri"/>
              </a:rPr>
              <a:t>Answer v2</a:t>
            </a:r>
          </a:p>
          <a:p>
            <a:pPr algn="l">
              <a:lnSpc>
                <a:spcPct val="92000"/>
              </a:lnSpc>
            </a:pPr>
            <a:r>
              <a:rPr sz="950" b="0" i="0">
                <a:solidFill>
                  <a:srgbClr val="D9D3F0"/>
                </a:solidFill>
                <a:latin typeface="Calibri"/>
              </a:rPr>
              <a:t>2 claims kept + 4 added</a:t>
            </a:r>
          </a:p>
        </p:txBody>
      </p:sp>
      <p:pic>
        <p:nvPicPr>
          <p:cNvPr id="149" name="Picture 148" descr="dashboard_demo3_answer_v2.png"/>
          <p:cNvPicPr>
            <a:picLocks noChangeAspect="1"/>
          </p:cNvPicPr>
          <p:nvPr/>
        </p:nvPicPr>
        <p:blipFill>
          <a:blip r:embed="rId2"/>
          <a:stretch>
            <a:fillRect/>
          </a:stretch>
        </p:blipFill>
        <p:spPr>
          <a:xfrm>
            <a:off x="9208008" y="2560320"/>
            <a:ext cx="1920239" cy="1706879"/>
          </a:xfrm>
          <a:prstGeom prst="rect">
            <a:avLst/>
          </a:prstGeom>
          <a:ln w="9525">
            <a:solidFill>
              <a:srgbClr val="E3E1EE"/>
            </a:solidFill>
          </a:ln>
        </p:spPr>
      </p:pic>
      <p:sp>
        <p:nvSpPr>
          <p:cNvPr id="150" name="TextBox 149"/>
          <p:cNvSpPr txBox="1"/>
          <p:nvPr/>
        </p:nvSpPr>
        <p:spPr>
          <a:xfrm>
            <a:off x="9208008" y="4303775"/>
            <a:ext cx="1920239" cy="411480"/>
          </a:xfrm>
          <a:prstGeom prst="rect">
            <a:avLst/>
          </a:prstGeom>
          <a:noFill/>
        </p:spPr>
        <p:txBody>
          <a:bodyPr wrap="square" lIns="0" rIns="0" tIns="0" bIns="0" anchor="t">
            <a:noAutofit/>
          </a:bodyPr>
          <a:lstStyle/>
          <a:p>
            <a:pPr algn="l"/>
            <a:r>
              <a:rPr sz="900" b="0" i="1">
                <a:solidFill>
                  <a:srgbClr val="63637E"/>
                </a:solidFill>
                <a:latin typeface="Calibri"/>
              </a:rPr>
              <a:t>Actual dashboard · v2: green = added claims</a:t>
            </a:r>
          </a:p>
        </p:txBody>
      </p:sp>
      <p:sp>
        <p:nvSpPr>
          <p:cNvPr id="151" name="TextBox 150"/>
          <p:cNvSpPr txBox="1"/>
          <p:nvPr/>
        </p:nvSpPr>
        <p:spPr>
          <a:xfrm>
            <a:off x="6510528" y="5513831"/>
            <a:ext cx="4617720" cy="320040"/>
          </a:xfrm>
          <a:prstGeom prst="rect">
            <a:avLst/>
          </a:prstGeom>
          <a:noFill/>
        </p:spPr>
        <p:txBody>
          <a:bodyPr wrap="square" lIns="0" rIns="0" tIns="0" bIns="0" anchor="t">
            <a:noAutofit/>
          </a:bodyPr>
          <a:lstStyle/>
          <a:p>
            <a:pPr algn="l"/>
            <a:r>
              <a:rPr sz="1500" b="1" i="0">
                <a:solidFill>
                  <a:srgbClr val="6D28D9"/>
                </a:solidFill>
                <a:latin typeface="Calibri"/>
              </a:rPr>
              <a:t>No full-session restart.  </a:t>
            </a:r>
            <a:r>
              <a:rPr sz="1050" b="0" i="0">
                <a:solidFill>
                  <a:srgbClr val="63637E"/>
                </a:solidFill>
                <a:latin typeface="Calibri"/>
              </a:rPr>
              <a:t>Refinement continuity 100% vs 0% (baseline)</a:t>
            </a:r>
          </a:p>
        </p:txBody>
      </p:sp>
      <p:sp>
        <p:nvSpPr>
          <p:cNvPr id="152" name="TextBox 151"/>
          <p:cNvSpPr txBox="1"/>
          <p:nvPr/>
        </p:nvSpPr>
        <p:spPr>
          <a:xfrm>
            <a:off x="841248" y="6089904"/>
            <a:ext cx="10515600" cy="237744"/>
          </a:xfrm>
          <a:prstGeom prst="rect">
            <a:avLst/>
          </a:prstGeom>
          <a:noFill/>
        </p:spPr>
        <p:txBody>
          <a:bodyPr wrap="square" lIns="0" rIns="0" tIns="0" bIns="0" anchor="t">
            <a:noAutofit/>
          </a:bodyPr>
          <a:lstStyle/>
          <a:p>
            <a:pPr algn="l"/>
            <a:r>
              <a:rPr sz="950" b="0" i="1">
                <a:solidFill>
                  <a:srgbClr val="63637E"/>
                </a:solidFill>
                <a:latin typeface="Calibri"/>
              </a:rPr>
              <a:t>Development benchmark · 16-document synthetic corpus · held-out split, 63 cases / 77 turns · written by the system's author; not an official Samsung evaluation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7" name="Google Shape;137;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Results &amp; Evaluation</a:t>
            </a:r>
            <a:endParaRPr b="1" sz="4400">
              <a:solidFill>
                <a:srgbClr val="704EA6"/>
              </a:solidFill>
            </a:endParaRPr>
          </a:p>
        </p:txBody>
      </p:sp>
      <p:graphicFrame>
        <p:nvGraphicFramePr>
          <p:cNvPr id="138" name="Chart 137"/>
          <p:cNvGraphicFramePr>
            <a:graphicFrameLocks noGrp="1"/>
          </p:cNvGraphicFramePr>
          <p:nvPr/>
        </p:nvGraphicFramePr>
        <p:xfrm>
          <a:off x="749808" y="1691640"/>
          <a:ext cx="6583680" cy="3840480"/>
        </p:xfrm>
        <a:graphic>
          <a:graphicData uri="http://schemas.openxmlformats.org/drawingml/2006/chart">
            <c:chart xmlns:c="http://schemas.openxmlformats.org/drawingml/2006/chart" r:id="rId2"/>
          </a:graphicData>
        </a:graphic>
      </p:graphicFrame>
      <p:sp>
        <p:nvSpPr>
          <p:cNvPr id="139" name="TextBox 138"/>
          <p:cNvSpPr txBox="1"/>
          <p:nvPr/>
        </p:nvSpPr>
        <p:spPr>
          <a:xfrm>
            <a:off x="841248" y="5632704"/>
            <a:ext cx="1188720" cy="274320"/>
          </a:xfrm>
          <a:prstGeom prst="rect">
            <a:avLst/>
          </a:prstGeom>
          <a:noFill/>
        </p:spPr>
        <p:txBody>
          <a:bodyPr wrap="square" lIns="0" rIns="0" tIns="0" bIns="0" anchor="t">
            <a:noAutofit/>
          </a:bodyPr>
          <a:lstStyle/>
          <a:p>
            <a:pPr algn="l"/>
            <a:r>
              <a:rPr sz="1200" b="1" i="0">
                <a:solidFill>
                  <a:srgbClr val="14142B"/>
                </a:solidFill>
                <a:latin typeface="Calibri"/>
              </a:rPr>
              <a:t>Gates</a:t>
            </a:r>
          </a:p>
        </p:txBody>
      </p:sp>
      <p:sp>
        <p:nvSpPr>
          <p:cNvPr id="140" name="Rounded Rectangle 139"/>
          <p:cNvSpPr/>
          <p:nvPr/>
        </p:nvSpPr>
        <p:spPr>
          <a:xfrm>
            <a:off x="1527048" y="5596128"/>
            <a:ext cx="777240" cy="310896"/>
          </a:xfrm>
          <a:prstGeom prst="roundRect">
            <a:avLst>
              <a:gd name="adj" fmla="val 50000"/>
            </a:avLst>
          </a:prstGeom>
          <a:solidFill>
            <a:srgbClr val="E6F4EC"/>
          </a:solidFill>
          <a:ln>
            <a:noFill/>
          </a:ln>
        </p:spPr>
        <p:txBody>
          <a:bodyPr rtlCol="0" anchor="ctr" wrap="square" lIns="36576" rIns="36576" tIns="36576" bIns="36576">
            <a:noAutofit/>
          </a:bodyPr>
          <a:lstStyle/>
          <a:p>
            <a:pPr algn="ctr"/>
            <a:r>
              <a:rPr sz="1000" b="1" i="0">
                <a:solidFill>
                  <a:srgbClr val="15803D"/>
                </a:solidFill>
                <a:latin typeface="Calibri"/>
              </a:rPr>
              <a:t>G1 PASS</a:t>
            </a:r>
          </a:p>
        </p:txBody>
      </p:sp>
      <p:sp>
        <p:nvSpPr>
          <p:cNvPr id="141" name="Rounded Rectangle 140"/>
          <p:cNvSpPr/>
          <p:nvPr/>
        </p:nvSpPr>
        <p:spPr>
          <a:xfrm>
            <a:off x="2395728" y="5596128"/>
            <a:ext cx="777240" cy="310896"/>
          </a:xfrm>
          <a:prstGeom prst="roundRect">
            <a:avLst>
              <a:gd name="adj" fmla="val 50000"/>
            </a:avLst>
          </a:prstGeom>
          <a:solidFill>
            <a:srgbClr val="E6F4EC"/>
          </a:solidFill>
          <a:ln>
            <a:noFill/>
          </a:ln>
        </p:spPr>
        <p:txBody>
          <a:bodyPr rtlCol="0" anchor="ctr" wrap="square" lIns="36576" rIns="36576" tIns="36576" bIns="36576">
            <a:noAutofit/>
          </a:bodyPr>
          <a:lstStyle/>
          <a:p>
            <a:pPr algn="ctr"/>
            <a:r>
              <a:rPr sz="1000" b="1" i="0">
                <a:solidFill>
                  <a:srgbClr val="15803D"/>
                </a:solidFill>
                <a:latin typeface="Calibri"/>
              </a:rPr>
              <a:t>G2 PASS</a:t>
            </a:r>
          </a:p>
        </p:txBody>
      </p:sp>
      <p:sp>
        <p:nvSpPr>
          <p:cNvPr id="142" name="Rounded Rectangle 141"/>
          <p:cNvSpPr/>
          <p:nvPr/>
        </p:nvSpPr>
        <p:spPr>
          <a:xfrm>
            <a:off x="3264408" y="5596128"/>
            <a:ext cx="777240" cy="310896"/>
          </a:xfrm>
          <a:prstGeom prst="roundRect">
            <a:avLst>
              <a:gd name="adj" fmla="val 50000"/>
            </a:avLst>
          </a:prstGeom>
          <a:solidFill>
            <a:srgbClr val="E6F4EC"/>
          </a:solidFill>
          <a:ln>
            <a:noFill/>
          </a:ln>
        </p:spPr>
        <p:txBody>
          <a:bodyPr rtlCol="0" anchor="ctr" wrap="square" lIns="36576" rIns="36576" tIns="36576" bIns="36576">
            <a:noAutofit/>
          </a:bodyPr>
          <a:lstStyle/>
          <a:p>
            <a:pPr algn="ctr"/>
            <a:r>
              <a:rPr sz="1000" b="1" i="0">
                <a:solidFill>
                  <a:srgbClr val="15803D"/>
                </a:solidFill>
                <a:latin typeface="Calibri"/>
              </a:rPr>
              <a:t>G3 PASS</a:t>
            </a:r>
          </a:p>
        </p:txBody>
      </p:sp>
      <p:sp>
        <p:nvSpPr>
          <p:cNvPr id="143" name="Rounded Rectangle 142"/>
          <p:cNvSpPr/>
          <p:nvPr/>
        </p:nvSpPr>
        <p:spPr>
          <a:xfrm>
            <a:off x="4133087" y="5596128"/>
            <a:ext cx="777240" cy="310896"/>
          </a:xfrm>
          <a:prstGeom prst="roundRect">
            <a:avLst>
              <a:gd name="adj" fmla="val 50000"/>
            </a:avLst>
          </a:prstGeom>
          <a:solidFill>
            <a:srgbClr val="E6F4EC"/>
          </a:solidFill>
          <a:ln>
            <a:noFill/>
          </a:ln>
        </p:spPr>
        <p:txBody>
          <a:bodyPr rtlCol="0" anchor="ctr" wrap="square" lIns="36576" rIns="36576" tIns="36576" bIns="36576">
            <a:noAutofit/>
          </a:bodyPr>
          <a:lstStyle/>
          <a:p>
            <a:pPr algn="ctr"/>
            <a:r>
              <a:rPr sz="1000" b="1" i="0">
                <a:solidFill>
                  <a:srgbClr val="15803D"/>
                </a:solidFill>
                <a:latin typeface="Calibri"/>
              </a:rPr>
              <a:t>G4 PASS</a:t>
            </a:r>
          </a:p>
        </p:txBody>
      </p:sp>
      <p:sp>
        <p:nvSpPr>
          <p:cNvPr id="144" name="Rounded Rectangle 143"/>
          <p:cNvSpPr/>
          <p:nvPr/>
        </p:nvSpPr>
        <p:spPr>
          <a:xfrm>
            <a:off x="5001768" y="5596128"/>
            <a:ext cx="777240" cy="310896"/>
          </a:xfrm>
          <a:prstGeom prst="roundRect">
            <a:avLst>
              <a:gd name="adj" fmla="val 50000"/>
            </a:avLst>
          </a:prstGeom>
          <a:solidFill>
            <a:srgbClr val="E6F4EC"/>
          </a:solidFill>
          <a:ln>
            <a:noFill/>
          </a:ln>
        </p:spPr>
        <p:txBody>
          <a:bodyPr rtlCol="0" anchor="ctr" wrap="square" lIns="36576" rIns="36576" tIns="36576" bIns="36576">
            <a:noAutofit/>
          </a:bodyPr>
          <a:lstStyle/>
          <a:p>
            <a:pPr algn="ctr"/>
            <a:r>
              <a:rPr sz="1000" b="1" i="0">
                <a:solidFill>
                  <a:srgbClr val="15803D"/>
                </a:solidFill>
                <a:latin typeface="Calibri"/>
              </a:rPr>
              <a:t>G5 PASS</a:t>
            </a:r>
          </a:p>
        </p:txBody>
      </p:sp>
      <p:sp>
        <p:nvSpPr>
          <p:cNvPr id="145" name="Rounded Rectangle 144"/>
          <p:cNvSpPr/>
          <p:nvPr/>
        </p:nvSpPr>
        <p:spPr>
          <a:xfrm>
            <a:off x="5870448" y="5596128"/>
            <a:ext cx="777240" cy="310896"/>
          </a:xfrm>
          <a:prstGeom prst="roundRect">
            <a:avLst>
              <a:gd name="adj" fmla="val 50000"/>
            </a:avLst>
          </a:prstGeom>
          <a:solidFill>
            <a:srgbClr val="E6F4EC"/>
          </a:solidFill>
          <a:ln>
            <a:noFill/>
          </a:ln>
        </p:spPr>
        <p:txBody>
          <a:bodyPr rtlCol="0" anchor="ctr" wrap="square" lIns="36576" rIns="36576" tIns="36576" bIns="36576">
            <a:noAutofit/>
          </a:bodyPr>
          <a:lstStyle/>
          <a:p>
            <a:pPr algn="ctr"/>
            <a:r>
              <a:rPr sz="1000" b="1" i="0">
                <a:solidFill>
                  <a:srgbClr val="15803D"/>
                </a:solidFill>
                <a:latin typeface="Calibri"/>
              </a:rPr>
              <a:t>G6 PASS</a:t>
            </a:r>
          </a:p>
        </p:txBody>
      </p:sp>
      <p:sp>
        <p:nvSpPr>
          <p:cNvPr id="146" name="TextBox 145"/>
          <p:cNvSpPr txBox="1"/>
          <p:nvPr/>
        </p:nvSpPr>
        <p:spPr>
          <a:xfrm>
            <a:off x="6784847" y="5632704"/>
            <a:ext cx="1005840" cy="274320"/>
          </a:xfrm>
          <a:prstGeom prst="rect">
            <a:avLst/>
          </a:prstGeom>
          <a:noFill/>
        </p:spPr>
        <p:txBody>
          <a:bodyPr wrap="square" lIns="0" rIns="0" tIns="0" bIns="0" anchor="t">
            <a:noAutofit/>
          </a:bodyPr>
          <a:lstStyle/>
          <a:p>
            <a:pPr algn="l"/>
            <a:r>
              <a:rPr sz="850" b="0" i="0">
                <a:solidFill>
                  <a:srgbClr val="63637E"/>
                </a:solidFill>
                <a:latin typeface="Calibri"/>
              </a:rPr>
              <a:t>G1: Docker on dev machine only</a:t>
            </a:r>
          </a:p>
        </p:txBody>
      </p:sp>
      <p:sp>
        <p:nvSpPr>
          <p:cNvPr id="147" name="Rounded Rectangle 146"/>
          <p:cNvSpPr/>
          <p:nvPr/>
        </p:nvSpPr>
        <p:spPr>
          <a:xfrm>
            <a:off x="7772400" y="1737360"/>
            <a:ext cx="3584448" cy="960120"/>
          </a:xfrm>
          <a:prstGeom prst="roundRect">
            <a:avLst>
              <a:gd name="adj" fmla="val 9523"/>
            </a:avLst>
          </a:prstGeom>
          <a:solidFill>
            <a:srgbClr val="F4F1FC"/>
          </a:solidFill>
          <a:ln>
            <a:noFill/>
          </a:ln>
        </p:spPr>
        <p:txBody>
          <a:bodyPr rtlCol="0" anchor="ctr"/>
          <a:lstStyle/>
          <a:p>
            <a:pPr algn="ctr"/>
          </a:p>
        </p:txBody>
      </p:sp>
      <p:sp>
        <p:nvSpPr>
          <p:cNvPr id="148" name="TextBox 147"/>
          <p:cNvSpPr txBox="1"/>
          <p:nvPr/>
        </p:nvSpPr>
        <p:spPr>
          <a:xfrm>
            <a:off x="7955279" y="1810512"/>
            <a:ext cx="3218688" cy="228600"/>
          </a:xfrm>
          <a:prstGeom prst="rect">
            <a:avLst/>
          </a:prstGeom>
          <a:noFill/>
        </p:spPr>
        <p:txBody>
          <a:bodyPr wrap="square" lIns="0" rIns="0" tIns="0" bIns="0" anchor="t">
            <a:noAutofit/>
          </a:bodyPr>
          <a:lstStyle/>
          <a:p>
            <a:pPr algn="l"/>
            <a:r>
              <a:rPr sz="900" b="1" i="0" spc="80">
                <a:solidFill>
                  <a:srgbClr val="6D28D9"/>
                </a:solidFill>
                <a:latin typeface="Calibri"/>
              </a:rPr>
              <a:t>MEAN RETRIEVAL LEAD</a:t>
            </a:r>
          </a:p>
        </p:txBody>
      </p:sp>
      <p:sp>
        <p:nvSpPr>
          <p:cNvPr id="149" name="TextBox 148"/>
          <p:cNvSpPr txBox="1"/>
          <p:nvPr/>
        </p:nvSpPr>
        <p:spPr>
          <a:xfrm>
            <a:off x="7955279" y="2029968"/>
            <a:ext cx="3218688" cy="640080"/>
          </a:xfrm>
          <a:prstGeom prst="rect">
            <a:avLst/>
          </a:prstGeom>
          <a:noFill/>
        </p:spPr>
        <p:txBody>
          <a:bodyPr wrap="square" lIns="0" rIns="0" tIns="0" bIns="0" anchor="t">
            <a:noAutofit/>
          </a:bodyPr>
          <a:lstStyle/>
          <a:p>
            <a:pPr algn="l"/>
            <a:r>
              <a:rPr sz="2600" b="1" i="0">
                <a:solidFill>
                  <a:srgbClr val="14142B"/>
                </a:solidFill>
                <a:latin typeface="Arial"/>
              </a:rPr>
              <a:t>4.4 s</a:t>
            </a:r>
            <a:r>
              <a:rPr sz="1100" b="0" i="0">
                <a:solidFill>
                  <a:srgbClr val="63637E"/>
                </a:solidFill>
                <a:latin typeface="Calibri"/>
              </a:rPr>
              <a:t>  before the utterance ends</a:t>
            </a:r>
          </a:p>
        </p:txBody>
      </p:sp>
      <p:sp>
        <p:nvSpPr>
          <p:cNvPr id="150" name="Rounded Rectangle 149"/>
          <p:cNvSpPr/>
          <p:nvPr/>
        </p:nvSpPr>
        <p:spPr>
          <a:xfrm>
            <a:off x="7772400" y="2834640"/>
            <a:ext cx="3584448" cy="1572768"/>
          </a:xfrm>
          <a:prstGeom prst="roundRect">
            <a:avLst>
              <a:gd name="adj" fmla="val 5813"/>
            </a:avLst>
          </a:prstGeom>
          <a:solidFill>
            <a:srgbClr val="F3F3F7"/>
          </a:solidFill>
          <a:ln>
            <a:noFill/>
          </a:ln>
        </p:spPr>
        <p:txBody>
          <a:bodyPr rtlCol="0" anchor="ctr"/>
          <a:lstStyle/>
          <a:p>
            <a:pPr algn="ctr"/>
          </a:p>
        </p:txBody>
      </p:sp>
      <p:sp>
        <p:nvSpPr>
          <p:cNvPr id="151" name="TextBox 150"/>
          <p:cNvSpPr txBox="1"/>
          <p:nvPr/>
        </p:nvSpPr>
        <p:spPr>
          <a:xfrm>
            <a:off x="7955279" y="2907792"/>
            <a:ext cx="3218688" cy="228600"/>
          </a:xfrm>
          <a:prstGeom prst="rect">
            <a:avLst/>
          </a:prstGeom>
          <a:noFill/>
        </p:spPr>
        <p:txBody>
          <a:bodyPr wrap="square" lIns="0" rIns="0" tIns="0" bIns="0" anchor="t">
            <a:noAutofit/>
          </a:bodyPr>
          <a:lstStyle/>
          <a:p>
            <a:pPr algn="l"/>
            <a:r>
              <a:rPr sz="900" b="1" i="0" spc="60">
                <a:solidFill>
                  <a:srgbClr val="6D28D9"/>
                </a:solidFill>
                <a:latin typeface="Calibri"/>
              </a:rPr>
              <a:t>TIME TO FIRST TOKEN AFTER SPEECH ENDS (MEAN)</a:t>
            </a:r>
          </a:p>
        </p:txBody>
      </p:sp>
      <p:sp>
        <p:nvSpPr>
          <p:cNvPr id="152" name="TextBox 151"/>
          <p:cNvSpPr txBox="1"/>
          <p:nvPr/>
        </p:nvSpPr>
        <p:spPr>
          <a:xfrm>
            <a:off x="7955279" y="3200400"/>
            <a:ext cx="1828800" cy="237744"/>
          </a:xfrm>
          <a:prstGeom prst="rect">
            <a:avLst/>
          </a:prstGeom>
          <a:noFill/>
        </p:spPr>
        <p:txBody>
          <a:bodyPr wrap="square" lIns="0" rIns="0" tIns="0" bIns="0" anchor="t">
            <a:noAutofit/>
          </a:bodyPr>
          <a:lstStyle/>
          <a:p>
            <a:pPr algn="l"/>
            <a:r>
              <a:rPr sz="1000" b="0" i="0">
                <a:solidFill>
                  <a:srgbClr val="14142B"/>
                </a:solidFill>
                <a:latin typeface="Calibri"/>
              </a:rPr>
              <a:t>Conventional RAG</a:t>
            </a:r>
          </a:p>
        </p:txBody>
      </p:sp>
      <p:sp>
        <p:nvSpPr>
          <p:cNvPr id="153" name="Rectangle 152"/>
          <p:cNvSpPr/>
          <p:nvPr/>
        </p:nvSpPr>
        <p:spPr>
          <a:xfrm>
            <a:off x="9829800" y="3246120"/>
            <a:ext cx="65034" cy="155448"/>
          </a:xfrm>
          <a:prstGeom prst="rect">
            <a:avLst/>
          </a:prstGeom>
          <a:solidFill>
            <a:srgbClr val="9C9CB0"/>
          </a:solidFill>
          <a:ln>
            <a:noFill/>
          </a:ln>
        </p:spPr>
        <p:txBody>
          <a:bodyPr rtlCol="0" anchor="ctr"/>
          <a:lstStyle/>
          <a:p>
            <a:pPr algn="ctr"/>
          </a:p>
        </p:txBody>
      </p:sp>
      <p:sp>
        <p:nvSpPr>
          <p:cNvPr id="154" name="TextBox 153"/>
          <p:cNvSpPr txBox="1"/>
          <p:nvPr/>
        </p:nvSpPr>
        <p:spPr>
          <a:xfrm>
            <a:off x="9949698" y="3200400"/>
            <a:ext cx="548640" cy="237744"/>
          </a:xfrm>
          <a:prstGeom prst="rect">
            <a:avLst/>
          </a:prstGeom>
          <a:noFill/>
        </p:spPr>
        <p:txBody>
          <a:bodyPr wrap="square" lIns="0" rIns="0" tIns="0" bIns="0" anchor="t">
            <a:noAutofit/>
          </a:bodyPr>
          <a:lstStyle/>
          <a:p>
            <a:pPr algn="l"/>
            <a:r>
              <a:rPr sz="1000" b="1" i="0">
                <a:solidFill>
                  <a:srgbClr val="14142B"/>
                </a:solidFill>
                <a:latin typeface="Calibri"/>
              </a:rPr>
              <a:t>14 ms</a:t>
            </a:r>
          </a:p>
        </p:txBody>
      </p:sp>
      <p:sp>
        <p:nvSpPr>
          <p:cNvPr id="155" name="TextBox 154"/>
          <p:cNvSpPr txBox="1"/>
          <p:nvPr/>
        </p:nvSpPr>
        <p:spPr>
          <a:xfrm>
            <a:off x="7955279" y="3474720"/>
            <a:ext cx="1828800" cy="237744"/>
          </a:xfrm>
          <a:prstGeom prst="rect">
            <a:avLst/>
          </a:prstGeom>
          <a:noFill/>
        </p:spPr>
        <p:txBody>
          <a:bodyPr wrap="square" lIns="0" rIns="0" tIns="0" bIns="0" anchor="t">
            <a:noAutofit/>
          </a:bodyPr>
          <a:lstStyle/>
          <a:p>
            <a:pPr algn="l"/>
            <a:r>
              <a:rPr sz="1000" b="0" i="0">
                <a:solidFill>
                  <a:srgbClr val="14142B"/>
                </a:solidFill>
                <a:latin typeface="Calibri"/>
              </a:rPr>
              <a:t>Streaming Live RAG</a:t>
            </a:r>
          </a:p>
        </p:txBody>
      </p:sp>
      <p:sp>
        <p:nvSpPr>
          <p:cNvPr id="156" name="Rectangle 155"/>
          <p:cNvSpPr/>
          <p:nvPr/>
        </p:nvSpPr>
        <p:spPr>
          <a:xfrm>
            <a:off x="9829800" y="3520439"/>
            <a:ext cx="97552" cy="155448"/>
          </a:xfrm>
          <a:prstGeom prst="rect">
            <a:avLst/>
          </a:prstGeom>
          <a:solidFill>
            <a:srgbClr val="6D28D9"/>
          </a:solidFill>
          <a:ln>
            <a:noFill/>
          </a:ln>
        </p:spPr>
        <p:txBody>
          <a:bodyPr rtlCol="0" anchor="ctr"/>
          <a:lstStyle/>
          <a:p>
            <a:pPr algn="ctr"/>
          </a:p>
        </p:txBody>
      </p:sp>
      <p:sp>
        <p:nvSpPr>
          <p:cNvPr id="157" name="TextBox 156"/>
          <p:cNvSpPr txBox="1"/>
          <p:nvPr/>
        </p:nvSpPr>
        <p:spPr>
          <a:xfrm>
            <a:off x="9982216" y="3474720"/>
            <a:ext cx="548640" cy="237744"/>
          </a:xfrm>
          <a:prstGeom prst="rect">
            <a:avLst/>
          </a:prstGeom>
          <a:noFill/>
        </p:spPr>
        <p:txBody>
          <a:bodyPr wrap="square" lIns="0" rIns="0" tIns="0" bIns="0" anchor="t">
            <a:noAutofit/>
          </a:bodyPr>
          <a:lstStyle/>
          <a:p>
            <a:pPr algn="l"/>
            <a:r>
              <a:rPr sz="1000" b="1" i="0">
                <a:solidFill>
                  <a:srgbClr val="14142B"/>
                </a:solidFill>
                <a:latin typeface="Calibri"/>
              </a:rPr>
              <a:t>21 ms</a:t>
            </a:r>
          </a:p>
        </p:txBody>
      </p:sp>
      <p:sp>
        <p:nvSpPr>
          <p:cNvPr id="158" name="TextBox 157"/>
          <p:cNvSpPr txBox="1"/>
          <p:nvPr/>
        </p:nvSpPr>
        <p:spPr>
          <a:xfrm>
            <a:off x="7955279" y="3749039"/>
            <a:ext cx="1828800" cy="237744"/>
          </a:xfrm>
          <a:prstGeom prst="rect">
            <a:avLst/>
          </a:prstGeom>
          <a:noFill/>
        </p:spPr>
        <p:txBody>
          <a:bodyPr wrap="square" lIns="0" rIns="0" tIns="0" bIns="0" anchor="t">
            <a:noAutofit/>
          </a:bodyPr>
          <a:lstStyle/>
          <a:p>
            <a:pPr algn="l"/>
            <a:r>
              <a:rPr sz="1000" b="0" i="0">
                <a:solidFill>
                  <a:srgbClr val="14142B"/>
                </a:solidFill>
                <a:latin typeface="Calibri"/>
              </a:rPr>
              <a:t>Same pipeline, no early retrieval</a:t>
            </a:r>
          </a:p>
        </p:txBody>
      </p:sp>
      <p:sp>
        <p:nvSpPr>
          <p:cNvPr id="159" name="Rectangle 158"/>
          <p:cNvSpPr/>
          <p:nvPr/>
        </p:nvSpPr>
        <p:spPr>
          <a:xfrm>
            <a:off x="9829800" y="3794759"/>
            <a:ext cx="868680" cy="155448"/>
          </a:xfrm>
          <a:prstGeom prst="rect">
            <a:avLst/>
          </a:prstGeom>
          <a:solidFill>
            <a:srgbClr val="B8B3D6"/>
          </a:solidFill>
          <a:ln>
            <a:noFill/>
          </a:ln>
        </p:spPr>
        <p:txBody>
          <a:bodyPr rtlCol="0" anchor="ctr"/>
          <a:lstStyle/>
          <a:p>
            <a:pPr algn="ctr"/>
          </a:p>
        </p:txBody>
      </p:sp>
      <p:sp>
        <p:nvSpPr>
          <p:cNvPr id="160" name="TextBox 159"/>
          <p:cNvSpPr txBox="1"/>
          <p:nvPr/>
        </p:nvSpPr>
        <p:spPr>
          <a:xfrm>
            <a:off x="10753344" y="3749039"/>
            <a:ext cx="548640" cy="237744"/>
          </a:xfrm>
          <a:prstGeom prst="rect">
            <a:avLst/>
          </a:prstGeom>
          <a:noFill/>
        </p:spPr>
        <p:txBody>
          <a:bodyPr wrap="square" lIns="0" rIns="0" tIns="0" bIns="0" anchor="t">
            <a:noAutofit/>
          </a:bodyPr>
          <a:lstStyle/>
          <a:p>
            <a:pPr algn="l"/>
            <a:r>
              <a:rPr sz="1000" b="1" i="0">
                <a:solidFill>
                  <a:srgbClr val="14142B"/>
                </a:solidFill>
                <a:latin typeface="Calibri"/>
              </a:rPr>
              <a:t>187 ms</a:t>
            </a:r>
          </a:p>
        </p:txBody>
      </p:sp>
      <p:sp>
        <p:nvSpPr>
          <p:cNvPr id="161" name="TextBox 160"/>
          <p:cNvSpPr txBox="1"/>
          <p:nvPr/>
        </p:nvSpPr>
        <p:spPr>
          <a:xfrm>
            <a:off x="7955279" y="4023360"/>
            <a:ext cx="3218688" cy="365760"/>
          </a:xfrm>
          <a:prstGeom prst="rect">
            <a:avLst/>
          </a:prstGeom>
          <a:noFill/>
        </p:spPr>
        <p:txBody>
          <a:bodyPr wrap="square" lIns="0" rIns="0" tIns="0" bIns="0" anchor="t">
            <a:noAutofit/>
          </a:bodyPr>
          <a:lstStyle/>
          <a:p>
            <a:pPr algn="l">
              <a:lnSpc>
                <a:spcPct val="92000"/>
              </a:lnSpc>
            </a:pPr>
            <a:r>
              <a:rPr sz="950" b="0" i="0">
                <a:solidFill>
                  <a:srgbClr val="63637E"/>
                </a:solidFill>
                <a:latin typeface="Calibri"/>
              </a:rPr>
              <a:t>The baseline is faster: it does less work per turn. Early retrieval hides most of our extra compute.</a:t>
            </a:r>
          </a:p>
        </p:txBody>
      </p:sp>
      <p:sp>
        <p:nvSpPr>
          <p:cNvPr id="162" name="Rounded Rectangle 161"/>
          <p:cNvSpPr/>
          <p:nvPr/>
        </p:nvSpPr>
        <p:spPr>
          <a:xfrm>
            <a:off x="7772400" y="4544568"/>
            <a:ext cx="3584448" cy="960120"/>
          </a:xfrm>
          <a:prstGeom prst="roundRect">
            <a:avLst>
              <a:gd name="adj" fmla="val 9523"/>
            </a:avLst>
          </a:prstGeom>
          <a:solidFill>
            <a:srgbClr val="FDF1DC"/>
          </a:solidFill>
          <a:ln>
            <a:noFill/>
          </a:ln>
        </p:spPr>
        <p:txBody>
          <a:bodyPr rtlCol="0" anchor="ctr"/>
          <a:lstStyle/>
          <a:p>
            <a:pPr algn="ctr"/>
          </a:p>
        </p:txBody>
      </p:sp>
      <p:sp>
        <p:nvSpPr>
          <p:cNvPr id="163" name="TextBox 162"/>
          <p:cNvSpPr txBox="1"/>
          <p:nvPr/>
        </p:nvSpPr>
        <p:spPr>
          <a:xfrm>
            <a:off x="7955279" y="4599432"/>
            <a:ext cx="3218688" cy="228600"/>
          </a:xfrm>
          <a:prstGeom prst="rect">
            <a:avLst/>
          </a:prstGeom>
          <a:noFill/>
        </p:spPr>
        <p:txBody>
          <a:bodyPr wrap="square" lIns="0" rIns="0" tIns="0" bIns="0" anchor="t">
            <a:noAutofit/>
          </a:bodyPr>
          <a:lstStyle/>
          <a:p>
            <a:pPr algn="l"/>
            <a:r>
              <a:rPr sz="900" b="1" i="0" spc="60">
                <a:solidFill>
                  <a:srgbClr val="B45309"/>
                </a:solidFill>
                <a:latin typeface="Calibri"/>
              </a:rPr>
              <a:t>TRADE-OFF: CONSERVATIVE ABSTENTION</a:t>
            </a:r>
          </a:p>
        </p:txBody>
      </p:sp>
      <p:sp>
        <p:nvSpPr>
          <p:cNvPr id="164" name="TextBox 163"/>
          <p:cNvSpPr txBox="1"/>
          <p:nvPr/>
        </p:nvSpPr>
        <p:spPr>
          <a:xfrm>
            <a:off x="7955279" y="4828032"/>
            <a:ext cx="3218688" cy="658368"/>
          </a:xfrm>
          <a:prstGeom prst="rect">
            <a:avLst/>
          </a:prstGeom>
          <a:noFill/>
        </p:spPr>
        <p:txBody>
          <a:bodyPr wrap="square" lIns="0" rIns="0" tIns="0" bIns="0" anchor="t">
            <a:noAutofit/>
          </a:bodyPr>
          <a:lstStyle/>
          <a:p>
            <a:pPr algn="l">
              <a:lnSpc>
                <a:spcPct val="92000"/>
              </a:lnSpc>
            </a:pPr>
            <a:r>
              <a:rPr sz="1000" b="0" i="0">
                <a:solidFill>
                  <a:srgbClr val="14142B"/>
                </a:solidFill>
                <a:latin typeface="Calibri"/>
              </a:rPr>
              <a:t>The gate refused 12 of 63 answerable turns: citation hit rate 73% equals the baseline (84% without the gate), while correct abstention rises 33% → 83%.</a:t>
            </a:r>
          </a:p>
        </p:txBody>
      </p:sp>
      <p:sp>
        <p:nvSpPr>
          <p:cNvPr id="165" name="TextBox 164"/>
          <p:cNvSpPr txBox="1"/>
          <p:nvPr/>
        </p:nvSpPr>
        <p:spPr>
          <a:xfrm>
            <a:off x="841248" y="6089904"/>
            <a:ext cx="10515600" cy="237744"/>
          </a:xfrm>
          <a:prstGeom prst="rect">
            <a:avLst/>
          </a:prstGeom>
          <a:noFill/>
        </p:spPr>
        <p:txBody>
          <a:bodyPr wrap="square" lIns="0" rIns="0" tIns="0" bIns="0" anchor="t">
            <a:noAutofit/>
          </a:bodyPr>
          <a:lstStyle/>
          <a:p>
            <a:pPr algn="l"/>
            <a:r>
              <a:rPr sz="950" b="0" i="1">
                <a:solidFill>
                  <a:srgbClr val="63637E"/>
                </a:solidFill>
                <a:latin typeface="Calibri"/>
              </a:rPr>
              <a:t>Development benchmark · 16-document synthetic corpus · held-out split, 63 cases / 77 turns · written by the system's author; not an official Samsung evaluation</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2026-09-07T12:01:01Z</dcterms:created>
  <dc:creator>Binny Lakra/PRISM /SRI-Bangalore/Professional/Samsung Electronics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